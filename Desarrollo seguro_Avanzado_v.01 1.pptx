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0_F0E86DD8.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92"/>
  </p:notesMasterIdLst>
  <p:sldIdLst>
    <p:sldId id="256" r:id="rId5"/>
    <p:sldId id="335" r:id="rId6"/>
    <p:sldId id="324" r:id="rId7"/>
    <p:sldId id="299" r:id="rId8"/>
    <p:sldId id="370" r:id="rId9"/>
    <p:sldId id="317" r:id="rId10"/>
    <p:sldId id="315" r:id="rId11"/>
    <p:sldId id="371" r:id="rId12"/>
    <p:sldId id="372" r:id="rId13"/>
    <p:sldId id="373" r:id="rId14"/>
    <p:sldId id="374" r:id="rId15"/>
    <p:sldId id="375" r:id="rId16"/>
    <p:sldId id="376" r:id="rId17"/>
    <p:sldId id="377" r:id="rId18"/>
    <p:sldId id="378" r:id="rId19"/>
    <p:sldId id="471" r:id="rId20"/>
    <p:sldId id="472" r:id="rId21"/>
    <p:sldId id="473" r:id="rId22"/>
    <p:sldId id="474" r:id="rId23"/>
    <p:sldId id="475" r:id="rId24"/>
    <p:sldId id="476" r:id="rId25"/>
    <p:sldId id="379" r:id="rId26"/>
    <p:sldId id="382" r:id="rId27"/>
    <p:sldId id="477" r:id="rId28"/>
    <p:sldId id="478" r:id="rId29"/>
    <p:sldId id="479" r:id="rId30"/>
    <p:sldId id="480" r:id="rId31"/>
    <p:sldId id="481" r:id="rId32"/>
    <p:sldId id="482" r:id="rId33"/>
    <p:sldId id="483" r:id="rId34"/>
    <p:sldId id="484" r:id="rId35"/>
    <p:sldId id="485" r:id="rId36"/>
    <p:sldId id="486" r:id="rId37"/>
    <p:sldId id="487" r:id="rId38"/>
    <p:sldId id="488" r:id="rId39"/>
    <p:sldId id="489" r:id="rId40"/>
    <p:sldId id="490" r:id="rId41"/>
    <p:sldId id="491" r:id="rId42"/>
    <p:sldId id="492" r:id="rId43"/>
    <p:sldId id="493" r:id="rId44"/>
    <p:sldId id="494" r:id="rId45"/>
    <p:sldId id="495" r:id="rId46"/>
    <p:sldId id="496" r:id="rId47"/>
    <p:sldId id="497" r:id="rId48"/>
    <p:sldId id="498" r:id="rId49"/>
    <p:sldId id="499" r:id="rId50"/>
    <p:sldId id="500" r:id="rId51"/>
    <p:sldId id="501" r:id="rId52"/>
    <p:sldId id="502" r:id="rId53"/>
    <p:sldId id="503" r:id="rId54"/>
    <p:sldId id="504" r:id="rId55"/>
    <p:sldId id="386" r:id="rId56"/>
    <p:sldId id="505" r:id="rId57"/>
    <p:sldId id="506" r:id="rId58"/>
    <p:sldId id="507" r:id="rId59"/>
    <p:sldId id="508" r:id="rId60"/>
    <p:sldId id="509" r:id="rId61"/>
    <p:sldId id="510" r:id="rId62"/>
    <p:sldId id="511" r:id="rId63"/>
    <p:sldId id="537" r:id="rId64"/>
    <p:sldId id="512" r:id="rId65"/>
    <p:sldId id="513" r:id="rId66"/>
    <p:sldId id="514" r:id="rId67"/>
    <p:sldId id="520" r:id="rId68"/>
    <p:sldId id="521" r:id="rId69"/>
    <p:sldId id="522" r:id="rId70"/>
    <p:sldId id="523" r:id="rId71"/>
    <p:sldId id="519" r:id="rId72"/>
    <p:sldId id="515" r:id="rId73"/>
    <p:sldId id="516" r:id="rId74"/>
    <p:sldId id="517" r:id="rId75"/>
    <p:sldId id="518" r:id="rId76"/>
    <p:sldId id="524" r:id="rId77"/>
    <p:sldId id="525" r:id="rId78"/>
    <p:sldId id="526" r:id="rId79"/>
    <p:sldId id="527" r:id="rId80"/>
    <p:sldId id="528" r:id="rId81"/>
    <p:sldId id="529" r:id="rId82"/>
    <p:sldId id="530" r:id="rId83"/>
    <p:sldId id="531" r:id="rId84"/>
    <p:sldId id="532" r:id="rId85"/>
    <p:sldId id="533" r:id="rId86"/>
    <p:sldId id="534" r:id="rId87"/>
    <p:sldId id="536" r:id="rId88"/>
    <p:sldId id="535" r:id="rId89"/>
    <p:sldId id="369" r:id="rId90"/>
    <p:sldId id="275" r:id="rId9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86F9A0-6D6F-348F-50F6-E4A98309E2B3}" name="Jorge Garcia Juarez" initials="JG" userId="S::jgarciaju@oesia.com::6a5a15eb-c6bf-4518-9edf-10ba60171017" providerId="AD"/>
  <p188:author id="{F088A9FA-9046-2B4D-FD2A-CFE123126EBF}" name="Sergio Oteiza Echeverria" initials="SO" userId="S::soteiza@oesia.com::8e698a96-ae5b-43b4-a553-8ec8bd145339" providerId="AD"/>
  <p188:author id="{CA19D7FF-8E5D-ED5C-B80D-FA80DDC1D485}" name="Virginia Urien Real De Asua" initials="VU" userId="S::vurien@oesia.com::49f70246-9f8e-4476-9792-66a5b73c8b0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FFF5"/>
    <a:srgbClr val="009D89"/>
    <a:srgbClr val="004C41"/>
    <a:srgbClr val="11EFBC"/>
    <a:srgbClr val="193330"/>
    <a:srgbClr val="AFFFEA"/>
    <a:srgbClr val="EFFFF7"/>
    <a:srgbClr val="007665"/>
    <a:srgbClr val="009E8A"/>
    <a:srgbClr val="009E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475575-3516-4D88-ABF4-AE76A77D990D}" v="3" dt="2026-03-03T09:56:17.09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47" autoAdjust="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 Id="rId98" Type="http://schemas.microsoft.com/office/2018/10/relationships/authors" Target="authors.xml"/></Relationships>
</file>

<file path=ppt/comments/modernComment_100_F0E86DD8.xml><?xml version="1.0" encoding="utf-8"?>
<p188:cmLst xmlns:a="http://schemas.openxmlformats.org/drawingml/2006/main" xmlns:r="http://schemas.openxmlformats.org/officeDocument/2006/relationships" xmlns:p188="http://schemas.microsoft.com/office/powerpoint/2018/8/main">
  <p188:cm id="{3E490E96-F1DC-400D-8623-9EF012082A73}" authorId="{CA19D7FF-8E5D-ED5C-B80D-FA80DDC1D485}" created="2026-02-06T11:57:52.311">
    <ac:deMkLst xmlns:ac="http://schemas.microsoft.com/office/drawing/2013/main/command">
      <pc:docMk xmlns:pc="http://schemas.microsoft.com/office/powerpoint/2013/main/command"/>
      <pc:sldMk xmlns:pc="http://schemas.microsoft.com/office/powerpoint/2013/main/command" cId="4041764312" sldId="256"/>
      <ac:spMk id="5" creationId="{FA564B0A-D13B-2FE1-EAA7-633B2965D160}"/>
    </ac:deMkLst>
    <p188:txBody>
      <a:bodyPr/>
      <a:lstStyle/>
      <a:p>
        <a:r>
          <a:rPr lang="en-US"/>
          <a:t>Socrative, diapositiva 98.</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3048C-7D26-41CC-B180-A5830242493C}" type="datetimeFigureOut">
              <a:rPr lang="es-ES" smtClean="0"/>
              <a:t>16/03/2026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993EAA-8FF6-4FA7-AB56-9BA614B179BC}" type="slidenum">
              <a:rPr lang="es-ES" smtClean="0"/>
              <a:t>‹Nº›</a:t>
            </a:fld>
            <a:endParaRPr lang="es-ES"/>
          </a:p>
        </p:txBody>
      </p:sp>
    </p:spTree>
    <p:extLst>
      <p:ext uri="{BB962C8B-B14F-4D97-AF65-F5344CB8AC3E}">
        <p14:creationId xmlns:p14="http://schemas.microsoft.com/office/powerpoint/2010/main" val="2799293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p:cNvSpPr>
            <a:spLocks noGrp="1"/>
          </p:cNvSpPr>
          <p:nvPr>
            <p:ph type="sldNum" sz="quarter" idx="5"/>
          </p:nvPr>
        </p:nvSpPr>
        <p:spPr/>
        <p:txBody>
          <a:bodyPr/>
          <a:lstStyle/>
          <a:p>
            <a:fld id="{C9993EAA-8FF6-4FA7-AB56-9BA614B179BC}" type="slidenum">
              <a:rPr lang="es-ES" smtClean="0"/>
              <a:t>4</a:t>
            </a:fld>
            <a:endParaRPr lang="es-ES"/>
          </a:p>
        </p:txBody>
      </p:sp>
    </p:spTree>
    <p:extLst>
      <p:ext uri="{BB962C8B-B14F-4D97-AF65-F5344CB8AC3E}">
        <p14:creationId xmlns:p14="http://schemas.microsoft.com/office/powerpoint/2010/main" val="2408475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p:cNvSpPr>
            <a:spLocks noGrp="1"/>
          </p:cNvSpPr>
          <p:nvPr>
            <p:ph type="sldNum" sz="quarter" idx="5"/>
          </p:nvPr>
        </p:nvSpPr>
        <p:spPr/>
        <p:txBody>
          <a:bodyPr/>
          <a:lstStyle/>
          <a:p>
            <a:fld id="{C9993EAA-8FF6-4FA7-AB56-9BA614B179BC}" type="slidenum">
              <a:rPr lang="es-ES" smtClean="0"/>
              <a:t>5</a:t>
            </a:fld>
            <a:endParaRPr lang="es-ES"/>
          </a:p>
        </p:txBody>
      </p:sp>
    </p:spTree>
    <p:extLst>
      <p:ext uri="{BB962C8B-B14F-4D97-AF65-F5344CB8AC3E}">
        <p14:creationId xmlns:p14="http://schemas.microsoft.com/office/powerpoint/2010/main" val="1745469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p:cNvSpPr>
            <a:spLocks noGrp="1"/>
          </p:cNvSpPr>
          <p:nvPr>
            <p:ph type="sldNum" sz="quarter" idx="5"/>
          </p:nvPr>
        </p:nvSpPr>
        <p:spPr/>
        <p:txBody>
          <a:bodyPr/>
          <a:lstStyle/>
          <a:p>
            <a:fld id="{C9993EAA-8FF6-4FA7-AB56-9BA614B179BC}" type="slidenum">
              <a:rPr lang="es-ES" smtClean="0"/>
              <a:t>6</a:t>
            </a:fld>
            <a:endParaRPr lang="es-ES"/>
          </a:p>
        </p:txBody>
      </p:sp>
    </p:spTree>
    <p:extLst>
      <p:ext uri="{BB962C8B-B14F-4D97-AF65-F5344CB8AC3E}">
        <p14:creationId xmlns:p14="http://schemas.microsoft.com/office/powerpoint/2010/main" val="1211423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pPr algn="l"/>
            <a:endParaRPr lang="es-ES" dirty="0"/>
          </a:p>
        </p:txBody>
      </p:sp>
      <p:sp>
        <p:nvSpPr>
          <p:cNvPr id="4" name="Marcador de número de diapositiva 3"/>
          <p:cNvSpPr>
            <a:spLocks noGrp="1"/>
          </p:cNvSpPr>
          <p:nvPr>
            <p:ph type="sldNum" sz="quarter" idx="5"/>
          </p:nvPr>
        </p:nvSpPr>
        <p:spPr/>
        <p:txBody>
          <a:bodyPr/>
          <a:lstStyle/>
          <a:p>
            <a:fld id="{C9993EAA-8FF6-4FA7-AB56-9BA614B179BC}" type="slidenum">
              <a:rPr lang="es-ES" smtClean="0"/>
              <a:t>7</a:t>
            </a:fld>
            <a:endParaRPr lang="es-ES"/>
          </a:p>
        </p:txBody>
      </p:sp>
    </p:spTree>
    <p:extLst>
      <p:ext uri="{BB962C8B-B14F-4D97-AF65-F5344CB8AC3E}">
        <p14:creationId xmlns:p14="http://schemas.microsoft.com/office/powerpoint/2010/main" val="2046080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92D4D-AD11-D172-108D-1A44DF1BC2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612DE0-8F4F-FE30-92D3-C864352396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E467D30-27D9-D34D-9541-A8E1CA66B517}"/>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6327D8D6-75FA-3B99-CC4C-8E458D0A6BB0}"/>
              </a:ext>
            </a:extLst>
          </p:cNvPr>
          <p:cNvSpPr>
            <a:spLocks noGrp="1"/>
          </p:cNvSpPr>
          <p:nvPr>
            <p:ph type="sldNum" sz="quarter" idx="5"/>
          </p:nvPr>
        </p:nvSpPr>
        <p:spPr/>
        <p:txBody>
          <a:bodyPr/>
          <a:lstStyle/>
          <a:p>
            <a:fld id="{C9993EAA-8FF6-4FA7-AB56-9BA614B179BC}" type="slidenum">
              <a:rPr lang="es-ES" smtClean="0"/>
              <a:t>8</a:t>
            </a:fld>
            <a:endParaRPr lang="es-ES"/>
          </a:p>
        </p:txBody>
      </p:sp>
    </p:spTree>
    <p:extLst>
      <p:ext uri="{BB962C8B-B14F-4D97-AF65-F5344CB8AC3E}">
        <p14:creationId xmlns:p14="http://schemas.microsoft.com/office/powerpoint/2010/main" val="4257191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FF90-A1EA-909E-522C-8D7AE52B54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7FCC2F-A317-D126-B0A8-826D041B5C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D83098A-2172-6525-C6CD-0BE457925D15}"/>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A9A6F127-B80E-19B0-7753-A69B173CCED0}"/>
              </a:ext>
            </a:extLst>
          </p:cNvPr>
          <p:cNvSpPr>
            <a:spLocks noGrp="1"/>
          </p:cNvSpPr>
          <p:nvPr>
            <p:ph type="sldNum" sz="quarter" idx="5"/>
          </p:nvPr>
        </p:nvSpPr>
        <p:spPr/>
        <p:txBody>
          <a:bodyPr/>
          <a:lstStyle/>
          <a:p>
            <a:fld id="{C9993EAA-8FF6-4FA7-AB56-9BA614B179BC}" type="slidenum">
              <a:rPr lang="es-ES" smtClean="0"/>
              <a:t>9</a:t>
            </a:fld>
            <a:endParaRPr lang="es-ES"/>
          </a:p>
        </p:txBody>
      </p:sp>
    </p:spTree>
    <p:extLst>
      <p:ext uri="{BB962C8B-B14F-4D97-AF65-F5344CB8AC3E}">
        <p14:creationId xmlns:p14="http://schemas.microsoft.com/office/powerpoint/2010/main" val="3015454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AF1A6-FD1D-2921-2682-EED1190EFA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F7F351-35C4-D78E-736D-588D1E3CFA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515EC32-7A61-F335-2FF5-9B7A4FDAA6F3}"/>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DC1190ED-CC36-9B2D-BC5E-39ED5B979A00}"/>
              </a:ext>
            </a:extLst>
          </p:cNvPr>
          <p:cNvSpPr>
            <a:spLocks noGrp="1"/>
          </p:cNvSpPr>
          <p:nvPr>
            <p:ph type="sldNum" sz="quarter" idx="5"/>
          </p:nvPr>
        </p:nvSpPr>
        <p:spPr/>
        <p:txBody>
          <a:bodyPr/>
          <a:lstStyle/>
          <a:p>
            <a:fld id="{C9993EAA-8FF6-4FA7-AB56-9BA614B179BC}" type="slidenum">
              <a:rPr lang="es-ES" smtClean="0"/>
              <a:t>10</a:t>
            </a:fld>
            <a:endParaRPr lang="es-ES"/>
          </a:p>
        </p:txBody>
      </p:sp>
    </p:spTree>
    <p:extLst>
      <p:ext uri="{BB962C8B-B14F-4D97-AF65-F5344CB8AC3E}">
        <p14:creationId xmlns:p14="http://schemas.microsoft.com/office/powerpoint/2010/main" val="1363231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71B5B-9DF1-FC04-9A94-422A6A9FBB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B42005-57D0-5F0B-C8D4-D96C5283A8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F069FE-CB40-5BDD-BA39-9F7518296BBF}"/>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pPr algn="l"/>
            <a:endParaRPr lang="es-ES" dirty="0"/>
          </a:p>
        </p:txBody>
      </p:sp>
      <p:sp>
        <p:nvSpPr>
          <p:cNvPr id="4" name="Marcador de número de diapositiva 3">
            <a:extLst>
              <a:ext uri="{FF2B5EF4-FFF2-40B4-BE49-F238E27FC236}">
                <a16:creationId xmlns:a16="http://schemas.microsoft.com/office/drawing/2014/main" id="{ADA7895C-B67F-BC93-7451-F3E54B87DE5B}"/>
              </a:ext>
            </a:extLst>
          </p:cNvPr>
          <p:cNvSpPr>
            <a:spLocks noGrp="1"/>
          </p:cNvSpPr>
          <p:nvPr>
            <p:ph type="sldNum" sz="quarter" idx="5"/>
          </p:nvPr>
        </p:nvSpPr>
        <p:spPr/>
        <p:txBody>
          <a:bodyPr/>
          <a:lstStyle/>
          <a:p>
            <a:fld id="{C9993EAA-8FF6-4FA7-AB56-9BA614B179BC}" type="slidenum">
              <a:rPr lang="es-ES" smtClean="0"/>
              <a:t>11</a:t>
            </a:fld>
            <a:endParaRPr lang="es-ES"/>
          </a:p>
        </p:txBody>
      </p:sp>
    </p:spTree>
    <p:extLst>
      <p:ext uri="{BB962C8B-B14F-4D97-AF65-F5344CB8AC3E}">
        <p14:creationId xmlns:p14="http://schemas.microsoft.com/office/powerpoint/2010/main" val="2577543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91721-1B6B-0908-534A-599EC244CA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B175AD-F2D8-3977-9517-88B30E93B8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C830C2-AE74-77DB-E089-501795E6FA19}"/>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B81D039A-E8B6-155E-77F1-E4FC32B1D740}"/>
              </a:ext>
            </a:extLst>
          </p:cNvPr>
          <p:cNvSpPr>
            <a:spLocks noGrp="1"/>
          </p:cNvSpPr>
          <p:nvPr>
            <p:ph type="sldNum" sz="quarter" idx="5"/>
          </p:nvPr>
        </p:nvSpPr>
        <p:spPr/>
        <p:txBody>
          <a:bodyPr/>
          <a:lstStyle/>
          <a:p>
            <a:fld id="{C9993EAA-8FF6-4FA7-AB56-9BA614B179BC}" type="slidenum">
              <a:rPr lang="es-ES" smtClean="0"/>
              <a:t>12</a:t>
            </a:fld>
            <a:endParaRPr lang="es-ES"/>
          </a:p>
        </p:txBody>
      </p:sp>
    </p:spTree>
    <p:extLst>
      <p:ext uri="{BB962C8B-B14F-4D97-AF65-F5344CB8AC3E}">
        <p14:creationId xmlns:p14="http://schemas.microsoft.com/office/powerpoint/2010/main" val="3614461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9C634-AA86-D4C0-15A3-8D12C06A93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2905D1-E911-39BC-A297-DE904B170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55E4369-E7C9-C496-BE5A-F70FC1234CD2}"/>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2F66DE82-70A2-6315-B717-29370243D3E7}"/>
              </a:ext>
            </a:extLst>
          </p:cNvPr>
          <p:cNvSpPr>
            <a:spLocks noGrp="1"/>
          </p:cNvSpPr>
          <p:nvPr>
            <p:ph type="sldNum" sz="quarter" idx="5"/>
          </p:nvPr>
        </p:nvSpPr>
        <p:spPr/>
        <p:txBody>
          <a:bodyPr/>
          <a:lstStyle/>
          <a:p>
            <a:fld id="{C9993EAA-8FF6-4FA7-AB56-9BA614B179BC}" type="slidenum">
              <a:rPr lang="es-ES" smtClean="0"/>
              <a:t>13</a:t>
            </a:fld>
            <a:endParaRPr lang="es-ES"/>
          </a:p>
        </p:txBody>
      </p:sp>
    </p:spTree>
    <p:extLst>
      <p:ext uri="{BB962C8B-B14F-4D97-AF65-F5344CB8AC3E}">
        <p14:creationId xmlns:p14="http://schemas.microsoft.com/office/powerpoint/2010/main" val="3603821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6D4FD-3287-7BF9-9FA9-8F865BAA2C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AD3AA2-0780-E565-ABE0-FE9E7F582A4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918BCF-8CE3-EFC1-1793-141DE288C1FE}"/>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EA9DD164-6E40-3ED3-9CCB-8E01673B83BB}"/>
              </a:ext>
            </a:extLst>
          </p:cNvPr>
          <p:cNvSpPr>
            <a:spLocks noGrp="1"/>
          </p:cNvSpPr>
          <p:nvPr>
            <p:ph type="sldNum" sz="quarter" idx="5"/>
          </p:nvPr>
        </p:nvSpPr>
        <p:spPr/>
        <p:txBody>
          <a:bodyPr/>
          <a:lstStyle/>
          <a:p>
            <a:fld id="{C9993EAA-8FF6-4FA7-AB56-9BA614B179BC}" type="slidenum">
              <a:rPr lang="es-ES" smtClean="0"/>
              <a:t>14</a:t>
            </a:fld>
            <a:endParaRPr lang="es-ES"/>
          </a:p>
        </p:txBody>
      </p:sp>
    </p:spTree>
    <p:extLst>
      <p:ext uri="{BB962C8B-B14F-4D97-AF65-F5344CB8AC3E}">
        <p14:creationId xmlns:p14="http://schemas.microsoft.com/office/powerpoint/2010/main" val="3659022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8BA53-B777-164A-9CF8-46BCAA5CAA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75DCA2-047F-2C5B-486A-640F0CA579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130F7A-68E6-4454-7EE0-30B6FEBD7833}"/>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5969DB2C-CCE3-D3E5-718A-64C9D0F05989}"/>
              </a:ext>
            </a:extLst>
          </p:cNvPr>
          <p:cNvSpPr>
            <a:spLocks noGrp="1"/>
          </p:cNvSpPr>
          <p:nvPr>
            <p:ph type="sldNum" sz="quarter" idx="5"/>
          </p:nvPr>
        </p:nvSpPr>
        <p:spPr/>
        <p:txBody>
          <a:bodyPr/>
          <a:lstStyle/>
          <a:p>
            <a:fld id="{C9993EAA-8FF6-4FA7-AB56-9BA614B179BC}" type="slidenum">
              <a:rPr lang="es-ES" smtClean="0"/>
              <a:t>15</a:t>
            </a:fld>
            <a:endParaRPr lang="es-ES"/>
          </a:p>
        </p:txBody>
      </p:sp>
    </p:spTree>
    <p:extLst>
      <p:ext uri="{BB962C8B-B14F-4D97-AF65-F5344CB8AC3E}">
        <p14:creationId xmlns:p14="http://schemas.microsoft.com/office/powerpoint/2010/main" val="555170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5BBFF-DF9B-79E4-463C-4B788D1AC63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4D57027-75A8-5D43-7C4B-8FC07D9400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B32E06-73AD-4298-7CD6-93831FE045AE}"/>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7F2F30EE-4E08-9039-AF46-4735FF516A1A}"/>
              </a:ext>
            </a:extLst>
          </p:cNvPr>
          <p:cNvSpPr>
            <a:spLocks noGrp="1"/>
          </p:cNvSpPr>
          <p:nvPr>
            <p:ph type="sldNum" sz="quarter" idx="5"/>
          </p:nvPr>
        </p:nvSpPr>
        <p:spPr/>
        <p:txBody>
          <a:bodyPr/>
          <a:lstStyle/>
          <a:p>
            <a:fld id="{C9993EAA-8FF6-4FA7-AB56-9BA614B179BC}" type="slidenum">
              <a:rPr lang="es-ES" smtClean="0"/>
              <a:t>16</a:t>
            </a:fld>
            <a:endParaRPr lang="es-ES"/>
          </a:p>
        </p:txBody>
      </p:sp>
    </p:spTree>
    <p:extLst>
      <p:ext uri="{BB962C8B-B14F-4D97-AF65-F5344CB8AC3E}">
        <p14:creationId xmlns:p14="http://schemas.microsoft.com/office/powerpoint/2010/main" val="2642383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AD986-ED78-BF36-D305-9F40137C67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313CF0-62DE-7DAE-E27E-6D10A5812F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0C12E4-00FE-7C2B-3DBD-E772E6E195F4}"/>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9A0A0AC6-1FE9-6DED-1AD6-BA05A090C8B0}"/>
              </a:ext>
            </a:extLst>
          </p:cNvPr>
          <p:cNvSpPr>
            <a:spLocks noGrp="1"/>
          </p:cNvSpPr>
          <p:nvPr>
            <p:ph type="sldNum" sz="quarter" idx="5"/>
          </p:nvPr>
        </p:nvSpPr>
        <p:spPr/>
        <p:txBody>
          <a:bodyPr/>
          <a:lstStyle/>
          <a:p>
            <a:fld id="{C9993EAA-8FF6-4FA7-AB56-9BA614B179BC}" type="slidenum">
              <a:rPr lang="es-ES" smtClean="0"/>
              <a:t>17</a:t>
            </a:fld>
            <a:endParaRPr lang="es-ES"/>
          </a:p>
        </p:txBody>
      </p:sp>
    </p:spTree>
    <p:extLst>
      <p:ext uri="{BB962C8B-B14F-4D97-AF65-F5344CB8AC3E}">
        <p14:creationId xmlns:p14="http://schemas.microsoft.com/office/powerpoint/2010/main" val="548478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E6FD-8DD8-AFEA-7F17-89921DB5AA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DA49DA-1514-E57F-04CC-520827E50D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D30135-C0C6-C3F8-9FE6-9B216371D757}"/>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A73EBB3C-3E90-7D34-27D8-38B29D9B2E29}"/>
              </a:ext>
            </a:extLst>
          </p:cNvPr>
          <p:cNvSpPr>
            <a:spLocks noGrp="1"/>
          </p:cNvSpPr>
          <p:nvPr>
            <p:ph type="sldNum" sz="quarter" idx="5"/>
          </p:nvPr>
        </p:nvSpPr>
        <p:spPr/>
        <p:txBody>
          <a:bodyPr/>
          <a:lstStyle/>
          <a:p>
            <a:fld id="{C9993EAA-8FF6-4FA7-AB56-9BA614B179BC}" type="slidenum">
              <a:rPr lang="es-ES" smtClean="0"/>
              <a:t>18</a:t>
            </a:fld>
            <a:endParaRPr lang="es-ES"/>
          </a:p>
        </p:txBody>
      </p:sp>
    </p:spTree>
    <p:extLst>
      <p:ext uri="{BB962C8B-B14F-4D97-AF65-F5344CB8AC3E}">
        <p14:creationId xmlns:p14="http://schemas.microsoft.com/office/powerpoint/2010/main" val="1484391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BD57E-0798-A61A-16EE-2E46ACCECD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00E4D65-5058-B10C-3C8F-8F33335BE34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789F83-6159-185A-DAF8-2400911512DD}"/>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3FCBF6DE-306F-2E05-E634-EC16F0CD4D65}"/>
              </a:ext>
            </a:extLst>
          </p:cNvPr>
          <p:cNvSpPr>
            <a:spLocks noGrp="1"/>
          </p:cNvSpPr>
          <p:nvPr>
            <p:ph type="sldNum" sz="quarter" idx="5"/>
          </p:nvPr>
        </p:nvSpPr>
        <p:spPr/>
        <p:txBody>
          <a:bodyPr/>
          <a:lstStyle/>
          <a:p>
            <a:fld id="{C9993EAA-8FF6-4FA7-AB56-9BA614B179BC}" type="slidenum">
              <a:rPr lang="es-ES" smtClean="0"/>
              <a:t>19</a:t>
            </a:fld>
            <a:endParaRPr lang="es-ES"/>
          </a:p>
        </p:txBody>
      </p:sp>
    </p:spTree>
    <p:extLst>
      <p:ext uri="{BB962C8B-B14F-4D97-AF65-F5344CB8AC3E}">
        <p14:creationId xmlns:p14="http://schemas.microsoft.com/office/powerpoint/2010/main" val="42697780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3FA43-9756-C7B1-E539-2C17B4BFC6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4A58E1-B92B-26B1-E46D-3CB0DA3B02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BA58B0-507F-2DB9-D246-611188459235}"/>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BF2513BD-666A-0200-67F6-E1D22537FEEB}"/>
              </a:ext>
            </a:extLst>
          </p:cNvPr>
          <p:cNvSpPr>
            <a:spLocks noGrp="1"/>
          </p:cNvSpPr>
          <p:nvPr>
            <p:ph type="sldNum" sz="quarter" idx="5"/>
          </p:nvPr>
        </p:nvSpPr>
        <p:spPr/>
        <p:txBody>
          <a:bodyPr/>
          <a:lstStyle/>
          <a:p>
            <a:fld id="{C9993EAA-8FF6-4FA7-AB56-9BA614B179BC}" type="slidenum">
              <a:rPr lang="es-ES" smtClean="0"/>
              <a:t>20</a:t>
            </a:fld>
            <a:endParaRPr lang="es-ES"/>
          </a:p>
        </p:txBody>
      </p:sp>
    </p:spTree>
    <p:extLst>
      <p:ext uri="{BB962C8B-B14F-4D97-AF65-F5344CB8AC3E}">
        <p14:creationId xmlns:p14="http://schemas.microsoft.com/office/powerpoint/2010/main" val="8550867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97A9D-9CC9-2F88-531D-515D59A561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6E6112-252B-B6DC-5FFB-B44F51E88D1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A7B29-2D14-F574-57AC-71064E5D64AE}"/>
              </a:ext>
            </a:extLst>
          </p:cNvPr>
          <p:cNvSpPr>
            <a:spLocks noGrp="1"/>
          </p:cNvSpPr>
          <p:nvPr>
            <p:ph type="body" idx="1"/>
          </p:nvPr>
        </p:nvSpPr>
        <p:spPr/>
        <p:txBody>
          <a:bodyPr/>
          <a:lstStyle/>
          <a:p>
            <a:pPr algn="l"/>
            <a:r>
              <a:rPr lang="es-ES" b="0" i="0" dirty="0">
                <a:solidFill>
                  <a:srgbClr val="374151"/>
                </a:solidFill>
                <a:effectLst/>
                <a:latin typeface="Söhne"/>
              </a:rPr>
              <a:t>En el desarrollo de software, es crucial cumplir con requisitos mínimos de seguridad. Sin embargo, estos requisitos pueden variar significativamente de un proyecto a otro. La clave está en analizar los riesgos y el contexto particular del software que estamos desarrollando para determinar los requisitos de seguridad necesarios.</a:t>
            </a:r>
          </a:p>
          <a:p>
            <a:pPr algn="l">
              <a:buFont typeface="+mj-lt"/>
              <a:buAutoNum type="arabicPeriod"/>
            </a:pPr>
            <a:r>
              <a:rPr lang="es-ES" b="1" i="0" dirty="0">
                <a:solidFill>
                  <a:srgbClr val="374151"/>
                </a:solidFill>
                <a:effectLst/>
                <a:latin typeface="Söhne"/>
              </a:rPr>
              <a:t>Análisis de riesgo</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Identificar y priorizar los riesgos en el proyecto es esencial.</a:t>
            </a:r>
          </a:p>
          <a:p>
            <a:pPr marL="742950" lvl="1" indent="-285750" algn="l">
              <a:buFont typeface="+mj-lt"/>
              <a:buAutoNum type="arabicPeriod"/>
            </a:pPr>
            <a:r>
              <a:rPr lang="es-ES" b="0" i="0" dirty="0">
                <a:solidFill>
                  <a:srgbClr val="374151"/>
                </a:solidFill>
                <a:effectLst/>
                <a:latin typeface="Söhne"/>
              </a:rPr>
              <a:t>Debes tomar decisiones sobre cómo responder a estos riesgos.</a:t>
            </a:r>
          </a:p>
          <a:p>
            <a:pPr algn="l">
              <a:buFont typeface="+mj-lt"/>
              <a:buAutoNum type="arabicPeriod"/>
            </a:pPr>
            <a:r>
              <a:rPr lang="es-ES" b="1" i="0" dirty="0">
                <a:solidFill>
                  <a:srgbClr val="374151"/>
                </a:solidFill>
                <a:effectLst/>
                <a:latin typeface="Söhne"/>
              </a:rPr>
              <a:t>Visión incompleta es mejor que ninguna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Es importante recordar que es preferible tener una visión incompleta de la seguridad de tu software que no tener ninguna.</a:t>
            </a:r>
          </a:p>
          <a:p>
            <a:pPr algn="l">
              <a:buFont typeface="+mj-lt"/>
              <a:buAutoNum type="arabicPeriod"/>
            </a:pPr>
            <a:r>
              <a:rPr lang="es-ES" b="1" i="0" dirty="0">
                <a:solidFill>
                  <a:srgbClr val="374151"/>
                </a:solidFill>
                <a:effectLst/>
                <a:latin typeface="Söhne"/>
              </a:rPr>
              <a:t>Visibilidad y certeza</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El análisis de riesgo proporciona visibilidad y certeza sobre la situación de seguridad del proyecto.</a:t>
            </a:r>
          </a:p>
          <a:p>
            <a:pPr algn="l"/>
            <a:endParaRPr lang="es-ES" b="0" i="0" dirty="0">
              <a:solidFill>
                <a:srgbClr val="374151"/>
              </a:solidFill>
              <a:effectLst/>
              <a:latin typeface="Söhne"/>
            </a:endParaRPr>
          </a:p>
          <a:p>
            <a:pPr algn="l"/>
            <a:endParaRPr lang="es-ES" b="0" i="0" dirty="0">
              <a:solidFill>
                <a:srgbClr val="374151"/>
              </a:solidFill>
              <a:effectLst/>
              <a:latin typeface="Söhne"/>
            </a:endParaRPr>
          </a:p>
          <a:p>
            <a:pPr algn="l"/>
            <a:r>
              <a:rPr lang="es-ES" b="0" i="0" dirty="0">
                <a:solidFill>
                  <a:srgbClr val="374151"/>
                </a:solidFill>
                <a:effectLst/>
                <a:latin typeface="Söhne"/>
              </a:rPr>
              <a:t>El equilibrio entre costes y la calidad y seguridad del software es un desafío constante en el desarrollo de software.</a:t>
            </a:r>
          </a:p>
          <a:p>
            <a:pPr algn="l">
              <a:buFont typeface="+mj-lt"/>
              <a:buAutoNum type="arabicPeriod"/>
            </a:pPr>
            <a:r>
              <a:rPr lang="es-ES" b="1" i="0" dirty="0">
                <a:solidFill>
                  <a:srgbClr val="374151"/>
                </a:solidFill>
                <a:effectLst/>
                <a:latin typeface="Söhne"/>
              </a:rPr>
              <a:t>Insuficiencia de recursos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A menudo, los recursos disponibles, como tiempo y presupuesto, son limitados.</a:t>
            </a:r>
          </a:p>
          <a:p>
            <a:pPr marL="742950" lvl="1" indent="-285750" algn="l">
              <a:buFont typeface="+mj-lt"/>
              <a:buAutoNum type="arabicPeriod"/>
            </a:pPr>
            <a:r>
              <a:rPr lang="es-ES" b="0" i="0" dirty="0">
                <a:solidFill>
                  <a:srgbClr val="374151"/>
                </a:solidFill>
                <a:effectLst/>
                <a:latin typeface="Söhne"/>
              </a:rPr>
              <a:t>Esto puede influir en la calidad y seguridad del software si no se gestionan adecuadamente.</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a:t>
            </a:r>
          </a:p>
          <a:p>
            <a:pPr marL="742950" lvl="1" indent="-285750" algn="l">
              <a:buFont typeface="+mj-lt"/>
              <a:buAutoNum type="arabicPeriod"/>
            </a:pPr>
            <a:r>
              <a:rPr lang="es-ES" b="0" i="0" dirty="0">
                <a:solidFill>
                  <a:srgbClr val="374151"/>
                </a:solidFill>
                <a:effectLst/>
                <a:latin typeface="Söhne"/>
              </a:rPr>
              <a:t>En el desarrollo de software, debemos tomar decisiones sobre cómo asignar los recursos disponibles.</a:t>
            </a:r>
          </a:p>
          <a:p>
            <a:pPr marL="742950" lvl="1" indent="-285750" algn="l">
              <a:buFont typeface="+mj-lt"/>
              <a:buAutoNum type="arabicPeriod"/>
            </a:pPr>
            <a:r>
              <a:rPr lang="es-ES" b="0" i="0" dirty="0">
                <a:solidFill>
                  <a:srgbClr val="374151"/>
                </a:solidFill>
                <a:effectLst/>
                <a:latin typeface="Söhne"/>
              </a:rPr>
              <a:t>Equilibrar costes, calidad y seguridad es una consideración crítica.</a:t>
            </a:r>
          </a:p>
          <a:p>
            <a:pPr algn="l"/>
            <a:r>
              <a:rPr lang="es-ES" b="0" i="0" dirty="0">
                <a:solidFill>
                  <a:srgbClr val="374151"/>
                </a:solidFill>
                <a:effectLst/>
                <a:latin typeface="Söhne"/>
              </a:rPr>
              <a:t>En resumen, el cumplimiento de requisitos mínimos de seguridad es fundamental en el desarrollo de software, y esto implica analizar los riesgos y tomar decisiones adecuadas. Además, debemos ser conscientes de la constante lucha por equilibrar costes, calidad y seguridad, especialmente cuando los recursos son limitados.</a:t>
            </a:r>
          </a:p>
          <a:p>
            <a:endParaRPr lang="es-ES" dirty="0"/>
          </a:p>
        </p:txBody>
      </p:sp>
      <p:sp>
        <p:nvSpPr>
          <p:cNvPr id="4" name="Marcador de número de diapositiva 3">
            <a:extLst>
              <a:ext uri="{FF2B5EF4-FFF2-40B4-BE49-F238E27FC236}">
                <a16:creationId xmlns:a16="http://schemas.microsoft.com/office/drawing/2014/main" id="{42CFC46E-C0F8-F4A4-4910-B300CF83A755}"/>
              </a:ext>
            </a:extLst>
          </p:cNvPr>
          <p:cNvSpPr>
            <a:spLocks noGrp="1"/>
          </p:cNvSpPr>
          <p:nvPr>
            <p:ph type="sldNum" sz="quarter" idx="5"/>
          </p:nvPr>
        </p:nvSpPr>
        <p:spPr/>
        <p:txBody>
          <a:bodyPr/>
          <a:lstStyle/>
          <a:p>
            <a:fld id="{C9993EAA-8FF6-4FA7-AB56-9BA614B179BC}" type="slidenum">
              <a:rPr lang="es-ES" smtClean="0"/>
              <a:t>21</a:t>
            </a:fld>
            <a:endParaRPr lang="es-ES"/>
          </a:p>
        </p:txBody>
      </p:sp>
    </p:spTree>
    <p:extLst>
      <p:ext uri="{BB962C8B-B14F-4D97-AF65-F5344CB8AC3E}">
        <p14:creationId xmlns:p14="http://schemas.microsoft.com/office/powerpoint/2010/main" val="1875922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0DBE9-1E9F-8704-EDC0-36FD4F0817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CB4878-1EB9-8F51-B6D5-C55336DD25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8C6E9E-E516-C339-A980-66F1B22744A4}"/>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pPr algn="l">
              <a:defRPr/>
            </a:pPr>
            <a:endParaRPr lang="es-ES" dirty="0"/>
          </a:p>
        </p:txBody>
      </p:sp>
      <p:sp>
        <p:nvSpPr>
          <p:cNvPr id="4" name="Marcador de número de diapositiva 3">
            <a:extLst>
              <a:ext uri="{FF2B5EF4-FFF2-40B4-BE49-F238E27FC236}">
                <a16:creationId xmlns:a16="http://schemas.microsoft.com/office/drawing/2014/main" id="{90CFBFB0-3B3F-4012-AC82-09D3F80BF3E3}"/>
              </a:ext>
            </a:extLst>
          </p:cNvPr>
          <p:cNvSpPr>
            <a:spLocks noGrp="1"/>
          </p:cNvSpPr>
          <p:nvPr>
            <p:ph type="sldNum" sz="quarter" idx="5"/>
          </p:nvPr>
        </p:nvSpPr>
        <p:spPr/>
        <p:txBody>
          <a:bodyPr/>
          <a:lstStyle/>
          <a:p>
            <a:fld id="{C9993EAA-8FF6-4FA7-AB56-9BA614B179BC}" type="slidenum">
              <a:rPr lang="es-ES" smtClean="0"/>
              <a:t>23</a:t>
            </a:fld>
            <a:endParaRPr lang="es-ES"/>
          </a:p>
        </p:txBody>
      </p:sp>
    </p:spTree>
    <p:extLst>
      <p:ext uri="{BB962C8B-B14F-4D97-AF65-F5344CB8AC3E}">
        <p14:creationId xmlns:p14="http://schemas.microsoft.com/office/powerpoint/2010/main" val="3564135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5FB8-E643-8599-02C5-01708CC58F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2DAD4B-BEAB-874D-B73B-0F3E42D90C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AC34A8-9112-11D4-6329-E8959391C44B}"/>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pPr algn="l">
              <a:defRPr/>
            </a:pPr>
            <a:endParaRPr lang="es-ES" dirty="0"/>
          </a:p>
        </p:txBody>
      </p:sp>
      <p:sp>
        <p:nvSpPr>
          <p:cNvPr id="4" name="Marcador de número de diapositiva 3">
            <a:extLst>
              <a:ext uri="{FF2B5EF4-FFF2-40B4-BE49-F238E27FC236}">
                <a16:creationId xmlns:a16="http://schemas.microsoft.com/office/drawing/2014/main" id="{3EFDBD3C-16DD-A830-6D13-1B7EB48C27F3}"/>
              </a:ext>
            </a:extLst>
          </p:cNvPr>
          <p:cNvSpPr>
            <a:spLocks noGrp="1"/>
          </p:cNvSpPr>
          <p:nvPr>
            <p:ph type="sldNum" sz="quarter" idx="5"/>
          </p:nvPr>
        </p:nvSpPr>
        <p:spPr/>
        <p:txBody>
          <a:bodyPr/>
          <a:lstStyle/>
          <a:p>
            <a:fld id="{C9993EAA-8FF6-4FA7-AB56-9BA614B179BC}" type="slidenum">
              <a:rPr lang="es-ES" smtClean="0"/>
              <a:t>24</a:t>
            </a:fld>
            <a:endParaRPr lang="es-ES"/>
          </a:p>
        </p:txBody>
      </p:sp>
    </p:spTree>
    <p:extLst>
      <p:ext uri="{BB962C8B-B14F-4D97-AF65-F5344CB8AC3E}">
        <p14:creationId xmlns:p14="http://schemas.microsoft.com/office/powerpoint/2010/main" val="266191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A86D9-2B85-8883-0A04-8D9D13FC81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39E58A-8993-27B3-1730-CB67315FDC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F564DB3-54AB-FAAA-3CF3-23D6190B3FAD}"/>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pPr algn="l">
              <a:defRPr/>
            </a:pPr>
            <a:endParaRPr lang="es-ES" dirty="0"/>
          </a:p>
        </p:txBody>
      </p:sp>
      <p:sp>
        <p:nvSpPr>
          <p:cNvPr id="4" name="Marcador de número de diapositiva 3">
            <a:extLst>
              <a:ext uri="{FF2B5EF4-FFF2-40B4-BE49-F238E27FC236}">
                <a16:creationId xmlns:a16="http://schemas.microsoft.com/office/drawing/2014/main" id="{A6CFF487-443E-E2D9-AE77-0B2840838756}"/>
              </a:ext>
            </a:extLst>
          </p:cNvPr>
          <p:cNvSpPr>
            <a:spLocks noGrp="1"/>
          </p:cNvSpPr>
          <p:nvPr>
            <p:ph type="sldNum" sz="quarter" idx="5"/>
          </p:nvPr>
        </p:nvSpPr>
        <p:spPr/>
        <p:txBody>
          <a:bodyPr/>
          <a:lstStyle/>
          <a:p>
            <a:fld id="{C9993EAA-8FF6-4FA7-AB56-9BA614B179BC}" type="slidenum">
              <a:rPr lang="es-ES" smtClean="0"/>
              <a:t>25</a:t>
            </a:fld>
            <a:endParaRPr lang="es-ES"/>
          </a:p>
        </p:txBody>
      </p:sp>
    </p:spTree>
    <p:extLst>
      <p:ext uri="{BB962C8B-B14F-4D97-AF65-F5344CB8AC3E}">
        <p14:creationId xmlns:p14="http://schemas.microsoft.com/office/powerpoint/2010/main" val="3399004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55D2-95E7-67E6-548B-4AB09E324B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B8FF5D-32FC-7396-DEB0-07B1339382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77E0FF-68D5-27F8-8579-A591238923A6}"/>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pPr algn="l">
              <a:defRPr/>
            </a:pPr>
            <a:endParaRPr lang="es-ES" dirty="0"/>
          </a:p>
        </p:txBody>
      </p:sp>
      <p:sp>
        <p:nvSpPr>
          <p:cNvPr id="4" name="Marcador de número de diapositiva 3">
            <a:extLst>
              <a:ext uri="{FF2B5EF4-FFF2-40B4-BE49-F238E27FC236}">
                <a16:creationId xmlns:a16="http://schemas.microsoft.com/office/drawing/2014/main" id="{A30D804F-4BF0-EEEB-CE13-FE8873C6A75D}"/>
              </a:ext>
            </a:extLst>
          </p:cNvPr>
          <p:cNvSpPr>
            <a:spLocks noGrp="1"/>
          </p:cNvSpPr>
          <p:nvPr>
            <p:ph type="sldNum" sz="quarter" idx="5"/>
          </p:nvPr>
        </p:nvSpPr>
        <p:spPr/>
        <p:txBody>
          <a:bodyPr/>
          <a:lstStyle/>
          <a:p>
            <a:fld id="{C9993EAA-8FF6-4FA7-AB56-9BA614B179BC}" type="slidenum">
              <a:rPr lang="es-ES" smtClean="0"/>
              <a:t>26</a:t>
            </a:fld>
            <a:endParaRPr lang="es-ES"/>
          </a:p>
        </p:txBody>
      </p:sp>
    </p:spTree>
    <p:extLst>
      <p:ext uri="{BB962C8B-B14F-4D97-AF65-F5344CB8AC3E}">
        <p14:creationId xmlns:p14="http://schemas.microsoft.com/office/powerpoint/2010/main" val="3017595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2B049-40B0-6B49-07BB-14646E0E78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99D2F2-3560-1223-2213-88D7751866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2B2FFC-1C16-791C-A8DC-72D8274CB1DA}"/>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dirty="0"/>
          </a:p>
        </p:txBody>
      </p:sp>
      <p:sp>
        <p:nvSpPr>
          <p:cNvPr id="4" name="Marcador de número de diapositiva 3">
            <a:extLst>
              <a:ext uri="{FF2B5EF4-FFF2-40B4-BE49-F238E27FC236}">
                <a16:creationId xmlns:a16="http://schemas.microsoft.com/office/drawing/2014/main" id="{E51FCC7E-CB52-601F-BBE4-C4700D74E816}"/>
              </a:ext>
            </a:extLst>
          </p:cNvPr>
          <p:cNvSpPr>
            <a:spLocks noGrp="1"/>
          </p:cNvSpPr>
          <p:nvPr>
            <p:ph type="sldNum" sz="quarter" idx="5"/>
          </p:nvPr>
        </p:nvSpPr>
        <p:spPr/>
        <p:txBody>
          <a:bodyPr/>
          <a:lstStyle/>
          <a:p>
            <a:fld id="{C9993EAA-8FF6-4FA7-AB56-9BA614B179BC}" type="slidenum">
              <a:rPr lang="es-ES" smtClean="0"/>
              <a:t>27</a:t>
            </a:fld>
            <a:endParaRPr lang="es-ES"/>
          </a:p>
        </p:txBody>
      </p:sp>
    </p:spTree>
    <p:extLst>
      <p:ext uri="{BB962C8B-B14F-4D97-AF65-F5344CB8AC3E}">
        <p14:creationId xmlns:p14="http://schemas.microsoft.com/office/powerpoint/2010/main" val="19469790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A736D-4C22-D492-9DC2-5AD6399004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161BC38-F1E9-F47A-F43A-D5E3291A4F8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25B2150-97FE-B8EE-4FC4-B228D2ADF843}"/>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dirty="0"/>
          </a:p>
        </p:txBody>
      </p:sp>
      <p:sp>
        <p:nvSpPr>
          <p:cNvPr id="4" name="Marcador de número de diapositiva 3">
            <a:extLst>
              <a:ext uri="{FF2B5EF4-FFF2-40B4-BE49-F238E27FC236}">
                <a16:creationId xmlns:a16="http://schemas.microsoft.com/office/drawing/2014/main" id="{3AF00CF7-D1CC-EBC2-A0BB-32E0231C824F}"/>
              </a:ext>
            </a:extLst>
          </p:cNvPr>
          <p:cNvSpPr>
            <a:spLocks noGrp="1"/>
          </p:cNvSpPr>
          <p:nvPr>
            <p:ph type="sldNum" sz="quarter" idx="5"/>
          </p:nvPr>
        </p:nvSpPr>
        <p:spPr/>
        <p:txBody>
          <a:bodyPr/>
          <a:lstStyle/>
          <a:p>
            <a:fld id="{C9993EAA-8FF6-4FA7-AB56-9BA614B179BC}" type="slidenum">
              <a:rPr lang="es-ES" smtClean="0"/>
              <a:t>28</a:t>
            </a:fld>
            <a:endParaRPr lang="es-ES"/>
          </a:p>
        </p:txBody>
      </p:sp>
    </p:spTree>
    <p:extLst>
      <p:ext uri="{BB962C8B-B14F-4D97-AF65-F5344CB8AC3E}">
        <p14:creationId xmlns:p14="http://schemas.microsoft.com/office/powerpoint/2010/main" val="6496804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B8FC5-E0E7-7817-6281-FD6EB65D8F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95A2325-AB9F-16E1-04C1-37C8F744986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9B2A4B-D9EF-E2CB-47AF-562003D29EAC}"/>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dirty="0"/>
          </a:p>
        </p:txBody>
      </p:sp>
      <p:sp>
        <p:nvSpPr>
          <p:cNvPr id="4" name="Marcador de número de diapositiva 3">
            <a:extLst>
              <a:ext uri="{FF2B5EF4-FFF2-40B4-BE49-F238E27FC236}">
                <a16:creationId xmlns:a16="http://schemas.microsoft.com/office/drawing/2014/main" id="{E783FC2D-A9F9-8BF9-2AC5-8AB5B3AC959F}"/>
              </a:ext>
            </a:extLst>
          </p:cNvPr>
          <p:cNvSpPr>
            <a:spLocks noGrp="1"/>
          </p:cNvSpPr>
          <p:nvPr>
            <p:ph type="sldNum" sz="quarter" idx="5"/>
          </p:nvPr>
        </p:nvSpPr>
        <p:spPr/>
        <p:txBody>
          <a:bodyPr/>
          <a:lstStyle/>
          <a:p>
            <a:fld id="{C9993EAA-8FF6-4FA7-AB56-9BA614B179BC}" type="slidenum">
              <a:rPr lang="es-ES" smtClean="0"/>
              <a:t>29</a:t>
            </a:fld>
            <a:endParaRPr lang="es-ES"/>
          </a:p>
        </p:txBody>
      </p:sp>
    </p:spTree>
    <p:extLst>
      <p:ext uri="{BB962C8B-B14F-4D97-AF65-F5344CB8AC3E}">
        <p14:creationId xmlns:p14="http://schemas.microsoft.com/office/powerpoint/2010/main" val="19078047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65195-A769-712C-CD1B-31D145D74F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B149B7-7118-C0C8-43F5-AB5DEA5093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D57F783-FB20-3450-FD70-430FD8C96C75}"/>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dirty="0"/>
          </a:p>
        </p:txBody>
      </p:sp>
      <p:sp>
        <p:nvSpPr>
          <p:cNvPr id="4" name="Marcador de número de diapositiva 3">
            <a:extLst>
              <a:ext uri="{FF2B5EF4-FFF2-40B4-BE49-F238E27FC236}">
                <a16:creationId xmlns:a16="http://schemas.microsoft.com/office/drawing/2014/main" id="{F6271D42-7B0C-0E79-29DC-385D08D9811C}"/>
              </a:ext>
            </a:extLst>
          </p:cNvPr>
          <p:cNvSpPr>
            <a:spLocks noGrp="1"/>
          </p:cNvSpPr>
          <p:nvPr>
            <p:ph type="sldNum" sz="quarter" idx="5"/>
          </p:nvPr>
        </p:nvSpPr>
        <p:spPr/>
        <p:txBody>
          <a:bodyPr/>
          <a:lstStyle/>
          <a:p>
            <a:fld id="{C9993EAA-8FF6-4FA7-AB56-9BA614B179BC}" type="slidenum">
              <a:rPr lang="es-ES" smtClean="0"/>
              <a:t>30</a:t>
            </a:fld>
            <a:endParaRPr lang="es-ES"/>
          </a:p>
        </p:txBody>
      </p:sp>
    </p:spTree>
    <p:extLst>
      <p:ext uri="{BB962C8B-B14F-4D97-AF65-F5344CB8AC3E}">
        <p14:creationId xmlns:p14="http://schemas.microsoft.com/office/powerpoint/2010/main" val="70533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7EEED-DBE7-BC30-2941-09533DEFA2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1BB798C-69AA-4FE3-FD28-C7CAEAF3CF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27D701-1C98-3245-3944-62E9E997BEAF}"/>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dirty="0"/>
          </a:p>
        </p:txBody>
      </p:sp>
      <p:sp>
        <p:nvSpPr>
          <p:cNvPr id="4" name="Marcador de número de diapositiva 3">
            <a:extLst>
              <a:ext uri="{FF2B5EF4-FFF2-40B4-BE49-F238E27FC236}">
                <a16:creationId xmlns:a16="http://schemas.microsoft.com/office/drawing/2014/main" id="{DEF39F09-D2F5-C199-F199-1460C7510DDF}"/>
              </a:ext>
            </a:extLst>
          </p:cNvPr>
          <p:cNvSpPr>
            <a:spLocks noGrp="1"/>
          </p:cNvSpPr>
          <p:nvPr>
            <p:ph type="sldNum" sz="quarter" idx="5"/>
          </p:nvPr>
        </p:nvSpPr>
        <p:spPr/>
        <p:txBody>
          <a:bodyPr/>
          <a:lstStyle/>
          <a:p>
            <a:fld id="{C9993EAA-8FF6-4FA7-AB56-9BA614B179BC}" type="slidenum">
              <a:rPr lang="es-ES" smtClean="0"/>
              <a:t>31</a:t>
            </a:fld>
            <a:endParaRPr lang="es-ES"/>
          </a:p>
        </p:txBody>
      </p:sp>
    </p:spTree>
    <p:extLst>
      <p:ext uri="{BB962C8B-B14F-4D97-AF65-F5344CB8AC3E}">
        <p14:creationId xmlns:p14="http://schemas.microsoft.com/office/powerpoint/2010/main" val="2959430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B3D42-05C5-EB93-F309-F2074F6BC0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04C36B-C582-4739-7FA0-053B753617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BBDD33-46A7-5B87-28FD-C8529E70E241}"/>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p:txBody>
      </p:sp>
      <p:sp>
        <p:nvSpPr>
          <p:cNvPr id="4" name="Marcador de número de diapositiva 3">
            <a:extLst>
              <a:ext uri="{FF2B5EF4-FFF2-40B4-BE49-F238E27FC236}">
                <a16:creationId xmlns:a16="http://schemas.microsoft.com/office/drawing/2014/main" id="{E3FA3243-07DC-1399-147E-8B2236BA5866}"/>
              </a:ext>
            </a:extLst>
          </p:cNvPr>
          <p:cNvSpPr>
            <a:spLocks noGrp="1"/>
          </p:cNvSpPr>
          <p:nvPr>
            <p:ph type="sldNum" sz="quarter" idx="5"/>
          </p:nvPr>
        </p:nvSpPr>
        <p:spPr/>
        <p:txBody>
          <a:bodyPr/>
          <a:lstStyle/>
          <a:p>
            <a:fld id="{C9993EAA-8FF6-4FA7-AB56-9BA614B179BC}" type="slidenum">
              <a:rPr lang="es-ES" smtClean="0"/>
              <a:t>32</a:t>
            </a:fld>
            <a:endParaRPr lang="es-ES"/>
          </a:p>
        </p:txBody>
      </p:sp>
    </p:spTree>
    <p:extLst>
      <p:ext uri="{BB962C8B-B14F-4D97-AF65-F5344CB8AC3E}">
        <p14:creationId xmlns:p14="http://schemas.microsoft.com/office/powerpoint/2010/main" val="11024977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D5CF-1686-E009-EC56-4503581BA0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BB1A25-179B-C1E2-A1CA-037A3E1778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CF4CDA-2017-9A65-B3D8-1432A05D2BDE}"/>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52C7FA4D-1084-6FA2-845E-4D795C525859}"/>
              </a:ext>
            </a:extLst>
          </p:cNvPr>
          <p:cNvSpPr>
            <a:spLocks noGrp="1"/>
          </p:cNvSpPr>
          <p:nvPr>
            <p:ph type="sldNum" sz="quarter" idx="5"/>
          </p:nvPr>
        </p:nvSpPr>
        <p:spPr/>
        <p:txBody>
          <a:bodyPr/>
          <a:lstStyle/>
          <a:p>
            <a:fld id="{C9993EAA-8FF6-4FA7-AB56-9BA614B179BC}" type="slidenum">
              <a:rPr lang="es-ES" smtClean="0"/>
              <a:t>33</a:t>
            </a:fld>
            <a:endParaRPr lang="es-ES"/>
          </a:p>
        </p:txBody>
      </p:sp>
    </p:spTree>
    <p:extLst>
      <p:ext uri="{BB962C8B-B14F-4D97-AF65-F5344CB8AC3E}">
        <p14:creationId xmlns:p14="http://schemas.microsoft.com/office/powerpoint/2010/main" val="13287124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04D1C-958B-7E37-637C-46B5E22A8F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F4A2EBF-800B-886F-CE62-6616F42226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0E44F2-1D05-B372-C010-F3A6654A9538}"/>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F5BE4844-CF81-DC02-EA79-02BFD25942F8}"/>
              </a:ext>
            </a:extLst>
          </p:cNvPr>
          <p:cNvSpPr>
            <a:spLocks noGrp="1"/>
          </p:cNvSpPr>
          <p:nvPr>
            <p:ph type="sldNum" sz="quarter" idx="5"/>
          </p:nvPr>
        </p:nvSpPr>
        <p:spPr/>
        <p:txBody>
          <a:bodyPr/>
          <a:lstStyle/>
          <a:p>
            <a:fld id="{C9993EAA-8FF6-4FA7-AB56-9BA614B179BC}" type="slidenum">
              <a:rPr lang="es-ES" smtClean="0"/>
              <a:t>34</a:t>
            </a:fld>
            <a:endParaRPr lang="es-ES"/>
          </a:p>
        </p:txBody>
      </p:sp>
    </p:spTree>
    <p:extLst>
      <p:ext uri="{BB962C8B-B14F-4D97-AF65-F5344CB8AC3E}">
        <p14:creationId xmlns:p14="http://schemas.microsoft.com/office/powerpoint/2010/main" val="34250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4B36B-C8C2-460C-EEB1-C670D6D4EE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65E75C-189F-8810-A4F2-51A9E882EB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391D79-9EEC-B33C-D3B7-A98C6203A4E1}"/>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290F6ED6-61D2-564E-7A3B-C9E2C2E7E51A}"/>
              </a:ext>
            </a:extLst>
          </p:cNvPr>
          <p:cNvSpPr>
            <a:spLocks noGrp="1"/>
          </p:cNvSpPr>
          <p:nvPr>
            <p:ph type="sldNum" sz="quarter" idx="5"/>
          </p:nvPr>
        </p:nvSpPr>
        <p:spPr/>
        <p:txBody>
          <a:bodyPr/>
          <a:lstStyle/>
          <a:p>
            <a:fld id="{C9993EAA-8FF6-4FA7-AB56-9BA614B179BC}" type="slidenum">
              <a:rPr lang="es-ES" smtClean="0"/>
              <a:t>35</a:t>
            </a:fld>
            <a:endParaRPr lang="es-ES"/>
          </a:p>
        </p:txBody>
      </p:sp>
    </p:spTree>
    <p:extLst>
      <p:ext uri="{BB962C8B-B14F-4D97-AF65-F5344CB8AC3E}">
        <p14:creationId xmlns:p14="http://schemas.microsoft.com/office/powerpoint/2010/main" val="33501820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E0556-03E8-57DE-F9E6-2D910986B96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45F457-B2FF-38CE-8065-678CE2BE988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EC0866-5433-2EB0-76B4-2BD5796E0CCC}"/>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7CB9DD4C-AF50-7113-2D66-F236B771A8DD}"/>
              </a:ext>
            </a:extLst>
          </p:cNvPr>
          <p:cNvSpPr>
            <a:spLocks noGrp="1"/>
          </p:cNvSpPr>
          <p:nvPr>
            <p:ph type="sldNum" sz="quarter" idx="5"/>
          </p:nvPr>
        </p:nvSpPr>
        <p:spPr/>
        <p:txBody>
          <a:bodyPr/>
          <a:lstStyle/>
          <a:p>
            <a:fld id="{C9993EAA-8FF6-4FA7-AB56-9BA614B179BC}" type="slidenum">
              <a:rPr lang="es-ES" smtClean="0"/>
              <a:t>36</a:t>
            </a:fld>
            <a:endParaRPr lang="es-ES"/>
          </a:p>
        </p:txBody>
      </p:sp>
    </p:spTree>
    <p:extLst>
      <p:ext uri="{BB962C8B-B14F-4D97-AF65-F5344CB8AC3E}">
        <p14:creationId xmlns:p14="http://schemas.microsoft.com/office/powerpoint/2010/main" val="18386541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959E4-D67D-FBE6-5D4D-B3C307AC94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ED8081-378B-0854-71C2-095D8E60FD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513D4E5-EC52-1BA7-2915-BD62C231CE0B}"/>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ED281D76-0C17-6511-149D-15F49B723CE9}"/>
              </a:ext>
            </a:extLst>
          </p:cNvPr>
          <p:cNvSpPr>
            <a:spLocks noGrp="1"/>
          </p:cNvSpPr>
          <p:nvPr>
            <p:ph type="sldNum" sz="quarter" idx="5"/>
          </p:nvPr>
        </p:nvSpPr>
        <p:spPr/>
        <p:txBody>
          <a:bodyPr/>
          <a:lstStyle/>
          <a:p>
            <a:fld id="{C9993EAA-8FF6-4FA7-AB56-9BA614B179BC}" type="slidenum">
              <a:rPr lang="es-ES" smtClean="0"/>
              <a:t>37</a:t>
            </a:fld>
            <a:endParaRPr lang="es-ES"/>
          </a:p>
        </p:txBody>
      </p:sp>
    </p:spTree>
    <p:extLst>
      <p:ext uri="{BB962C8B-B14F-4D97-AF65-F5344CB8AC3E}">
        <p14:creationId xmlns:p14="http://schemas.microsoft.com/office/powerpoint/2010/main" val="38123189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90B4-24D4-6DC0-1901-E6F44EAC6F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12526F-E723-1BC0-3D29-F9DFA686D38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9E29E4E-C358-4321-4206-283BE16273DC}"/>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C8E08FC8-4E51-9A5C-5AF0-BBC6E4C30DB8}"/>
              </a:ext>
            </a:extLst>
          </p:cNvPr>
          <p:cNvSpPr>
            <a:spLocks noGrp="1"/>
          </p:cNvSpPr>
          <p:nvPr>
            <p:ph type="sldNum" sz="quarter" idx="5"/>
          </p:nvPr>
        </p:nvSpPr>
        <p:spPr/>
        <p:txBody>
          <a:bodyPr/>
          <a:lstStyle/>
          <a:p>
            <a:fld id="{C9993EAA-8FF6-4FA7-AB56-9BA614B179BC}" type="slidenum">
              <a:rPr lang="es-ES" smtClean="0"/>
              <a:t>38</a:t>
            </a:fld>
            <a:endParaRPr lang="es-ES"/>
          </a:p>
        </p:txBody>
      </p:sp>
    </p:spTree>
    <p:extLst>
      <p:ext uri="{BB962C8B-B14F-4D97-AF65-F5344CB8AC3E}">
        <p14:creationId xmlns:p14="http://schemas.microsoft.com/office/powerpoint/2010/main" val="20742007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5DA49-12A5-418E-7B5C-FCC5978DFC1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902AEA-AE61-2A26-C282-DE19F3C6A2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C9D230-F3B4-BF43-AB92-75BAA2137D58}"/>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86BF1FC7-B15D-1E71-B3FE-783807CE0870}"/>
              </a:ext>
            </a:extLst>
          </p:cNvPr>
          <p:cNvSpPr>
            <a:spLocks noGrp="1"/>
          </p:cNvSpPr>
          <p:nvPr>
            <p:ph type="sldNum" sz="quarter" idx="5"/>
          </p:nvPr>
        </p:nvSpPr>
        <p:spPr/>
        <p:txBody>
          <a:bodyPr/>
          <a:lstStyle/>
          <a:p>
            <a:fld id="{C9993EAA-8FF6-4FA7-AB56-9BA614B179BC}" type="slidenum">
              <a:rPr lang="es-ES" smtClean="0"/>
              <a:t>39</a:t>
            </a:fld>
            <a:endParaRPr lang="es-ES"/>
          </a:p>
        </p:txBody>
      </p:sp>
    </p:spTree>
    <p:extLst>
      <p:ext uri="{BB962C8B-B14F-4D97-AF65-F5344CB8AC3E}">
        <p14:creationId xmlns:p14="http://schemas.microsoft.com/office/powerpoint/2010/main" val="1262243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655A-B426-48E6-448A-FB8295890D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44CB26-20E0-20BC-72DE-062C75A2F25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3EE1AF0-E726-8065-5DAB-946490A82CF5}"/>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9E7170F6-F11F-7D54-C293-3876BB48865A}"/>
              </a:ext>
            </a:extLst>
          </p:cNvPr>
          <p:cNvSpPr>
            <a:spLocks noGrp="1"/>
          </p:cNvSpPr>
          <p:nvPr>
            <p:ph type="sldNum" sz="quarter" idx="5"/>
          </p:nvPr>
        </p:nvSpPr>
        <p:spPr/>
        <p:txBody>
          <a:bodyPr/>
          <a:lstStyle/>
          <a:p>
            <a:fld id="{C9993EAA-8FF6-4FA7-AB56-9BA614B179BC}" type="slidenum">
              <a:rPr lang="es-ES" smtClean="0"/>
              <a:t>40</a:t>
            </a:fld>
            <a:endParaRPr lang="es-ES"/>
          </a:p>
        </p:txBody>
      </p:sp>
    </p:spTree>
    <p:extLst>
      <p:ext uri="{BB962C8B-B14F-4D97-AF65-F5344CB8AC3E}">
        <p14:creationId xmlns:p14="http://schemas.microsoft.com/office/powerpoint/2010/main" val="34416871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5EF7-E427-0D30-25A4-F7C2A6C4F4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BED6842-4390-3E21-16E6-3557328635B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C77CD4-FBF7-258D-265E-E42BC5263D7E}"/>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9B462E1C-12F1-9F67-784F-EB4CEA27B598}"/>
              </a:ext>
            </a:extLst>
          </p:cNvPr>
          <p:cNvSpPr>
            <a:spLocks noGrp="1"/>
          </p:cNvSpPr>
          <p:nvPr>
            <p:ph type="sldNum" sz="quarter" idx="5"/>
          </p:nvPr>
        </p:nvSpPr>
        <p:spPr/>
        <p:txBody>
          <a:bodyPr/>
          <a:lstStyle/>
          <a:p>
            <a:fld id="{C9993EAA-8FF6-4FA7-AB56-9BA614B179BC}" type="slidenum">
              <a:rPr lang="es-ES" smtClean="0"/>
              <a:t>41</a:t>
            </a:fld>
            <a:endParaRPr lang="es-ES"/>
          </a:p>
        </p:txBody>
      </p:sp>
    </p:spTree>
    <p:extLst>
      <p:ext uri="{BB962C8B-B14F-4D97-AF65-F5344CB8AC3E}">
        <p14:creationId xmlns:p14="http://schemas.microsoft.com/office/powerpoint/2010/main" val="8637031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7719E-FE50-F830-B365-45300B64815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8B906A-2D96-CAC4-1BAF-DE64D7ACFB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C1191C-DDBF-3B68-C7B9-F4CC613836B2}"/>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02D4C1BA-73AD-51B1-7DA8-D580842AA44C}"/>
              </a:ext>
            </a:extLst>
          </p:cNvPr>
          <p:cNvSpPr>
            <a:spLocks noGrp="1"/>
          </p:cNvSpPr>
          <p:nvPr>
            <p:ph type="sldNum" sz="quarter" idx="5"/>
          </p:nvPr>
        </p:nvSpPr>
        <p:spPr/>
        <p:txBody>
          <a:bodyPr/>
          <a:lstStyle/>
          <a:p>
            <a:fld id="{C9993EAA-8FF6-4FA7-AB56-9BA614B179BC}" type="slidenum">
              <a:rPr lang="es-ES" smtClean="0"/>
              <a:t>42</a:t>
            </a:fld>
            <a:endParaRPr lang="es-ES"/>
          </a:p>
        </p:txBody>
      </p:sp>
    </p:spTree>
    <p:extLst>
      <p:ext uri="{BB962C8B-B14F-4D97-AF65-F5344CB8AC3E}">
        <p14:creationId xmlns:p14="http://schemas.microsoft.com/office/powerpoint/2010/main" val="33508551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81E7C-EB57-210D-1705-CF48B15114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A81C84-345D-B3E3-7E95-0271B5134A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02F003A-65AB-5E03-0649-EF2893D777ED}"/>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9439755C-F643-D6CA-5C17-2C61579950C4}"/>
              </a:ext>
            </a:extLst>
          </p:cNvPr>
          <p:cNvSpPr>
            <a:spLocks noGrp="1"/>
          </p:cNvSpPr>
          <p:nvPr>
            <p:ph type="sldNum" sz="quarter" idx="5"/>
          </p:nvPr>
        </p:nvSpPr>
        <p:spPr/>
        <p:txBody>
          <a:bodyPr/>
          <a:lstStyle/>
          <a:p>
            <a:fld id="{C9993EAA-8FF6-4FA7-AB56-9BA614B179BC}" type="slidenum">
              <a:rPr lang="es-ES" smtClean="0"/>
              <a:t>43</a:t>
            </a:fld>
            <a:endParaRPr lang="es-ES"/>
          </a:p>
        </p:txBody>
      </p:sp>
    </p:spTree>
    <p:extLst>
      <p:ext uri="{BB962C8B-B14F-4D97-AF65-F5344CB8AC3E}">
        <p14:creationId xmlns:p14="http://schemas.microsoft.com/office/powerpoint/2010/main" val="12445689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9E390-2B26-DBB8-D349-2C80EF48BE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F056B8-EC1A-9E72-AFD2-5643D9FE28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8DDEF01-F829-A13A-2D18-9E11100BC13D}"/>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FA20CA34-BA57-1F3C-F40E-C53B022847A4}"/>
              </a:ext>
            </a:extLst>
          </p:cNvPr>
          <p:cNvSpPr>
            <a:spLocks noGrp="1"/>
          </p:cNvSpPr>
          <p:nvPr>
            <p:ph type="sldNum" sz="quarter" idx="5"/>
          </p:nvPr>
        </p:nvSpPr>
        <p:spPr/>
        <p:txBody>
          <a:bodyPr/>
          <a:lstStyle/>
          <a:p>
            <a:fld id="{C9993EAA-8FF6-4FA7-AB56-9BA614B179BC}" type="slidenum">
              <a:rPr lang="es-ES" smtClean="0"/>
              <a:t>44</a:t>
            </a:fld>
            <a:endParaRPr lang="es-ES"/>
          </a:p>
        </p:txBody>
      </p:sp>
    </p:spTree>
    <p:extLst>
      <p:ext uri="{BB962C8B-B14F-4D97-AF65-F5344CB8AC3E}">
        <p14:creationId xmlns:p14="http://schemas.microsoft.com/office/powerpoint/2010/main" val="28515954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1AB9-4BDD-09BC-4164-3818BB5251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E253C2-B7EC-E784-3CE3-0E2E3DAAF9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47ACA-2579-8486-9DFC-ABE57C786A68}"/>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5F4E5832-1E46-D155-477B-2822E45E922A}"/>
              </a:ext>
            </a:extLst>
          </p:cNvPr>
          <p:cNvSpPr>
            <a:spLocks noGrp="1"/>
          </p:cNvSpPr>
          <p:nvPr>
            <p:ph type="sldNum" sz="quarter" idx="5"/>
          </p:nvPr>
        </p:nvSpPr>
        <p:spPr/>
        <p:txBody>
          <a:bodyPr/>
          <a:lstStyle/>
          <a:p>
            <a:fld id="{C9993EAA-8FF6-4FA7-AB56-9BA614B179BC}" type="slidenum">
              <a:rPr lang="es-ES" smtClean="0"/>
              <a:t>45</a:t>
            </a:fld>
            <a:endParaRPr lang="es-ES"/>
          </a:p>
        </p:txBody>
      </p:sp>
    </p:spTree>
    <p:extLst>
      <p:ext uri="{BB962C8B-B14F-4D97-AF65-F5344CB8AC3E}">
        <p14:creationId xmlns:p14="http://schemas.microsoft.com/office/powerpoint/2010/main" val="33334834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80DC-C5A9-143E-7A0D-6E1FF93AD2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F39BAC-8095-D28C-9153-C5B1D95CBD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7E79045-E755-089C-3291-402D2845A2B1}"/>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B4A31F9E-7611-9522-120C-52D256CDDBB2}"/>
              </a:ext>
            </a:extLst>
          </p:cNvPr>
          <p:cNvSpPr>
            <a:spLocks noGrp="1"/>
          </p:cNvSpPr>
          <p:nvPr>
            <p:ph type="sldNum" sz="quarter" idx="5"/>
          </p:nvPr>
        </p:nvSpPr>
        <p:spPr/>
        <p:txBody>
          <a:bodyPr/>
          <a:lstStyle/>
          <a:p>
            <a:fld id="{C9993EAA-8FF6-4FA7-AB56-9BA614B179BC}" type="slidenum">
              <a:rPr lang="es-ES" smtClean="0"/>
              <a:t>46</a:t>
            </a:fld>
            <a:endParaRPr lang="es-ES"/>
          </a:p>
        </p:txBody>
      </p:sp>
    </p:spTree>
    <p:extLst>
      <p:ext uri="{BB962C8B-B14F-4D97-AF65-F5344CB8AC3E}">
        <p14:creationId xmlns:p14="http://schemas.microsoft.com/office/powerpoint/2010/main" val="8983137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24FA-375D-4C14-2E2D-9864F67521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2F7531-A8E6-EA33-7723-FA963B47B6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7A0881F-96B5-A09B-08A3-0135CAC9AD91}"/>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7D9C300B-83ED-793F-E42B-38C70AC792DB}"/>
              </a:ext>
            </a:extLst>
          </p:cNvPr>
          <p:cNvSpPr>
            <a:spLocks noGrp="1"/>
          </p:cNvSpPr>
          <p:nvPr>
            <p:ph type="sldNum" sz="quarter" idx="5"/>
          </p:nvPr>
        </p:nvSpPr>
        <p:spPr/>
        <p:txBody>
          <a:bodyPr/>
          <a:lstStyle/>
          <a:p>
            <a:fld id="{C9993EAA-8FF6-4FA7-AB56-9BA614B179BC}" type="slidenum">
              <a:rPr lang="es-ES" smtClean="0"/>
              <a:t>47</a:t>
            </a:fld>
            <a:endParaRPr lang="es-ES"/>
          </a:p>
        </p:txBody>
      </p:sp>
    </p:spTree>
    <p:extLst>
      <p:ext uri="{BB962C8B-B14F-4D97-AF65-F5344CB8AC3E}">
        <p14:creationId xmlns:p14="http://schemas.microsoft.com/office/powerpoint/2010/main" val="4537238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83E17-CC5D-6CF8-FB30-13C925B63A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D12075-F8C8-F17C-07B2-D5D0A82F1B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635AA33-FB11-73AB-D3DB-4D86F7BBD916}"/>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D59CEAC0-D1D7-2338-204C-9AAE1350950D}"/>
              </a:ext>
            </a:extLst>
          </p:cNvPr>
          <p:cNvSpPr>
            <a:spLocks noGrp="1"/>
          </p:cNvSpPr>
          <p:nvPr>
            <p:ph type="sldNum" sz="quarter" idx="5"/>
          </p:nvPr>
        </p:nvSpPr>
        <p:spPr/>
        <p:txBody>
          <a:bodyPr/>
          <a:lstStyle/>
          <a:p>
            <a:fld id="{C9993EAA-8FF6-4FA7-AB56-9BA614B179BC}" type="slidenum">
              <a:rPr lang="es-ES" smtClean="0"/>
              <a:t>48</a:t>
            </a:fld>
            <a:endParaRPr lang="es-ES"/>
          </a:p>
        </p:txBody>
      </p:sp>
    </p:spTree>
    <p:extLst>
      <p:ext uri="{BB962C8B-B14F-4D97-AF65-F5344CB8AC3E}">
        <p14:creationId xmlns:p14="http://schemas.microsoft.com/office/powerpoint/2010/main" val="40699345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D963-5566-F16A-E656-AFBD1F87C1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B4BEA0-045D-55C1-C4CF-2B48906D1A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B85943-E3E7-262E-FC3A-B61848556F1D}"/>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B6C6B83B-982E-0673-5AB8-A896D993E8A2}"/>
              </a:ext>
            </a:extLst>
          </p:cNvPr>
          <p:cNvSpPr>
            <a:spLocks noGrp="1"/>
          </p:cNvSpPr>
          <p:nvPr>
            <p:ph type="sldNum" sz="quarter" idx="5"/>
          </p:nvPr>
        </p:nvSpPr>
        <p:spPr/>
        <p:txBody>
          <a:bodyPr/>
          <a:lstStyle/>
          <a:p>
            <a:fld id="{C9993EAA-8FF6-4FA7-AB56-9BA614B179BC}" type="slidenum">
              <a:rPr lang="es-ES" smtClean="0"/>
              <a:t>49</a:t>
            </a:fld>
            <a:endParaRPr lang="es-ES"/>
          </a:p>
        </p:txBody>
      </p:sp>
    </p:spTree>
    <p:extLst>
      <p:ext uri="{BB962C8B-B14F-4D97-AF65-F5344CB8AC3E}">
        <p14:creationId xmlns:p14="http://schemas.microsoft.com/office/powerpoint/2010/main" val="21065845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E68FA-27DF-92E6-8242-519EC5BAA6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3C6378-984F-C3DD-4197-8F74BE16790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062421E-0F4D-CB0E-C45F-FCB936C4ECAD}"/>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C3A254A6-66D5-0708-205D-94AE724116AC}"/>
              </a:ext>
            </a:extLst>
          </p:cNvPr>
          <p:cNvSpPr>
            <a:spLocks noGrp="1"/>
          </p:cNvSpPr>
          <p:nvPr>
            <p:ph type="sldNum" sz="quarter" idx="5"/>
          </p:nvPr>
        </p:nvSpPr>
        <p:spPr/>
        <p:txBody>
          <a:bodyPr/>
          <a:lstStyle/>
          <a:p>
            <a:fld id="{C9993EAA-8FF6-4FA7-AB56-9BA614B179BC}" type="slidenum">
              <a:rPr lang="es-ES" smtClean="0"/>
              <a:t>50</a:t>
            </a:fld>
            <a:endParaRPr lang="es-ES"/>
          </a:p>
        </p:txBody>
      </p:sp>
    </p:spTree>
    <p:extLst>
      <p:ext uri="{BB962C8B-B14F-4D97-AF65-F5344CB8AC3E}">
        <p14:creationId xmlns:p14="http://schemas.microsoft.com/office/powerpoint/2010/main" val="29952005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B9F29-089F-848F-211D-C543152B02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622017-E4AC-B827-E5D1-9DBFDBD6FC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43A7BB7-4913-395B-0EE7-68AAE0214A4E}"/>
              </a:ext>
            </a:extLst>
          </p:cNvPr>
          <p:cNvSpPr>
            <a:spLocks noGrp="1"/>
          </p:cNvSpPr>
          <p:nvPr>
            <p:ph type="body" idx="1"/>
          </p:nvPr>
        </p:nvSpPr>
        <p:spPr/>
        <p:txBody>
          <a:bodyPr/>
          <a:lstStyle/>
          <a:p>
            <a:r>
              <a:rPr lang="es-ES" sz="1200" dirty="0">
                <a:solidFill>
                  <a:schemeClr val="tx1">
                    <a:lumMod val="75000"/>
                  </a:schemeClr>
                </a:solidFill>
                <a:latin typeface="Century Gothic"/>
                <a:ea typeface="+mn-lt"/>
                <a:cs typeface="+mn-lt"/>
              </a:rPr>
              <a:t>La ciberseguridad es una práctica cada vez más necesaria en un mundo cada vez más digitalizado y, por ende, más desprotegido ante los ataques informáticos, tanto internos como externos. Esto lo convierte en una actividad cada vez más atractiva para las organizaciones cibercriminales por los grandes beneficios que reporta.</a:t>
            </a:r>
          </a:p>
          <a:p>
            <a:endParaRPr lang="es-ES" sz="1200" dirty="0">
              <a:solidFill>
                <a:schemeClr val="tx1">
                  <a:lumMod val="75000"/>
                </a:schemeClr>
              </a:solidFill>
              <a:latin typeface="Century Gothic"/>
              <a:ea typeface="+mn-lt"/>
              <a:cs typeface="+mn-lt"/>
            </a:endParaRP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Ante este panorama donde casi todas las actividades se dan en la red, la ciberseguridad sirve para prevenir ataques informáticos, detectar vulnerabilidades y fisuras de seguridad, y establecer las pertinentes medidas de corrección y reparación.</a:t>
            </a:r>
          </a:p>
          <a:p>
            <a:endParaRPr lang="es-ES" sz="1200" dirty="0">
              <a:solidFill>
                <a:schemeClr val="tx1">
                  <a:lumMod val="75000"/>
                </a:schemeClr>
              </a:solidFill>
              <a:latin typeface="Century Gothic"/>
              <a:ea typeface="+mn-lt"/>
              <a:cs typeface="+mn-lt"/>
            </a:endParaRPr>
          </a:p>
          <a:p>
            <a:r>
              <a:rPr lang="es-ES" sz="1200" dirty="0">
                <a:solidFill>
                  <a:schemeClr val="tx1">
                    <a:lumMod val="75000"/>
                  </a:schemeClr>
                </a:solidFill>
                <a:latin typeface="Century Gothic"/>
                <a:ea typeface="+mn-lt"/>
                <a:cs typeface="+mn-lt"/>
              </a:rPr>
              <a:t>Por esto, aquellas empresas y entidades que apliquen medidas para hacerles frente de forma anticipada y detenerlas a tiempo o, establezcan acciones correctivas que aíslen y expulsen esa amenaza, generarán confianza en sus clientes, proveedores y en el mercado en general.</a:t>
            </a:r>
          </a:p>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EF6B1C3E-D9B3-9A0D-30AA-B74D97742281}"/>
              </a:ext>
            </a:extLst>
          </p:cNvPr>
          <p:cNvSpPr>
            <a:spLocks noGrp="1"/>
          </p:cNvSpPr>
          <p:nvPr>
            <p:ph type="sldNum" sz="quarter" idx="5"/>
          </p:nvPr>
        </p:nvSpPr>
        <p:spPr/>
        <p:txBody>
          <a:bodyPr/>
          <a:lstStyle/>
          <a:p>
            <a:fld id="{C9993EAA-8FF6-4FA7-AB56-9BA614B179BC}" type="slidenum">
              <a:rPr lang="es-ES" smtClean="0"/>
              <a:t>51</a:t>
            </a:fld>
            <a:endParaRPr lang="es-ES"/>
          </a:p>
        </p:txBody>
      </p:sp>
    </p:spTree>
    <p:extLst>
      <p:ext uri="{BB962C8B-B14F-4D97-AF65-F5344CB8AC3E}">
        <p14:creationId xmlns:p14="http://schemas.microsoft.com/office/powerpoint/2010/main" val="5461634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308CD-AAF7-C751-6BAD-775A01F291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405A0C-7025-4D77-48F2-C2985794A42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D98F50-D9B1-8AC1-ED01-231FEEB73A54}"/>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B6F39427-2C1D-96FA-81EA-593E3A63F1DB}"/>
              </a:ext>
            </a:extLst>
          </p:cNvPr>
          <p:cNvSpPr>
            <a:spLocks noGrp="1"/>
          </p:cNvSpPr>
          <p:nvPr>
            <p:ph type="sldNum" sz="quarter" idx="5"/>
          </p:nvPr>
        </p:nvSpPr>
        <p:spPr/>
        <p:txBody>
          <a:bodyPr/>
          <a:lstStyle/>
          <a:p>
            <a:fld id="{C9993EAA-8FF6-4FA7-AB56-9BA614B179BC}" type="slidenum">
              <a:rPr lang="es-ES" smtClean="0"/>
              <a:t>53</a:t>
            </a:fld>
            <a:endParaRPr lang="es-ES"/>
          </a:p>
        </p:txBody>
      </p:sp>
    </p:spTree>
    <p:extLst>
      <p:ext uri="{BB962C8B-B14F-4D97-AF65-F5344CB8AC3E}">
        <p14:creationId xmlns:p14="http://schemas.microsoft.com/office/powerpoint/2010/main" val="19723448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20372-5A3D-5452-E845-FBFFE1DACA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57619A-0055-6196-1B6D-4D20058DAE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B962B2-0A8C-55EB-195B-C614CAA866A7}"/>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BE4B297A-D0A8-4B7A-698B-6859D23517A2}"/>
              </a:ext>
            </a:extLst>
          </p:cNvPr>
          <p:cNvSpPr>
            <a:spLocks noGrp="1"/>
          </p:cNvSpPr>
          <p:nvPr>
            <p:ph type="sldNum" sz="quarter" idx="5"/>
          </p:nvPr>
        </p:nvSpPr>
        <p:spPr/>
        <p:txBody>
          <a:bodyPr/>
          <a:lstStyle/>
          <a:p>
            <a:fld id="{C9993EAA-8FF6-4FA7-AB56-9BA614B179BC}" type="slidenum">
              <a:rPr lang="es-ES" smtClean="0"/>
              <a:t>54</a:t>
            </a:fld>
            <a:endParaRPr lang="es-ES"/>
          </a:p>
        </p:txBody>
      </p:sp>
    </p:spTree>
    <p:extLst>
      <p:ext uri="{BB962C8B-B14F-4D97-AF65-F5344CB8AC3E}">
        <p14:creationId xmlns:p14="http://schemas.microsoft.com/office/powerpoint/2010/main" val="16010191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FD471-6B47-751B-C8C2-CF8AD38D84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7C09AF-E29C-B114-A2DF-287CECE22A5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EDF2ED-C45E-65F8-7587-9E6C630B4778}"/>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CA6E4C6A-6345-B9AA-D450-9252F8CECB99}"/>
              </a:ext>
            </a:extLst>
          </p:cNvPr>
          <p:cNvSpPr>
            <a:spLocks noGrp="1"/>
          </p:cNvSpPr>
          <p:nvPr>
            <p:ph type="sldNum" sz="quarter" idx="5"/>
          </p:nvPr>
        </p:nvSpPr>
        <p:spPr/>
        <p:txBody>
          <a:bodyPr/>
          <a:lstStyle/>
          <a:p>
            <a:fld id="{C9993EAA-8FF6-4FA7-AB56-9BA614B179BC}" type="slidenum">
              <a:rPr lang="es-ES" smtClean="0"/>
              <a:t>55</a:t>
            </a:fld>
            <a:endParaRPr lang="es-ES"/>
          </a:p>
        </p:txBody>
      </p:sp>
    </p:spTree>
    <p:extLst>
      <p:ext uri="{BB962C8B-B14F-4D97-AF65-F5344CB8AC3E}">
        <p14:creationId xmlns:p14="http://schemas.microsoft.com/office/powerpoint/2010/main" val="7154438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DABC9-7262-A500-53BD-32F39532AB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D74B1D8-824F-7F75-A907-12BA7EF694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608E3E-8822-3DF0-2683-6588F2DF0ACC}"/>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FFA9B249-D6AE-7421-9EE4-667611AF62AB}"/>
              </a:ext>
            </a:extLst>
          </p:cNvPr>
          <p:cNvSpPr>
            <a:spLocks noGrp="1"/>
          </p:cNvSpPr>
          <p:nvPr>
            <p:ph type="sldNum" sz="quarter" idx="5"/>
          </p:nvPr>
        </p:nvSpPr>
        <p:spPr/>
        <p:txBody>
          <a:bodyPr/>
          <a:lstStyle/>
          <a:p>
            <a:fld id="{C9993EAA-8FF6-4FA7-AB56-9BA614B179BC}" type="slidenum">
              <a:rPr lang="es-ES" smtClean="0"/>
              <a:t>56</a:t>
            </a:fld>
            <a:endParaRPr lang="es-ES"/>
          </a:p>
        </p:txBody>
      </p:sp>
    </p:spTree>
    <p:extLst>
      <p:ext uri="{BB962C8B-B14F-4D97-AF65-F5344CB8AC3E}">
        <p14:creationId xmlns:p14="http://schemas.microsoft.com/office/powerpoint/2010/main" val="10679620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00B79-C01E-A823-905F-FA7D4174D8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652403-6F60-B5F6-DBD8-8504A5F54B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4E34423-83F4-08C9-F721-6ECDA338ECAA}"/>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C35B6D68-5ACF-1B9C-A907-F341201B430E}"/>
              </a:ext>
            </a:extLst>
          </p:cNvPr>
          <p:cNvSpPr>
            <a:spLocks noGrp="1"/>
          </p:cNvSpPr>
          <p:nvPr>
            <p:ph type="sldNum" sz="quarter" idx="5"/>
          </p:nvPr>
        </p:nvSpPr>
        <p:spPr/>
        <p:txBody>
          <a:bodyPr/>
          <a:lstStyle/>
          <a:p>
            <a:fld id="{C9993EAA-8FF6-4FA7-AB56-9BA614B179BC}" type="slidenum">
              <a:rPr lang="es-ES" smtClean="0"/>
              <a:t>57</a:t>
            </a:fld>
            <a:endParaRPr lang="es-ES"/>
          </a:p>
        </p:txBody>
      </p:sp>
    </p:spTree>
    <p:extLst>
      <p:ext uri="{BB962C8B-B14F-4D97-AF65-F5344CB8AC3E}">
        <p14:creationId xmlns:p14="http://schemas.microsoft.com/office/powerpoint/2010/main" val="38011201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C5975-A0F4-D2AC-E548-6BEEADA64D9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971C42-0EF6-66F9-CB26-32428A2317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008CB50-611C-A46E-3BCA-5EE3E7B9053C}"/>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21C5127C-EDCD-E2DA-ADB5-B9ED1813D8D9}"/>
              </a:ext>
            </a:extLst>
          </p:cNvPr>
          <p:cNvSpPr>
            <a:spLocks noGrp="1"/>
          </p:cNvSpPr>
          <p:nvPr>
            <p:ph type="sldNum" sz="quarter" idx="5"/>
          </p:nvPr>
        </p:nvSpPr>
        <p:spPr/>
        <p:txBody>
          <a:bodyPr/>
          <a:lstStyle/>
          <a:p>
            <a:fld id="{C9993EAA-8FF6-4FA7-AB56-9BA614B179BC}" type="slidenum">
              <a:rPr lang="es-ES" smtClean="0"/>
              <a:t>58</a:t>
            </a:fld>
            <a:endParaRPr lang="es-ES"/>
          </a:p>
        </p:txBody>
      </p:sp>
    </p:spTree>
    <p:extLst>
      <p:ext uri="{BB962C8B-B14F-4D97-AF65-F5344CB8AC3E}">
        <p14:creationId xmlns:p14="http://schemas.microsoft.com/office/powerpoint/2010/main" val="31080953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C0CFB-6D84-8F33-D949-C9996C5F9F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D2267C-4F7B-6655-F6C6-459F590980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D0C133-E0E8-6D49-33E6-39BE28316BC2}"/>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A952E422-F68E-9D54-B18F-71C25C2A28BD}"/>
              </a:ext>
            </a:extLst>
          </p:cNvPr>
          <p:cNvSpPr>
            <a:spLocks noGrp="1"/>
          </p:cNvSpPr>
          <p:nvPr>
            <p:ph type="sldNum" sz="quarter" idx="5"/>
          </p:nvPr>
        </p:nvSpPr>
        <p:spPr/>
        <p:txBody>
          <a:bodyPr/>
          <a:lstStyle/>
          <a:p>
            <a:fld id="{C9993EAA-8FF6-4FA7-AB56-9BA614B179BC}" type="slidenum">
              <a:rPr lang="es-ES" smtClean="0"/>
              <a:t>59</a:t>
            </a:fld>
            <a:endParaRPr lang="es-ES"/>
          </a:p>
        </p:txBody>
      </p:sp>
    </p:spTree>
    <p:extLst>
      <p:ext uri="{BB962C8B-B14F-4D97-AF65-F5344CB8AC3E}">
        <p14:creationId xmlns:p14="http://schemas.microsoft.com/office/powerpoint/2010/main" val="24060798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2DADF-CFEA-BE3A-2EC9-28C42E282E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DE9A67-6F31-D539-CCF0-C633AD2FD0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EF7F8B-DDDC-6715-EDFB-CC81A7C44A55}"/>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1D634A57-7E74-5F10-1B43-60ED2E1D2906}"/>
              </a:ext>
            </a:extLst>
          </p:cNvPr>
          <p:cNvSpPr>
            <a:spLocks noGrp="1"/>
          </p:cNvSpPr>
          <p:nvPr>
            <p:ph type="sldNum" sz="quarter" idx="5"/>
          </p:nvPr>
        </p:nvSpPr>
        <p:spPr/>
        <p:txBody>
          <a:bodyPr/>
          <a:lstStyle/>
          <a:p>
            <a:fld id="{C9993EAA-8FF6-4FA7-AB56-9BA614B179BC}" type="slidenum">
              <a:rPr lang="es-ES" smtClean="0"/>
              <a:t>61</a:t>
            </a:fld>
            <a:endParaRPr lang="es-ES"/>
          </a:p>
        </p:txBody>
      </p:sp>
    </p:spTree>
    <p:extLst>
      <p:ext uri="{BB962C8B-B14F-4D97-AF65-F5344CB8AC3E}">
        <p14:creationId xmlns:p14="http://schemas.microsoft.com/office/powerpoint/2010/main" val="17101843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25E4B-D169-DA60-FDA7-E056F2F9C9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0E4508-831A-2878-E70E-092FD11D1E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E7521F1-F060-B3A3-1C11-E0EC862A5F8E}"/>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DD3B2539-BC66-E086-29D4-AC7FCDD082CB}"/>
              </a:ext>
            </a:extLst>
          </p:cNvPr>
          <p:cNvSpPr>
            <a:spLocks noGrp="1"/>
          </p:cNvSpPr>
          <p:nvPr>
            <p:ph type="sldNum" sz="quarter" idx="5"/>
          </p:nvPr>
        </p:nvSpPr>
        <p:spPr/>
        <p:txBody>
          <a:bodyPr/>
          <a:lstStyle/>
          <a:p>
            <a:fld id="{C9993EAA-8FF6-4FA7-AB56-9BA614B179BC}" type="slidenum">
              <a:rPr lang="es-ES" smtClean="0"/>
              <a:t>62</a:t>
            </a:fld>
            <a:endParaRPr lang="es-ES"/>
          </a:p>
        </p:txBody>
      </p:sp>
    </p:spTree>
    <p:extLst>
      <p:ext uri="{BB962C8B-B14F-4D97-AF65-F5344CB8AC3E}">
        <p14:creationId xmlns:p14="http://schemas.microsoft.com/office/powerpoint/2010/main" val="16225039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19B38-A19B-F987-3F9C-36317332D6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5688A0-15E6-1B28-1213-1F1E86B080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42B77D-8533-92B7-CB14-4615C63A1D38}"/>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6BDA7A21-684D-82FB-0700-73DFAB237D64}"/>
              </a:ext>
            </a:extLst>
          </p:cNvPr>
          <p:cNvSpPr>
            <a:spLocks noGrp="1"/>
          </p:cNvSpPr>
          <p:nvPr>
            <p:ph type="sldNum" sz="quarter" idx="5"/>
          </p:nvPr>
        </p:nvSpPr>
        <p:spPr/>
        <p:txBody>
          <a:bodyPr/>
          <a:lstStyle/>
          <a:p>
            <a:fld id="{C9993EAA-8FF6-4FA7-AB56-9BA614B179BC}" type="slidenum">
              <a:rPr lang="es-ES" smtClean="0"/>
              <a:t>63</a:t>
            </a:fld>
            <a:endParaRPr lang="es-ES"/>
          </a:p>
        </p:txBody>
      </p:sp>
    </p:spTree>
    <p:extLst>
      <p:ext uri="{BB962C8B-B14F-4D97-AF65-F5344CB8AC3E}">
        <p14:creationId xmlns:p14="http://schemas.microsoft.com/office/powerpoint/2010/main" val="11533995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F25AB-D162-8E72-A81A-0FF2A48CB7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21D874-0CDF-E156-C473-772F04216A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881F68-BBD8-AE8E-4056-B16F7866B8EB}"/>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C3ADAADB-BE4B-49E3-70FC-E3C795C7FF86}"/>
              </a:ext>
            </a:extLst>
          </p:cNvPr>
          <p:cNvSpPr>
            <a:spLocks noGrp="1"/>
          </p:cNvSpPr>
          <p:nvPr>
            <p:ph type="sldNum" sz="quarter" idx="5"/>
          </p:nvPr>
        </p:nvSpPr>
        <p:spPr/>
        <p:txBody>
          <a:bodyPr/>
          <a:lstStyle/>
          <a:p>
            <a:fld id="{C9993EAA-8FF6-4FA7-AB56-9BA614B179BC}" type="slidenum">
              <a:rPr lang="es-ES" smtClean="0"/>
              <a:t>64</a:t>
            </a:fld>
            <a:endParaRPr lang="es-ES"/>
          </a:p>
        </p:txBody>
      </p:sp>
    </p:spTree>
    <p:extLst>
      <p:ext uri="{BB962C8B-B14F-4D97-AF65-F5344CB8AC3E}">
        <p14:creationId xmlns:p14="http://schemas.microsoft.com/office/powerpoint/2010/main" val="33670981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CA70-BEDC-DFF0-6331-320AA9480D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137651-0CC9-097D-FB9B-4DCC815B99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F05602-E8AF-A6DF-BEF1-07842514CBDD}"/>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AFDF8DCA-D4AA-2F52-9B3E-99FB81C78EF9}"/>
              </a:ext>
            </a:extLst>
          </p:cNvPr>
          <p:cNvSpPr>
            <a:spLocks noGrp="1"/>
          </p:cNvSpPr>
          <p:nvPr>
            <p:ph type="sldNum" sz="quarter" idx="5"/>
          </p:nvPr>
        </p:nvSpPr>
        <p:spPr/>
        <p:txBody>
          <a:bodyPr/>
          <a:lstStyle/>
          <a:p>
            <a:fld id="{C9993EAA-8FF6-4FA7-AB56-9BA614B179BC}" type="slidenum">
              <a:rPr lang="es-ES" smtClean="0"/>
              <a:t>65</a:t>
            </a:fld>
            <a:endParaRPr lang="es-ES"/>
          </a:p>
        </p:txBody>
      </p:sp>
    </p:spTree>
    <p:extLst>
      <p:ext uri="{BB962C8B-B14F-4D97-AF65-F5344CB8AC3E}">
        <p14:creationId xmlns:p14="http://schemas.microsoft.com/office/powerpoint/2010/main" val="3876052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402DD-44AB-EF8E-437A-DF1EF6F43F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960807-F834-E3E7-36E3-212D3B4BFA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E5BC64-8648-19D7-A85A-47F3719D2FAC}"/>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DF558E9C-A037-C10C-88D3-18CAB4CFD788}"/>
              </a:ext>
            </a:extLst>
          </p:cNvPr>
          <p:cNvSpPr>
            <a:spLocks noGrp="1"/>
          </p:cNvSpPr>
          <p:nvPr>
            <p:ph type="sldNum" sz="quarter" idx="5"/>
          </p:nvPr>
        </p:nvSpPr>
        <p:spPr/>
        <p:txBody>
          <a:bodyPr/>
          <a:lstStyle/>
          <a:p>
            <a:fld id="{C9993EAA-8FF6-4FA7-AB56-9BA614B179BC}" type="slidenum">
              <a:rPr lang="es-ES" smtClean="0"/>
              <a:t>66</a:t>
            </a:fld>
            <a:endParaRPr lang="es-ES"/>
          </a:p>
        </p:txBody>
      </p:sp>
    </p:spTree>
    <p:extLst>
      <p:ext uri="{BB962C8B-B14F-4D97-AF65-F5344CB8AC3E}">
        <p14:creationId xmlns:p14="http://schemas.microsoft.com/office/powerpoint/2010/main" val="32294312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A2AE-5CF0-5A08-31E1-E90A870633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83409A-AEB2-E65A-E7D0-36335546BA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7B6120-3DBE-1817-E300-3F7552EE8B4E}"/>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E913754A-47E0-C257-57B9-9D803AC56A26}"/>
              </a:ext>
            </a:extLst>
          </p:cNvPr>
          <p:cNvSpPr>
            <a:spLocks noGrp="1"/>
          </p:cNvSpPr>
          <p:nvPr>
            <p:ph type="sldNum" sz="quarter" idx="5"/>
          </p:nvPr>
        </p:nvSpPr>
        <p:spPr/>
        <p:txBody>
          <a:bodyPr/>
          <a:lstStyle/>
          <a:p>
            <a:fld id="{C9993EAA-8FF6-4FA7-AB56-9BA614B179BC}" type="slidenum">
              <a:rPr lang="es-ES" smtClean="0"/>
              <a:t>67</a:t>
            </a:fld>
            <a:endParaRPr lang="es-ES"/>
          </a:p>
        </p:txBody>
      </p:sp>
    </p:spTree>
    <p:extLst>
      <p:ext uri="{BB962C8B-B14F-4D97-AF65-F5344CB8AC3E}">
        <p14:creationId xmlns:p14="http://schemas.microsoft.com/office/powerpoint/2010/main" val="32999037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4E7C6-A550-6964-7DB3-50E27A3567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DE395A-2311-0746-D6F2-877F4514658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D65D17E-7688-99CB-F949-FA9930B7A507}"/>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B26423E3-3B4B-790C-6543-37B382AD6F4F}"/>
              </a:ext>
            </a:extLst>
          </p:cNvPr>
          <p:cNvSpPr>
            <a:spLocks noGrp="1"/>
          </p:cNvSpPr>
          <p:nvPr>
            <p:ph type="sldNum" sz="quarter" idx="5"/>
          </p:nvPr>
        </p:nvSpPr>
        <p:spPr/>
        <p:txBody>
          <a:bodyPr/>
          <a:lstStyle/>
          <a:p>
            <a:fld id="{C9993EAA-8FF6-4FA7-AB56-9BA614B179BC}" type="slidenum">
              <a:rPr lang="es-ES" smtClean="0"/>
              <a:t>68</a:t>
            </a:fld>
            <a:endParaRPr lang="es-ES"/>
          </a:p>
        </p:txBody>
      </p:sp>
    </p:spTree>
    <p:extLst>
      <p:ext uri="{BB962C8B-B14F-4D97-AF65-F5344CB8AC3E}">
        <p14:creationId xmlns:p14="http://schemas.microsoft.com/office/powerpoint/2010/main" val="41261210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8226-F272-320A-3B4C-D96BE2D967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570D6E-2749-91F4-ADF5-87489F40EB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BAE4D2-4DD0-BF5F-4C06-C919484BA888}"/>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6207F6B7-9A5A-2C5D-8E3D-99FB768B3735}"/>
              </a:ext>
            </a:extLst>
          </p:cNvPr>
          <p:cNvSpPr>
            <a:spLocks noGrp="1"/>
          </p:cNvSpPr>
          <p:nvPr>
            <p:ph type="sldNum" sz="quarter" idx="5"/>
          </p:nvPr>
        </p:nvSpPr>
        <p:spPr/>
        <p:txBody>
          <a:bodyPr/>
          <a:lstStyle/>
          <a:p>
            <a:fld id="{C9993EAA-8FF6-4FA7-AB56-9BA614B179BC}" type="slidenum">
              <a:rPr lang="es-ES" smtClean="0"/>
              <a:t>69</a:t>
            </a:fld>
            <a:endParaRPr lang="es-ES"/>
          </a:p>
        </p:txBody>
      </p:sp>
    </p:spTree>
    <p:extLst>
      <p:ext uri="{BB962C8B-B14F-4D97-AF65-F5344CB8AC3E}">
        <p14:creationId xmlns:p14="http://schemas.microsoft.com/office/powerpoint/2010/main" val="403729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5186E-6AAA-D048-EB75-B16AD7EDEC1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14A92F-FA56-58F6-8CE6-CB3236654C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DCD2B1-6E1C-3147-1FE6-B3906926773C}"/>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E788F683-F3DE-4618-010E-65DCC6478B1A}"/>
              </a:ext>
            </a:extLst>
          </p:cNvPr>
          <p:cNvSpPr>
            <a:spLocks noGrp="1"/>
          </p:cNvSpPr>
          <p:nvPr>
            <p:ph type="sldNum" sz="quarter" idx="5"/>
          </p:nvPr>
        </p:nvSpPr>
        <p:spPr/>
        <p:txBody>
          <a:bodyPr/>
          <a:lstStyle/>
          <a:p>
            <a:fld id="{C9993EAA-8FF6-4FA7-AB56-9BA614B179BC}" type="slidenum">
              <a:rPr lang="es-ES" smtClean="0"/>
              <a:t>70</a:t>
            </a:fld>
            <a:endParaRPr lang="es-ES"/>
          </a:p>
        </p:txBody>
      </p:sp>
    </p:spTree>
    <p:extLst>
      <p:ext uri="{BB962C8B-B14F-4D97-AF65-F5344CB8AC3E}">
        <p14:creationId xmlns:p14="http://schemas.microsoft.com/office/powerpoint/2010/main" val="5768071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E4E12-0658-F4C5-A1E7-D83075DEBD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56F3F8-16A1-FDCE-B7BB-7BFF401C8F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780CFB-D7FC-8754-98BC-871B3C7FEB45}"/>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6D8E2ED1-46FF-2BCF-CCE9-D5294D80A013}"/>
              </a:ext>
            </a:extLst>
          </p:cNvPr>
          <p:cNvSpPr>
            <a:spLocks noGrp="1"/>
          </p:cNvSpPr>
          <p:nvPr>
            <p:ph type="sldNum" sz="quarter" idx="5"/>
          </p:nvPr>
        </p:nvSpPr>
        <p:spPr/>
        <p:txBody>
          <a:bodyPr/>
          <a:lstStyle/>
          <a:p>
            <a:fld id="{C9993EAA-8FF6-4FA7-AB56-9BA614B179BC}" type="slidenum">
              <a:rPr lang="es-ES" smtClean="0"/>
              <a:t>71</a:t>
            </a:fld>
            <a:endParaRPr lang="es-ES"/>
          </a:p>
        </p:txBody>
      </p:sp>
    </p:spTree>
    <p:extLst>
      <p:ext uri="{BB962C8B-B14F-4D97-AF65-F5344CB8AC3E}">
        <p14:creationId xmlns:p14="http://schemas.microsoft.com/office/powerpoint/2010/main" val="3068741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491C2-C9FF-C71B-C8C8-CE9A99FC39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094686-ED83-264B-5F5C-C57511DDF1A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1D4DEF-565F-9F5A-E5CF-D31E79E91155}"/>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2B0E1473-9C00-4D5D-2552-013562751531}"/>
              </a:ext>
            </a:extLst>
          </p:cNvPr>
          <p:cNvSpPr>
            <a:spLocks noGrp="1"/>
          </p:cNvSpPr>
          <p:nvPr>
            <p:ph type="sldNum" sz="quarter" idx="5"/>
          </p:nvPr>
        </p:nvSpPr>
        <p:spPr/>
        <p:txBody>
          <a:bodyPr/>
          <a:lstStyle/>
          <a:p>
            <a:fld id="{C9993EAA-8FF6-4FA7-AB56-9BA614B179BC}" type="slidenum">
              <a:rPr lang="es-ES" smtClean="0"/>
              <a:t>72</a:t>
            </a:fld>
            <a:endParaRPr lang="es-ES"/>
          </a:p>
        </p:txBody>
      </p:sp>
    </p:spTree>
    <p:extLst>
      <p:ext uri="{BB962C8B-B14F-4D97-AF65-F5344CB8AC3E}">
        <p14:creationId xmlns:p14="http://schemas.microsoft.com/office/powerpoint/2010/main" val="396838013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19EF4-7F41-FCD5-C8E8-E57732A4C4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F70506-543C-384C-60C5-41BEEF64EFD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05EC7C-F27B-96A3-23A5-0FEFB07CA569}"/>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5102EF5A-A202-B6B1-0841-572F651F8BFA}"/>
              </a:ext>
            </a:extLst>
          </p:cNvPr>
          <p:cNvSpPr>
            <a:spLocks noGrp="1"/>
          </p:cNvSpPr>
          <p:nvPr>
            <p:ph type="sldNum" sz="quarter" idx="5"/>
          </p:nvPr>
        </p:nvSpPr>
        <p:spPr/>
        <p:txBody>
          <a:bodyPr/>
          <a:lstStyle/>
          <a:p>
            <a:fld id="{C9993EAA-8FF6-4FA7-AB56-9BA614B179BC}" type="slidenum">
              <a:rPr lang="es-ES" smtClean="0"/>
              <a:t>73</a:t>
            </a:fld>
            <a:endParaRPr lang="es-ES"/>
          </a:p>
        </p:txBody>
      </p:sp>
    </p:spTree>
    <p:extLst>
      <p:ext uri="{BB962C8B-B14F-4D97-AF65-F5344CB8AC3E}">
        <p14:creationId xmlns:p14="http://schemas.microsoft.com/office/powerpoint/2010/main" val="321732830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9E0BE-A988-A85E-FA78-FEBDC28244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7A5904-F051-FCF0-7610-ED888BAB21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2FF53C8-A7AF-9EFC-FCEC-C25F117CE8A6}"/>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742997DA-9956-2E77-08A7-51A5A94978AF}"/>
              </a:ext>
            </a:extLst>
          </p:cNvPr>
          <p:cNvSpPr>
            <a:spLocks noGrp="1"/>
          </p:cNvSpPr>
          <p:nvPr>
            <p:ph type="sldNum" sz="quarter" idx="5"/>
          </p:nvPr>
        </p:nvSpPr>
        <p:spPr/>
        <p:txBody>
          <a:bodyPr/>
          <a:lstStyle/>
          <a:p>
            <a:fld id="{C9993EAA-8FF6-4FA7-AB56-9BA614B179BC}" type="slidenum">
              <a:rPr lang="es-ES" smtClean="0"/>
              <a:t>74</a:t>
            </a:fld>
            <a:endParaRPr lang="es-ES"/>
          </a:p>
        </p:txBody>
      </p:sp>
    </p:spTree>
    <p:extLst>
      <p:ext uri="{BB962C8B-B14F-4D97-AF65-F5344CB8AC3E}">
        <p14:creationId xmlns:p14="http://schemas.microsoft.com/office/powerpoint/2010/main" val="41609847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7F4AD-C01F-8C78-ACCE-7E6B34B0F5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B94782-1958-C910-80EC-5C6F2334BB3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F4540D-231E-96AB-C62F-B583DEA8233A}"/>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A093E571-2A3C-AE43-6ADA-9213E57148C8}"/>
              </a:ext>
            </a:extLst>
          </p:cNvPr>
          <p:cNvSpPr>
            <a:spLocks noGrp="1"/>
          </p:cNvSpPr>
          <p:nvPr>
            <p:ph type="sldNum" sz="quarter" idx="5"/>
          </p:nvPr>
        </p:nvSpPr>
        <p:spPr/>
        <p:txBody>
          <a:bodyPr/>
          <a:lstStyle/>
          <a:p>
            <a:fld id="{C9993EAA-8FF6-4FA7-AB56-9BA614B179BC}" type="slidenum">
              <a:rPr lang="es-ES" smtClean="0"/>
              <a:t>75</a:t>
            </a:fld>
            <a:endParaRPr lang="es-ES"/>
          </a:p>
        </p:txBody>
      </p:sp>
    </p:spTree>
    <p:extLst>
      <p:ext uri="{BB962C8B-B14F-4D97-AF65-F5344CB8AC3E}">
        <p14:creationId xmlns:p14="http://schemas.microsoft.com/office/powerpoint/2010/main" val="65541107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0ED72-8801-B053-525C-838888E723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D5DBAF-0647-FA22-084C-CDF5267BA6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13F8094-6DF6-58AF-B590-D47D6DAA85B5}"/>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C9A772FB-24D6-AC01-371D-25C510D4D628}"/>
              </a:ext>
            </a:extLst>
          </p:cNvPr>
          <p:cNvSpPr>
            <a:spLocks noGrp="1"/>
          </p:cNvSpPr>
          <p:nvPr>
            <p:ph type="sldNum" sz="quarter" idx="5"/>
          </p:nvPr>
        </p:nvSpPr>
        <p:spPr/>
        <p:txBody>
          <a:bodyPr/>
          <a:lstStyle/>
          <a:p>
            <a:fld id="{C9993EAA-8FF6-4FA7-AB56-9BA614B179BC}" type="slidenum">
              <a:rPr lang="es-ES" smtClean="0"/>
              <a:t>76</a:t>
            </a:fld>
            <a:endParaRPr lang="es-ES"/>
          </a:p>
        </p:txBody>
      </p:sp>
    </p:spTree>
    <p:extLst>
      <p:ext uri="{BB962C8B-B14F-4D97-AF65-F5344CB8AC3E}">
        <p14:creationId xmlns:p14="http://schemas.microsoft.com/office/powerpoint/2010/main" val="111316328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074AA-C965-5476-C8A6-C15A819D58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93D4BF-20DA-D955-4A6D-D9388FDFAD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433CE0-2CBB-51F8-2EED-C31A19BD8CEB}"/>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1D646B5D-368F-72BD-9AAF-7A1B51061BCD}"/>
              </a:ext>
            </a:extLst>
          </p:cNvPr>
          <p:cNvSpPr>
            <a:spLocks noGrp="1"/>
          </p:cNvSpPr>
          <p:nvPr>
            <p:ph type="sldNum" sz="quarter" idx="5"/>
          </p:nvPr>
        </p:nvSpPr>
        <p:spPr/>
        <p:txBody>
          <a:bodyPr/>
          <a:lstStyle/>
          <a:p>
            <a:fld id="{C9993EAA-8FF6-4FA7-AB56-9BA614B179BC}" type="slidenum">
              <a:rPr lang="es-ES" smtClean="0"/>
              <a:t>77</a:t>
            </a:fld>
            <a:endParaRPr lang="es-ES"/>
          </a:p>
        </p:txBody>
      </p:sp>
    </p:spTree>
    <p:extLst>
      <p:ext uri="{BB962C8B-B14F-4D97-AF65-F5344CB8AC3E}">
        <p14:creationId xmlns:p14="http://schemas.microsoft.com/office/powerpoint/2010/main" val="235850353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94893-1758-B504-D57D-E334AED013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CF5425-31E7-D14B-974C-86893F90C9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D0811BF-192D-0F0D-3AEA-6211C2F78F94}"/>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F0817AE8-D8BB-067A-00B8-781C641390E1}"/>
              </a:ext>
            </a:extLst>
          </p:cNvPr>
          <p:cNvSpPr>
            <a:spLocks noGrp="1"/>
          </p:cNvSpPr>
          <p:nvPr>
            <p:ph type="sldNum" sz="quarter" idx="5"/>
          </p:nvPr>
        </p:nvSpPr>
        <p:spPr/>
        <p:txBody>
          <a:bodyPr/>
          <a:lstStyle/>
          <a:p>
            <a:fld id="{C9993EAA-8FF6-4FA7-AB56-9BA614B179BC}" type="slidenum">
              <a:rPr lang="es-ES" smtClean="0"/>
              <a:t>78</a:t>
            </a:fld>
            <a:endParaRPr lang="es-ES"/>
          </a:p>
        </p:txBody>
      </p:sp>
    </p:spTree>
    <p:extLst>
      <p:ext uri="{BB962C8B-B14F-4D97-AF65-F5344CB8AC3E}">
        <p14:creationId xmlns:p14="http://schemas.microsoft.com/office/powerpoint/2010/main" val="11180591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C1614-7D44-4737-97F6-37611EDDA3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A08754-A678-EFA5-3C76-AC9869AE87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C95FC0-E93C-7E0E-D9EF-D20C35793169}"/>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77DF7A7B-D7B5-3013-E618-A249C23E4F60}"/>
              </a:ext>
            </a:extLst>
          </p:cNvPr>
          <p:cNvSpPr>
            <a:spLocks noGrp="1"/>
          </p:cNvSpPr>
          <p:nvPr>
            <p:ph type="sldNum" sz="quarter" idx="5"/>
          </p:nvPr>
        </p:nvSpPr>
        <p:spPr/>
        <p:txBody>
          <a:bodyPr/>
          <a:lstStyle/>
          <a:p>
            <a:fld id="{C9993EAA-8FF6-4FA7-AB56-9BA614B179BC}" type="slidenum">
              <a:rPr lang="es-ES" smtClean="0"/>
              <a:t>79</a:t>
            </a:fld>
            <a:endParaRPr lang="es-ES"/>
          </a:p>
        </p:txBody>
      </p:sp>
    </p:spTree>
    <p:extLst>
      <p:ext uri="{BB962C8B-B14F-4D97-AF65-F5344CB8AC3E}">
        <p14:creationId xmlns:p14="http://schemas.microsoft.com/office/powerpoint/2010/main" val="133418455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EFA68-6607-C257-55B8-7C8097C4FD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F80560-0FA6-1376-3E43-EFC6D9743DF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21E676-A360-27E2-660D-BA3B90A74896}"/>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8FE39966-DBFC-A65E-0941-FCA6848163FF}"/>
              </a:ext>
            </a:extLst>
          </p:cNvPr>
          <p:cNvSpPr>
            <a:spLocks noGrp="1"/>
          </p:cNvSpPr>
          <p:nvPr>
            <p:ph type="sldNum" sz="quarter" idx="5"/>
          </p:nvPr>
        </p:nvSpPr>
        <p:spPr/>
        <p:txBody>
          <a:bodyPr/>
          <a:lstStyle/>
          <a:p>
            <a:fld id="{C9993EAA-8FF6-4FA7-AB56-9BA614B179BC}" type="slidenum">
              <a:rPr lang="es-ES" smtClean="0"/>
              <a:t>80</a:t>
            </a:fld>
            <a:endParaRPr lang="es-ES"/>
          </a:p>
        </p:txBody>
      </p:sp>
    </p:spTree>
    <p:extLst>
      <p:ext uri="{BB962C8B-B14F-4D97-AF65-F5344CB8AC3E}">
        <p14:creationId xmlns:p14="http://schemas.microsoft.com/office/powerpoint/2010/main" val="227124853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EDDFE-F82B-24DE-B902-123C1EE4F8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C1DF46-C70E-39BE-FADA-4B41DEEF62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E9F015-602C-1C31-9C37-7FDF661228CE}"/>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92AE044A-728A-81BA-ED50-0B562502F672}"/>
              </a:ext>
            </a:extLst>
          </p:cNvPr>
          <p:cNvSpPr>
            <a:spLocks noGrp="1"/>
          </p:cNvSpPr>
          <p:nvPr>
            <p:ph type="sldNum" sz="quarter" idx="5"/>
          </p:nvPr>
        </p:nvSpPr>
        <p:spPr/>
        <p:txBody>
          <a:bodyPr/>
          <a:lstStyle/>
          <a:p>
            <a:fld id="{C9993EAA-8FF6-4FA7-AB56-9BA614B179BC}" type="slidenum">
              <a:rPr lang="es-ES" smtClean="0"/>
              <a:t>81</a:t>
            </a:fld>
            <a:endParaRPr lang="es-ES"/>
          </a:p>
        </p:txBody>
      </p:sp>
    </p:spTree>
    <p:extLst>
      <p:ext uri="{BB962C8B-B14F-4D97-AF65-F5344CB8AC3E}">
        <p14:creationId xmlns:p14="http://schemas.microsoft.com/office/powerpoint/2010/main" val="135766378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3ADFA-43FC-859C-F351-49E12A12A9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316D82-E590-8CCC-BC99-D22CDE0A78E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B92F83-5B2F-17ED-CA61-BE17EBC75AEF}"/>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F00F0F7D-CAD9-2B54-9DD7-D92969804707}"/>
              </a:ext>
            </a:extLst>
          </p:cNvPr>
          <p:cNvSpPr>
            <a:spLocks noGrp="1"/>
          </p:cNvSpPr>
          <p:nvPr>
            <p:ph type="sldNum" sz="quarter" idx="5"/>
          </p:nvPr>
        </p:nvSpPr>
        <p:spPr/>
        <p:txBody>
          <a:bodyPr/>
          <a:lstStyle/>
          <a:p>
            <a:fld id="{C9993EAA-8FF6-4FA7-AB56-9BA614B179BC}" type="slidenum">
              <a:rPr lang="es-ES" smtClean="0"/>
              <a:t>82</a:t>
            </a:fld>
            <a:endParaRPr lang="es-ES"/>
          </a:p>
        </p:txBody>
      </p:sp>
    </p:spTree>
    <p:extLst>
      <p:ext uri="{BB962C8B-B14F-4D97-AF65-F5344CB8AC3E}">
        <p14:creationId xmlns:p14="http://schemas.microsoft.com/office/powerpoint/2010/main" val="256666350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AFC62-14CE-3782-BEEC-627A453212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B29F8D-A67C-C35C-C908-053B998C98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1D8291-EC76-872D-1EBA-AA6032CB5D50}"/>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132D3DAF-EA92-8066-015B-C9F859B706E5}"/>
              </a:ext>
            </a:extLst>
          </p:cNvPr>
          <p:cNvSpPr>
            <a:spLocks noGrp="1"/>
          </p:cNvSpPr>
          <p:nvPr>
            <p:ph type="sldNum" sz="quarter" idx="5"/>
          </p:nvPr>
        </p:nvSpPr>
        <p:spPr/>
        <p:txBody>
          <a:bodyPr/>
          <a:lstStyle/>
          <a:p>
            <a:fld id="{C9993EAA-8FF6-4FA7-AB56-9BA614B179BC}" type="slidenum">
              <a:rPr lang="es-ES" smtClean="0"/>
              <a:t>83</a:t>
            </a:fld>
            <a:endParaRPr lang="es-ES"/>
          </a:p>
        </p:txBody>
      </p:sp>
    </p:spTree>
    <p:extLst>
      <p:ext uri="{BB962C8B-B14F-4D97-AF65-F5344CB8AC3E}">
        <p14:creationId xmlns:p14="http://schemas.microsoft.com/office/powerpoint/2010/main" val="218965328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A0398-AD13-F9E8-2DB7-E778CC32BB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93BF7E9-5C87-3511-7B38-67F2025C3B4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87F376-79F6-F921-AF63-439A88596372}"/>
              </a:ext>
            </a:extLst>
          </p:cNvPr>
          <p:cNvSpPr>
            <a:spLocks noGrp="1"/>
          </p:cNvSpPr>
          <p:nvPr>
            <p:ph type="body" idx="1"/>
          </p:nvPr>
        </p:nvSpPr>
        <p:spPr/>
        <p:txBody>
          <a:bodyPr/>
          <a:lstStyle/>
          <a:p>
            <a:endParaRPr lang="es-ES" sz="1200" dirty="0">
              <a:solidFill>
                <a:schemeClr val="tx1">
                  <a:lumMod val="75000"/>
                </a:schemeClr>
              </a:solidFill>
              <a:latin typeface="Century Gothic"/>
              <a:ea typeface="+mn-lt"/>
              <a:cs typeface="+mn-lt"/>
            </a:endParaRPr>
          </a:p>
        </p:txBody>
      </p:sp>
      <p:sp>
        <p:nvSpPr>
          <p:cNvPr id="4" name="Marcador de número de diapositiva 3">
            <a:extLst>
              <a:ext uri="{FF2B5EF4-FFF2-40B4-BE49-F238E27FC236}">
                <a16:creationId xmlns:a16="http://schemas.microsoft.com/office/drawing/2014/main" id="{8EE64D2A-7267-2020-D645-2C153F7CDC55}"/>
              </a:ext>
            </a:extLst>
          </p:cNvPr>
          <p:cNvSpPr>
            <a:spLocks noGrp="1"/>
          </p:cNvSpPr>
          <p:nvPr>
            <p:ph type="sldNum" sz="quarter" idx="5"/>
          </p:nvPr>
        </p:nvSpPr>
        <p:spPr/>
        <p:txBody>
          <a:bodyPr/>
          <a:lstStyle/>
          <a:p>
            <a:fld id="{C9993EAA-8FF6-4FA7-AB56-9BA614B179BC}" type="slidenum">
              <a:rPr lang="es-ES" smtClean="0"/>
              <a:t>85</a:t>
            </a:fld>
            <a:endParaRPr lang="es-ES"/>
          </a:p>
        </p:txBody>
      </p:sp>
    </p:spTree>
    <p:extLst>
      <p:ext uri="{BB962C8B-B14F-4D97-AF65-F5344CB8AC3E}">
        <p14:creationId xmlns:p14="http://schemas.microsoft.com/office/powerpoint/2010/main" val="13451555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26A46-C69D-1FB3-AFA3-EA62C781BF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0199D-2329-7E5E-F172-6F1609F10D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640DA9C-20B7-D2C7-4020-68DCEE683803}"/>
              </a:ext>
            </a:extLst>
          </p:cNvPr>
          <p:cNvSpPr>
            <a:spLocks noGrp="1"/>
          </p:cNvSpPr>
          <p:nvPr>
            <p:ph type="body" idx="1"/>
          </p:nvPr>
        </p:nvSpPr>
        <p:spPr/>
        <p:txBody>
          <a:bodyPr/>
          <a:lstStyle/>
          <a:p>
            <a:endParaRPr lang="es-ES"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47CA1677-44BC-16A9-B7CD-59B2E2234A1A}"/>
              </a:ext>
            </a:extLst>
          </p:cNvPr>
          <p:cNvSpPr>
            <a:spLocks noGrp="1"/>
          </p:cNvSpPr>
          <p:nvPr>
            <p:ph type="sldNum" sz="quarter" idx="5"/>
          </p:nvPr>
        </p:nvSpPr>
        <p:spPr/>
        <p:txBody>
          <a:bodyPr/>
          <a:lstStyle/>
          <a:p>
            <a:fld id="{C9993EAA-8FF6-4FA7-AB56-9BA614B179BC}" type="slidenum">
              <a:rPr lang="es-ES" smtClean="0"/>
              <a:t>86</a:t>
            </a:fld>
            <a:endParaRPr lang="es-ES"/>
          </a:p>
        </p:txBody>
      </p:sp>
    </p:spTree>
    <p:extLst>
      <p:ext uri="{BB962C8B-B14F-4D97-AF65-F5344CB8AC3E}">
        <p14:creationId xmlns:p14="http://schemas.microsoft.com/office/powerpoint/2010/main" val="1438562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6687C5-6F10-AC62-7363-202AD3E0374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06445F97-561C-DC3F-67F2-5020B2952F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6DE3FE6-7D3B-2102-CBFC-0BB7699D9D67}"/>
              </a:ext>
            </a:extLst>
          </p:cNvPr>
          <p:cNvSpPr>
            <a:spLocks noGrp="1"/>
          </p:cNvSpPr>
          <p:nvPr>
            <p:ph type="dt" sz="half" idx="10"/>
          </p:nvPr>
        </p:nvSpPr>
        <p:spPr/>
        <p:txBody>
          <a:bodyPr/>
          <a:lstStyle/>
          <a:p>
            <a:fld id="{3997C5E7-B0D6-4631-B436-561D1A082A6F}" type="datetime1">
              <a:rPr lang="es-ES" smtClean="0"/>
              <a:t>16/03/2026</a:t>
            </a:fld>
            <a:endParaRPr lang="es-ES"/>
          </a:p>
        </p:txBody>
      </p:sp>
      <p:sp>
        <p:nvSpPr>
          <p:cNvPr id="5" name="Marcador de pie de página 4">
            <a:extLst>
              <a:ext uri="{FF2B5EF4-FFF2-40B4-BE49-F238E27FC236}">
                <a16:creationId xmlns:a16="http://schemas.microsoft.com/office/drawing/2014/main" id="{7788FAF0-2761-7D84-1133-35BC7D056E1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D970DCA-8820-5F2C-4D9E-C042CED8F482}"/>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2017236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26EFF-7BDA-B076-1013-1049DBFAD34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ED9F30F-3EA7-7F17-CDC4-0B19773590D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E569712-B8DA-B7E1-25B8-5A4409C8B049}"/>
              </a:ext>
            </a:extLst>
          </p:cNvPr>
          <p:cNvSpPr>
            <a:spLocks noGrp="1"/>
          </p:cNvSpPr>
          <p:nvPr>
            <p:ph type="dt" sz="half" idx="10"/>
          </p:nvPr>
        </p:nvSpPr>
        <p:spPr/>
        <p:txBody>
          <a:bodyPr/>
          <a:lstStyle/>
          <a:p>
            <a:fld id="{427CA665-592D-429B-965F-17331B632D48}" type="datetime1">
              <a:rPr lang="es-ES" smtClean="0"/>
              <a:t>16/03/2026</a:t>
            </a:fld>
            <a:endParaRPr lang="es-ES"/>
          </a:p>
        </p:txBody>
      </p:sp>
      <p:sp>
        <p:nvSpPr>
          <p:cNvPr id="5" name="Marcador de pie de página 4">
            <a:extLst>
              <a:ext uri="{FF2B5EF4-FFF2-40B4-BE49-F238E27FC236}">
                <a16:creationId xmlns:a16="http://schemas.microsoft.com/office/drawing/2014/main" id="{1E017EB5-E42F-0B62-73ED-081691E1830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D25BAD3-0D17-9CD3-7AD7-27BB98EF9719}"/>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1701801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C3DEB-A7D9-9401-7D86-F0D5A032B20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F6F9F250-DA92-905A-3AB6-4C4B2AFA67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B5BDFEF-C11C-B4C2-7DDF-FF482E35AAAE}"/>
              </a:ext>
            </a:extLst>
          </p:cNvPr>
          <p:cNvSpPr>
            <a:spLocks noGrp="1"/>
          </p:cNvSpPr>
          <p:nvPr>
            <p:ph type="dt" sz="half" idx="10"/>
          </p:nvPr>
        </p:nvSpPr>
        <p:spPr/>
        <p:txBody>
          <a:bodyPr/>
          <a:lstStyle/>
          <a:p>
            <a:fld id="{628F4228-7A84-4BA3-B18D-A19FA4ACCCDF}" type="datetime1">
              <a:rPr lang="es-ES" smtClean="0"/>
              <a:t>16/03/2026</a:t>
            </a:fld>
            <a:endParaRPr lang="es-ES"/>
          </a:p>
        </p:txBody>
      </p:sp>
      <p:sp>
        <p:nvSpPr>
          <p:cNvPr id="5" name="Marcador de pie de página 4">
            <a:extLst>
              <a:ext uri="{FF2B5EF4-FFF2-40B4-BE49-F238E27FC236}">
                <a16:creationId xmlns:a16="http://schemas.microsoft.com/office/drawing/2014/main" id="{D7E498D5-E678-68E9-E6CB-515F4A21FAF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70F56AD-E88D-6154-BADB-CC3353F5D463}"/>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692268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467BD3-2106-74B4-A65C-1FFA5616F05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70FC462-3D44-DEDC-A3FA-4BDC5BAE0A9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3E1CB3E3-2F0C-7211-087B-19C48F2E355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ED11BF3-F9A1-4F42-507C-05D3E171C438}"/>
              </a:ext>
            </a:extLst>
          </p:cNvPr>
          <p:cNvSpPr>
            <a:spLocks noGrp="1"/>
          </p:cNvSpPr>
          <p:nvPr>
            <p:ph type="dt" sz="half" idx="10"/>
          </p:nvPr>
        </p:nvSpPr>
        <p:spPr/>
        <p:txBody>
          <a:bodyPr/>
          <a:lstStyle/>
          <a:p>
            <a:fld id="{19F38A27-63FE-47AF-93C4-EF0AE36148BF}" type="datetime1">
              <a:rPr lang="es-ES" smtClean="0"/>
              <a:t>16/03/2026</a:t>
            </a:fld>
            <a:endParaRPr lang="es-ES"/>
          </a:p>
        </p:txBody>
      </p:sp>
      <p:sp>
        <p:nvSpPr>
          <p:cNvPr id="6" name="Marcador de pie de página 5">
            <a:extLst>
              <a:ext uri="{FF2B5EF4-FFF2-40B4-BE49-F238E27FC236}">
                <a16:creationId xmlns:a16="http://schemas.microsoft.com/office/drawing/2014/main" id="{2E778AD8-4215-6060-D9A3-6186BD80D1E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2B595F5-E64F-7F22-B79D-8397E63CAE76}"/>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528376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4D22D2-8B64-5477-D32F-ED1C94FC9CBC}"/>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C3828F4-0BBF-A19E-C49E-610E445B92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B059DFF-5EC6-28F9-B597-8576CF0259B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CCD8A8B-721F-98EC-234C-5D7932FAC1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B43BA3-8395-7EF2-F177-45557FC2B48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71E3E7E1-1F23-9544-8975-97F12AB44E96}"/>
              </a:ext>
            </a:extLst>
          </p:cNvPr>
          <p:cNvSpPr>
            <a:spLocks noGrp="1"/>
          </p:cNvSpPr>
          <p:nvPr>
            <p:ph type="dt" sz="half" idx="10"/>
          </p:nvPr>
        </p:nvSpPr>
        <p:spPr/>
        <p:txBody>
          <a:bodyPr/>
          <a:lstStyle/>
          <a:p>
            <a:fld id="{835AA1A6-79F5-493A-8F8C-5D580F33410D}" type="datetime1">
              <a:rPr lang="es-ES" smtClean="0"/>
              <a:t>16/03/2026</a:t>
            </a:fld>
            <a:endParaRPr lang="es-ES"/>
          </a:p>
        </p:txBody>
      </p:sp>
      <p:sp>
        <p:nvSpPr>
          <p:cNvPr id="8" name="Marcador de pie de página 7">
            <a:extLst>
              <a:ext uri="{FF2B5EF4-FFF2-40B4-BE49-F238E27FC236}">
                <a16:creationId xmlns:a16="http://schemas.microsoft.com/office/drawing/2014/main" id="{4DB38121-201C-8CF1-24FB-EAE1E89785F6}"/>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CFFFDF81-BE86-6368-2D27-92CB0084209C}"/>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1986630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9437B7-627E-4A86-A110-2FD1B2AC86C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AC5DD9FE-4131-5FE1-FE66-9AB8886CCA61}"/>
              </a:ext>
            </a:extLst>
          </p:cNvPr>
          <p:cNvSpPr>
            <a:spLocks noGrp="1"/>
          </p:cNvSpPr>
          <p:nvPr>
            <p:ph type="dt" sz="half" idx="10"/>
          </p:nvPr>
        </p:nvSpPr>
        <p:spPr/>
        <p:txBody>
          <a:bodyPr/>
          <a:lstStyle/>
          <a:p>
            <a:fld id="{ECA858B1-9E4F-406E-9528-3BBA7ED38696}" type="datetime1">
              <a:rPr lang="es-ES" smtClean="0"/>
              <a:t>16/03/2026</a:t>
            </a:fld>
            <a:endParaRPr lang="es-ES"/>
          </a:p>
        </p:txBody>
      </p:sp>
      <p:sp>
        <p:nvSpPr>
          <p:cNvPr id="4" name="Marcador de pie de página 3">
            <a:extLst>
              <a:ext uri="{FF2B5EF4-FFF2-40B4-BE49-F238E27FC236}">
                <a16:creationId xmlns:a16="http://schemas.microsoft.com/office/drawing/2014/main" id="{AF03244B-CC88-1D05-595C-64B56EA85F1E}"/>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BDB800F7-18E7-763C-7AC3-5A3C4273C04B}"/>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2292755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5A6A197-2F4D-0404-0A9A-16384EFE8703}"/>
              </a:ext>
            </a:extLst>
          </p:cNvPr>
          <p:cNvSpPr>
            <a:spLocks noGrp="1"/>
          </p:cNvSpPr>
          <p:nvPr>
            <p:ph type="dt" sz="half" idx="10"/>
          </p:nvPr>
        </p:nvSpPr>
        <p:spPr/>
        <p:txBody>
          <a:bodyPr/>
          <a:lstStyle/>
          <a:p>
            <a:fld id="{D9B1ED9A-933A-4A68-9302-AD7FCBAB26A2}" type="datetime1">
              <a:rPr lang="es-ES" smtClean="0"/>
              <a:t>16/03/2026</a:t>
            </a:fld>
            <a:endParaRPr lang="es-ES"/>
          </a:p>
        </p:txBody>
      </p:sp>
      <p:sp>
        <p:nvSpPr>
          <p:cNvPr id="3" name="Marcador de pie de página 2">
            <a:extLst>
              <a:ext uri="{FF2B5EF4-FFF2-40B4-BE49-F238E27FC236}">
                <a16:creationId xmlns:a16="http://schemas.microsoft.com/office/drawing/2014/main" id="{41B34A40-ED78-1247-8AF7-36D6D5FD93E0}"/>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4A88F50-F300-2700-3214-D0CB50EDA36A}"/>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2515039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8175A1-22D5-0358-00BA-56D49902030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E55F4B2-03E9-B598-5927-17F2A2B7A6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2B374E06-EEA4-4D8F-6B48-06513BDB0B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13ABC62-2408-6E25-6EE7-A2AA738FD737}"/>
              </a:ext>
            </a:extLst>
          </p:cNvPr>
          <p:cNvSpPr>
            <a:spLocks noGrp="1"/>
          </p:cNvSpPr>
          <p:nvPr>
            <p:ph type="dt" sz="half" idx="10"/>
          </p:nvPr>
        </p:nvSpPr>
        <p:spPr/>
        <p:txBody>
          <a:bodyPr/>
          <a:lstStyle/>
          <a:p>
            <a:fld id="{2A52966B-8DAA-469C-A3BE-AAB90B059DAD}" type="datetime1">
              <a:rPr lang="es-ES" smtClean="0"/>
              <a:t>16/03/2026</a:t>
            </a:fld>
            <a:endParaRPr lang="es-ES"/>
          </a:p>
        </p:txBody>
      </p:sp>
      <p:sp>
        <p:nvSpPr>
          <p:cNvPr id="6" name="Marcador de pie de página 5">
            <a:extLst>
              <a:ext uri="{FF2B5EF4-FFF2-40B4-BE49-F238E27FC236}">
                <a16:creationId xmlns:a16="http://schemas.microsoft.com/office/drawing/2014/main" id="{4EB8287A-CDC2-108A-6014-E62583FF879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F0BEDDC-CF66-201D-A01D-CD8588D31A45}"/>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2307707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CA72B4-7825-131F-79DC-81FA846AC90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2A5565DD-5E00-47E7-64E7-5D34745E95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372C5A54-83C0-AB5F-3FDE-B24BE3D66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F44AB42-82F7-6FE3-5E5A-9AB0A94F8552}"/>
              </a:ext>
            </a:extLst>
          </p:cNvPr>
          <p:cNvSpPr>
            <a:spLocks noGrp="1"/>
          </p:cNvSpPr>
          <p:nvPr>
            <p:ph type="dt" sz="half" idx="10"/>
          </p:nvPr>
        </p:nvSpPr>
        <p:spPr/>
        <p:txBody>
          <a:bodyPr/>
          <a:lstStyle/>
          <a:p>
            <a:fld id="{7EEA22A2-499E-42F9-A64B-0A26D458712D}" type="datetime1">
              <a:rPr lang="es-ES" smtClean="0"/>
              <a:t>16/03/2026</a:t>
            </a:fld>
            <a:endParaRPr lang="es-ES"/>
          </a:p>
        </p:txBody>
      </p:sp>
      <p:sp>
        <p:nvSpPr>
          <p:cNvPr id="6" name="Marcador de pie de página 5">
            <a:extLst>
              <a:ext uri="{FF2B5EF4-FFF2-40B4-BE49-F238E27FC236}">
                <a16:creationId xmlns:a16="http://schemas.microsoft.com/office/drawing/2014/main" id="{08CBDAC1-5D91-6684-E566-84C5C8A2A70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66E0DF9-A274-EC25-6848-AC358941AA4F}"/>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3431455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EE1BEB-E76A-3496-7FC1-1B0D4B830C0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961EEDC-5390-CE39-7D7C-990222F78F9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FCAA442-F337-4A1F-6C74-713B261B8D2C}"/>
              </a:ext>
            </a:extLst>
          </p:cNvPr>
          <p:cNvSpPr>
            <a:spLocks noGrp="1"/>
          </p:cNvSpPr>
          <p:nvPr>
            <p:ph type="dt" sz="half" idx="10"/>
          </p:nvPr>
        </p:nvSpPr>
        <p:spPr/>
        <p:txBody>
          <a:bodyPr/>
          <a:lstStyle/>
          <a:p>
            <a:fld id="{EB564DED-177F-435B-8771-52278883A079}" type="datetime1">
              <a:rPr lang="es-ES" smtClean="0"/>
              <a:t>16/03/2026</a:t>
            </a:fld>
            <a:endParaRPr lang="es-ES"/>
          </a:p>
        </p:txBody>
      </p:sp>
      <p:sp>
        <p:nvSpPr>
          <p:cNvPr id="5" name="Marcador de pie de página 4">
            <a:extLst>
              <a:ext uri="{FF2B5EF4-FFF2-40B4-BE49-F238E27FC236}">
                <a16:creationId xmlns:a16="http://schemas.microsoft.com/office/drawing/2014/main" id="{C115BD76-A371-54EB-50AB-6E80D5B4E4E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EF82C2A-D3BC-5B21-AC85-F6A9084EB744}"/>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873105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BD418FC-9633-F65F-6A7D-4CE39B90790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2AC62C9-F43E-7105-8EBD-CFF788CE1EE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D8CA071-3C03-94C8-1A4D-E16CB3366019}"/>
              </a:ext>
            </a:extLst>
          </p:cNvPr>
          <p:cNvSpPr>
            <a:spLocks noGrp="1"/>
          </p:cNvSpPr>
          <p:nvPr>
            <p:ph type="dt" sz="half" idx="10"/>
          </p:nvPr>
        </p:nvSpPr>
        <p:spPr/>
        <p:txBody>
          <a:bodyPr/>
          <a:lstStyle/>
          <a:p>
            <a:fld id="{C8036B68-B35B-4C49-8CAA-0A38AD4D1C71}" type="datetime1">
              <a:rPr lang="es-ES" smtClean="0"/>
              <a:t>16/03/2026</a:t>
            </a:fld>
            <a:endParaRPr lang="es-ES"/>
          </a:p>
        </p:txBody>
      </p:sp>
      <p:sp>
        <p:nvSpPr>
          <p:cNvPr id="5" name="Marcador de pie de página 4">
            <a:extLst>
              <a:ext uri="{FF2B5EF4-FFF2-40B4-BE49-F238E27FC236}">
                <a16:creationId xmlns:a16="http://schemas.microsoft.com/office/drawing/2014/main" id="{1450F3E0-4159-8C2A-82E8-4048F5B2468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543951D-6D87-57D4-CEFB-783D38E25F9F}"/>
              </a:ext>
            </a:extLst>
          </p:cNvPr>
          <p:cNvSpPr>
            <a:spLocks noGrp="1"/>
          </p:cNvSpPr>
          <p:nvPr>
            <p:ph type="sldNum" sz="quarter" idx="12"/>
          </p:nvPr>
        </p:nvSpPr>
        <p:spPr/>
        <p:txBody>
          <a:bodyPr/>
          <a:lstStyle/>
          <a:p>
            <a:fld id="{6C008F66-11C2-4C30-903C-023FCF629350}" type="slidenum">
              <a:rPr lang="es-ES" smtClean="0"/>
              <a:t>‹Nº›</a:t>
            </a:fld>
            <a:endParaRPr lang="es-ES"/>
          </a:p>
        </p:txBody>
      </p:sp>
    </p:spTree>
    <p:extLst>
      <p:ext uri="{BB962C8B-B14F-4D97-AF65-F5344CB8AC3E}">
        <p14:creationId xmlns:p14="http://schemas.microsoft.com/office/powerpoint/2010/main" val="1220673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64FBEEC-4B3C-D220-9DE4-0CDC6307AB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5720B98-4559-C82E-4CEF-03F7441905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57E2109-ACDA-4D9C-3E2F-3DA681C330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11D934-1DD2-4BD6-A0C6-29A9E012FCD4}" type="datetime1">
              <a:rPr lang="es-ES" smtClean="0"/>
              <a:t>16/03/2026</a:t>
            </a:fld>
            <a:endParaRPr lang="es-ES"/>
          </a:p>
        </p:txBody>
      </p:sp>
      <p:sp>
        <p:nvSpPr>
          <p:cNvPr id="5" name="Marcador de pie de página 4">
            <a:extLst>
              <a:ext uri="{FF2B5EF4-FFF2-40B4-BE49-F238E27FC236}">
                <a16:creationId xmlns:a16="http://schemas.microsoft.com/office/drawing/2014/main" id="{FBE5A232-DE49-DD55-30CA-9555090E94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34DDB291-CC43-D566-2FC6-1E17E63109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008F66-11C2-4C30-903C-023FCF629350}" type="slidenum">
              <a:rPr lang="es-ES" smtClean="0"/>
              <a:t>‹Nº›</a:t>
            </a:fld>
            <a:endParaRPr lang="es-ES"/>
          </a:p>
        </p:txBody>
      </p:sp>
    </p:spTree>
    <p:extLst>
      <p:ext uri="{BB962C8B-B14F-4D97-AF65-F5344CB8AC3E}">
        <p14:creationId xmlns:p14="http://schemas.microsoft.com/office/powerpoint/2010/main" val="2077849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0_F0E86DD8.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jpe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9.jpeg"/></Relationships>
</file>

<file path=ppt/slides/_rels/slide3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0.png"/><Relationship Id="rId7"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png"/><Relationship Id="rId7"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6.jpeg"/><Relationship Id="rId11" Type="http://schemas.openxmlformats.org/officeDocument/2006/relationships/image" Target="../media/image5.png"/><Relationship Id="rId5" Type="http://schemas.openxmlformats.org/officeDocument/2006/relationships/image" Target="../media/image45.png"/><Relationship Id="rId10" Type="http://schemas.openxmlformats.org/officeDocument/2006/relationships/image" Target="../media/image49.png"/><Relationship Id="rId4" Type="http://schemas.openxmlformats.org/officeDocument/2006/relationships/hyperlink" Target="https://www.h2database.com/html/quickstart.html" TargetMode="External"/><Relationship Id="rId9" Type="http://schemas.openxmlformats.org/officeDocument/2006/relationships/hyperlink" Target="http://localhost:9000" TargetMode="External"/></Relationships>
</file>

<file path=ppt/slides/_rels/slide3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png"/><Relationship Id="rId7"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6.jpeg"/><Relationship Id="rId5" Type="http://schemas.openxmlformats.org/officeDocument/2006/relationships/image" Target="../media/image45.png"/><Relationship Id="rId4" Type="http://schemas.openxmlformats.org/officeDocument/2006/relationships/hyperlink" Target="https://snyk.io/" TargetMode="External"/><Relationship Id="rId9"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32.sv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hyperlink" Target="https://security-code-scan.github.io/" TargetMode="External"/></Relationships>
</file>

<file path=ppt/slides/_rels/slide4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5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4.png"/><Relationship Id="rId7" Type="http://schemas.openxmlformats.org/officeDocument/2006/relationships/hyperlink" Target="https://docs.pmd-code.org/pmd-doc-7.0.0/pmd_userdocs_making_rulesets.html" TargetMode="External"/><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45.png"/><Relationship Id="rId4" Type="http://schemas.openxmlformats.org/officeDocument/2006/relationships/hyperlink" Target="https://pmd.github.io/" TargetMode="External"/><Relationship Id="rId9"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65.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8.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technofaq.org/posts/2019/12/what-happens-when-someone-discovers-a-software-vulnerability/" TargetMode="External"/><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3.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4.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6.svg"/><Relationship Id="rId4" Type="http://schemas.openxmlformats.org/officeDocument/2006/relationships/image" Target="../media/image75.png"/></Relationships>
</file>

<file path=ppt/slides/_rels/slide5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80.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84.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4.png"/><Relationship Id="rId7" Type="http://schemas.openxmlformats.org/officeDocument/2006/relationships/hyperlink" Target="https://www.pngall.com/true-and-false-png/download/46238" TargetMode="External"/><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9"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jpeg"/><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5.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5.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96.pn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5.png"/></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5.png"/></Relationships>
</file>

<file path=ppt/slides/_rels/slide83.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4.png"/><Relationship Id="rId7" Type="http://schemas.openxmlformats.org/officeDocument/2006/relationships/image" Target="../media/image105.pn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8.jpeg"/><Relationship Id="rId4" Type="http://schemas.openxmlformats.org/officeDocument/2006/relationships/image" Target="../media/image5.png"/><Relationship Id="rId9" Type="http://schemas.openxmlformats.org/officeDocument/2006/relationships/image" Target="../media/image107.png"/></Relationships>
</file>

<file path=ppt/slides/_rels/slide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0.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hyperlink" Target="https://b.socrative.com/login/student/" TargetMode="External"/><Relationship Id="rId4" Type="http://schemas.openxmlformats.org/officeDocument/2006/relationships/image" Target="../media/image5.png"/></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11.png"/></Relationships>
</file>

<file path=ppt/slides/_rels/slide87.xml.rels><?xml version="1.0" encoding="UTF-8" standalone="yes"?>
<Relationships xmlns="http://schemas.openxmlformats.org/package/2006/relationships"><Relationship Id="rId8" Type="http://schemas.openxmlformats.org/officeDocument/2006/relationships/hyperlink" Target="https://twitter.com/grupo_oesia?lang=es" TargetMode="External"/><Relationship Id="rId13" Type="http://schemas.openxmlformats.org/officeDocument/2006/relationships/image" Target="../media/image117.jpeg"/><Relationship Id="rId3" Type="http://schemas.microsoft.com/office/2007/relationships/hdphoto" Target="../media/hdphoto1.wdp"/><Relationship Id="rId7" Type="http://schemas.openxmlformats.org/officeDocument/2006/relationships/image" Target="../media/image114.jpeg"/><Relationship Id="rId12" Type="http://schemas.openxmlformats.org/officeDocument/2006/relationships/hyperlink" Target="https://www.linkedin.com/company/oesia" TargetMode="External"/><Relationship Id="rId2" Type="http://schemas.openxmlformats.org/officeDocument/2006/relationships/image" Target="../media/image112.png"/><Relationship Id="rId16"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hyperlink" Target="https://www.instagram.com/grupo_oesia/" TargetMode="External"/><Relationship Id="rId11" Type="http://schemas.openxmlformats.org/officeDocument/2006/relationships/image" Target="../media/image116.jpeg"/><Relationship Id="rId5" Type="http://schemas.openxmlformats.org/officeDocument/2006/relationships/hyperlink" Target="https://grupooesia.com/" TargetMode="External"/><Relationship Id="rId15" Type="http://schemas.openxmlformats.org/officeDocument/2006/relationships/image" Target="../media/image119.svg"/><Relationship Id="rId10" Type="http://schemas.openxmlformats.org/officeDocument/2006/relationships/hyperlink" Target="https://www.youtube.com/user/OesiaTV/videos" TargetMode="External"/><Relationship Id="rId4" Type="http://schemas.openxmlformats.org/officeDocument/2006/relationships/image" Target="../media/image113.png"/><Relationship Id="rId9" Type="http://schemas.openxmlformats.org/officeDocument/2006/relationships/image" Target="../media/image115.jpeg"/><Relationship Id="rId14"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3330"/>
        </a:solidFill>
        <a:effectLst/>
      </p:bgPr>
    </p:bg>
    <p:spTree>
      <p:nvGrpSpPr>
        <p:cNvPr id="1" name=""/>
        <p:cNvGrpSpPr/>
        <p:nvPr/>
      </p:nvGrpSpPr>
      <p:grpSpPr>
        <a:xfrm>
          <a:off x="0" y="0"/>
          <a:ext cx="0" cy="0"/>
          <a:chOff x="0" y="0"/>
          <a:chExt cx="0" cy="0"/>
        </a:xfrm>
      </p:grpSpPr>
      <p:sp>
        <p:nvSpPr>
          <p:cNvPr id="5" name="Diagrama de flujo: retraso 4">
            <a:extLst>
              <a:ext uri="{FF2B5EF4-FFF2-40B4-BE49-F238E27FC236}">
                <a16:creationId xmlns:a16="http://schemas.microsoft.com/office/drawing/2014/main" id="{FA564B0A-D13B-2FE1-EAA7-633B2965D160}"/>
              </a:ext>
            </a:extLst>
          </p:cNvPr>
          <p:cNvSpPr/>
          <p:nvPr/>
        </p:nvSpPr>
        <p:spPr>
          <a:xfrm>
            <a:off x="-2705" y="8630"/>
            <a:ext cx="6807627" cy="6858000"/>
          </a:xfrm>
          <a:prstGeom prst="flowChartDelay">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8FFFA93E-A181-817D-45E3-F3AD4623815B}"/>
              </a:ext>
            </a:extLst>
          </p:cNvPr>
          <p:cNvSpPr txBox="1"/>
          <p:nvPr/>
        </p:nvSpPr>
        <p:spPr>
          <a:xfrm>
            <a:off x="119624" y="3437630"/>
            <a:ext cx="6217920" cy="2062103"/>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pPr algn="ctr"/>
            <a:r>
              <a:rPr lang="es-ES" sz="3600" dirty="0">
                <a:solidFill>
                  <a:srgbClr val="193330"/>
                </a:solidFill>
              </a:rPr>
              <a:t>DESARROLLO SEGURO:</a:t>
            </a:r>
          </a:p>
          <a:p>
            <a:pPr algn="ctr"/>
            <a:r>
              <a:rPr lang="es-ES" sz="3600" dirty="0">
                <a:solidFill>
                  <a:srgbClr val="193330"/>
                </a:solidFill>
              </a:rPr>
              <a:t>Curso avanzado de programación segura</a:t>
            </a:r>
          </a:p>
        </p:txBody>
      </p:sp>
      <p:cxnSp>
        <p:nvCxnSpPr>
          <p:cNvPr id="12" name="Conector recto 11">
            <a:extLst>
              <a:ext uri="{FF2B5EF4-FFF2-40B4-BE49-F238E27FC236}">
                <a16:creationId xmlns:a16="http://schemas.microsoft.com/office/drawing/2014/main" id="{11A7610F-8857-2856-0736-C23D4156201E}"/>
              </a:ext>
            </a:extLst>
          </p:cNvPr>
          <p:cNvCxnSpPr>
            <a:cxnSpLocks/>
          </p:cNvCxnSpPr>
          <p:nvPr/>
        </p:nvCxnSpPr>
        <p:spPr>
          <a:xfrm>
            <a:off x="5665472" y="6004858"/>
            <a:ext cx="6062472" cy="0"/>
          </a:xfrm>
          <a:prstGeom prst="line">
            <a:avLst/>
          </a:prstGeom>
          <a:ln>
            <a:solidFill>
              <a:srgbClr val="8BFFD3"/>
            </a:solidFill>
          </a:ln>
        </p:spPr>
        <p:style>
          <a:lnRef idx="2">
            <a:schemeClr val="accent1"/>
          </a:lnRef>
          <a:fillRef idx="0">
            <a:schemeClr val="accent1"/>
          </a:fillRef>
          <a:effectRef idx="1">
            <a:schemeClr val="accent1"/>
          </a:effectRef>
          <a:fontRef idx="minor">
            <a:schemeClr val="tx1"/>
          </a:fontRef>
        </p:style>
      </p:cxnSp>
      <p:pic>
        <p:nvPicPr>
          <p:cNvPr id="10" name="Imagen 9">
            <a:extLst>
              <a:ext uri="{FF2B5EF4-FFF2-40B4-BE49-F238E27FC236}">
                <a16:creationId xmlns:a16="http://schemas.microsoft.com/office/drawing/2014/main" id="{FA4EF75D-6EDD-3744-531B-064EB275F831}"/>
              </a:ext>
            </a:extLst>
          </p:cNvPr>
          <p:cNvPicPr>
            <a:picLocks noChangeAspect="1"/>
          </p:cNvPicPr>
          <p:nvPr/>
        </p:nvPicPr>
        <p:blipFill>
          <a:blip r:embed="rId3"/>
          <a:stretch>
            <a:fillRect/>
          </a:stretch>
        </p:blipFill>
        <p:spPr>
          <a:xfrm>
            <a:off x="1767914" y="1683304"/>
            <a:ext cx="3266387" cy="1754326"/>
          </a:xfrm>
          <a:prstGeom prst="rect">
            <a:avLst/>
          </a:prstGeom>
        </p:spPr>
      </p:pic>
      <p:pic>
        <p:nvPicPr>
          <p:cNvPr id="16" name="Google Shape;110;p47">
            <a:extLst>
              <a:ext uri="{FF2B5EF4-FFF2-40B4-BE49-F238E27FC236}">
                <a16:creationId xmlns:a16="http://schemas.microsoft.com/office/drawing/2014/main" id="{14710F58-482A-D520-B057-9DDABA2178C7}"/>
              </a:ext>
            </a:extLst>
          </p:cNvPr>
          <p:cNvPicPr preferRelativeResize="0"/>
          <p:nvPr/>
        </p:nvPicPr>
        <p:blipFill>
          <a:blip r:embed="rId4"/>
          <a:srcRect/>
          <a:stretch/>
        </p:blipFill>
        <p:spPr>
          <a:xfrm>
            <a:off x="8401787" y="644677"/>
            <a:ext cx="2874246" cy="1119204"/>
          </a:xfrm>
          <a:prstGeom prst="rect">
            <a:avLst/>
          </a:prstGeom>
          <a:noFill/>
          <a:ln>
            <a:noFill/>
          </a:ln>
        </p:spPr>
      </p:pic>
      <p:pic>
        <p:nvPicPr>
          <p:cNvPr id="2" name="Imagen 1" descr="Texto, Logotipo&#10;&#10;El contenido generado por IA puede ser incorrecto.">
            <a:extLst>
              <a:ext uri="{FF2B5EF4-FFF2-40B4-BE49-F238E27FC236}">
                <a16:creationId xmlns:a16="http://schemas.microsoft.com/office/drawing/2014/main" id="{FB465D39-9497-C19A-9EB9-D7ABA26D95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1545" y="514324"/>
            <a:ext cx="3894078" cy="1063434"/>
          </a:xfrm>
          <a:prstGeom prst="rect">
            <a:avLst/>
          </a:prstGeom>
        </p:spPr>
      </p:pic>
    </p:spTree>
    <p:extLst>
      <p:ext uri="{BB962C8B-B14F-4D97-AF65-F5344CB8AC3E}">
        <p14:creationId xmlns:p14="http://schemas.microsoft.com/office/powerpoint/2010/main" val="4041764312"/>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79452-82B5-0838-F6A9-0EA13FC4BBEC}"/>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0061978D-E702-B0CA-BB55-67F7F7711771}"/>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F17BEAF3-D6F3-306F-EDED-8FA4BCB6AAEA}"/>
              </a:ext>
            </a:extLst>
          </p:cNvPr>
          <p:cNvSpPr txBox="1"/>
          <p:nvPr/>
        </p:nvSpPr>
        <p:spPr>
          <a:xfrm>
            <a:off x="429768" y="251936"/>
            <a:ext cx="9500616"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rgbClr val="193330"/>
                </a:solidFill>
              </a:rPr>
              <a:t>ÍNDICE</a:t>
            </a:r>
          </a:p>
        </p:txBody>
      </p:sp>
      <p:pic>
        <p:nvPicPr>
          <p:cNvPr id="20" name="Imagen 19" descr="Texto&#10;&#10;El contenido generado por IA puede ser incorrecto.">
            <a:extLst>
              <a:ext uri="{FF2B5EF4-FFF2-40B4-BE49-F238E27FC236}">
                <a16:creationId xmlns:a16="http://schemas.microsoft.com/office/drawing/2014/main" id="{748EA298-37F3-5317-C3E2-CEB66E89DE5B}"/>
              </a:ext>
            </a:extLst>
          </p:cNvPr>
          <p:cNvPicPr>
            <a:picLocks noChangeAspect="1"/>
          </p:cNvPicPr>
          <p:nvPr/>
        </p:nvPicPr>
        <p:blipFill>
          <a:blip r:embed="rId2">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graphicFrame>
        <p:nvGraphicFramePr>
          <p:cNvPr id="3" name="Tabla 2">
            <a:extLst>
              <a:ext uri="{FF2B5EF4-FFF2-40B4-BE49-F238E27FC236}">
                <a16:creationId xmlns:a16="http://schemas.microsoft.com/office/drawing/2014/main" id="{1B563A08-7631-2E5F-F251-5415557BF2C7}"/>
              </a:ext>
            </a:extLst>
          </p:cNvPr>
          <p:cNvGraphicFramePr>
            <a:graphicFrameLocks noGrp="1"/>
          </p:cNvGraphicFramePr>
          <p:nvPr>
            <p:extLst>
              <p:ext uri="{D42A27DB-BD31-4B8C-83A1-F6EECF244321}">
                <p14:modId xmlns:p14="http://schemas.microsoft.com/office/powerpoint/2010/main" val="2520384038"/>
              </p:ext>
            </p:extLst>
          </p:nvPr>
        </p:nvGraphicFramePr>
        <p:xfrm>
          <a:off x="1139007" y="1160409"/>
          <a:ext cx="4071350" cy="4310756"/>
        </p:xfrm>
        <a:graphic>
          <a:graphicData uri="http://schemas.openxmlformats.org/drawingml/2006/table">
            <a:tbl>
              <a:tblPr/>
              <a:tblGrid>
                <a:gridCol w="4071350">
                  <a:extLst>
                    <a:ext uri="{9D8B030D-6E8A-4147-A177-3AD203B41FA5}">
                      <a16:colId xmlns:a16="http://schemas.microsoft.com/office/drawing/2014/main" val="797176931"/>
                    </a:ext>
                  </a:extLst>
                </a:gridCol>
              </a:tblGrid>
              <a:tr h="739170">
                <a:tc>
                  <a:txBody>
                    <a:bodyPr/>
                    <a:lstStyle/>
                    <a:p>
                      <a:pPr algn="l" fontAlgn="base">
                        <a:lnSpc>
                          <a:spcPts val="1650"/>
                        </a:lnSpc>
                        <a:buNone/>
                      </a:pPr>
                      <a:r>
                        <a:rPr lang="es-ES" sz="900" b="1" i="0" u="none" strike="noStrike" dirty="0">
                          <a:solidFill>
                            <a:srgbClr val="000000"/>
                          </a:solidFill>
                          <a:effectLst/>
                          <a:latin typeface="Trebuchet MS" panose="020B0603020202020204" pitchFamily="34" charset="0"/>
                        </a:rPr>
                        <a:t>Módulo 1: Introducción</a:t>
                      </a:r>
                      <a:r>
                        <a:rPr lang="es-ES" sz="900" b="1" i="0" dirty="0">
                          <a:solidFill>
                            <a:srgbClr val="FFFFFF"/>
                          </a:solidFill>
                          <a:effectLst/>
                          <a:latin typeface="Trebuchet MS" panose="020B0603020202020204" pitchFamily="34" charset="0"/>
                        </a:rPr>
                        <a:t>​</a:t>
                      </a:r>
                    </a:p>
                    <a:p>
                      <a:pPr marL="171450" indent="-171450" algn="l" fontAlgn="base">
                        <a:lnSpc>
                          <a:spcPts val="1650"/>
                        </a:lnSpc>
                        <a:buFont typeface="Arial" panose="020B0604020202020204" pitchFamily="34" charset="0"/>
                        <a:buChar char="•"/>
                      </a:pPr>
                      <a:r>
                        <a:rPr lang="es-ES" sz="900" b="0" i="0" u="none" strike="noStrike" dirty="0">
                          <a:solidFill>
                            <a:srgbClr val="000000"/>
                          </a:solidFill>
                          <a:effectLst/>
                          <a:latin typeface="Trebuchet MS" panose="020B0603020202020204" pitchFamily="34" charset="0"/>
                        </a:rPr>
                        <a:t>Presentación de la jornada de formación.</a:t>
                      </a:r>
                      <a:r>
                        <a:rPr lang="es-ES" sz="900" b="1" i="0" dirty="0">
                          <a:solidFill>
                            <a:srgbClr val="FFFFFF"/>
                          </a:solidFill>
                          <a:effectLst/>
                          <a:latin typeface="Trebuchet MS" panose="020B0603020202020204" pitchFamily="34" charset="0"/>
                        </a:rPr>
                        <a:t>​</a:t>
                      </a:r>
                    </a:p>
                    <a:p>
                      <a:pPr marL="171450" indent="-171450" algn="l" fontAlgn="base">
                        <a:lnSpc>
                          <a:spcPts val="1650"/>
                        </a:lnSpc>
                        <a:buFont typeface="Arial" panose="020B0604020202020204" pitchFamily="34" charset="0"/>
                        <a:buChar char="•"/>
                      </a:pPr>
                      <a:r>
                        <a:rPr lang="es-ES" sz="900" b="0" i="0" u="none" strike="noStrike" dirty="0">
                          <a:solidFill>
                            <a:srgbClr val="000000"/>
                          </a:solidFill>
                          <a:effectLst/>
                          <a:latin typeface="Trebuchet MS" panose="020B0603020202020204" pitchFamily="34" charset="0"/>
                        </a:rPr>
                        <a:t>Conceptos básicos.</a:t>
                      </a:r>
                    </a:p>
                    <a:p>
                      <a:pPr marL="171450" indent="-171450" algn="l" fontAlgn="base">
                        <a:lnSpc>
                          <a:spcPts val="1650"/>
                        </a:lnSpc>
                        <a:buFont typeface="Arial" panose="020B0604020202020204" pitchFamily="34" charset="0"/>
                        <a:buChar char="•"/>
                      </a:pPr>
                      <a:r>
                        <a:rPr lang="es-ES" sz="900" b="0" i="0" u="none" strike="noStrike" dirty="0">
                          <a:solidFill>
                            <a:srgbClr val="000000"/>
                          </a:solidFill>
                          <a:effectLst/>
                          <a:latin typeface="Trebuchet MS" panose="020B0603020202020204" pitchFamily="34" charset="0"/>
                        </a:rPr>
                        <a:t>Objetivos del curso.</a:t>
                      </a:r>
                      <a:endParaRPr lang="es-ES" sz="900" b="1" i="0" dirty="0">
                        <a:solidFill>
                          <a:srgbClr val="FFFFFF"/>
                        </a:solidFill>
                        <a:effectLst/>
                        <a:latin typeface="Trebuchet MS" panose="020B0603020202020204" pitchFamily="34" charset="0"/>
                      </a:endParaRPr>
                    </a:p>
                  </a:txBody>
                  <a:tcPr marL="49223" marR="49223" marT="24612" marB="2461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401" cap="flat" cmpd="sng" algn="ctr">
                      <a:solidFill>
                        <a:srgbClr val="595959"/>
                      </a:solidFill>
                      <a:prstDash val="solid"/>
                      <a:round/>
                      <a:headEnd type="none" w="med" len="med"/>
                      <a:tailEnd type="none" w="med" len="med"/>
                    </a:lnT>
                    <a:lnB w="12700" cap="flat" cmpd="sng" algn="ctr">
                      <a:solidFill>
                        <a:srgbClr val="595959"/>
                      </a:solidFill>
                      <a:prstDash val="solid"/>
                      <a:round/>
                      <a:headEnd type="none" w="med" len="med"/>
                      <a:tailEnd type="none" w="med" len="med"/>
                    </a:lnB>
                    <a:solidFill>
                      <a:srgbClr val="EAEAEA"/>
                    </a:solidFill>
                  </a:tcPr>
                </a:tc>
                <a:extLst>
                  <a:ext uri="{0D108BD9-81ED-4DB2-BD59-A6C34878D82A}">
                    <a16:rowId xmlns:a16="http://schemas.microsoft.com/office/drawing/2014/main" val="758974838"/>
                  </a:ext>
                </a:extLst>
              </a:tr>
              <a:tr h="904750">
                <a:tc>
                  <a:txBody>
                    <a:bodyPr/>
                    <a:lstStyle/>
                    <a:p>
                      <a:pPr marL="0" marR="0" lvl="0" indent="0" algn="l" defTabSz="914400" rtl="0" eaLnBrk="1" fontAlgn="base" latinLnBrk="0" hangingPunct="1">
                        <a:lnSpc>
                          <a:spcPts val="1650"/>
                        </a:lnSpc>
                        <a:spcBef>
                          <a:spcPts val="0"/>
                        </a:spcBef>
                        <a:spcAft>
                          <a:spcPts val="0"/>
                        </a:spcAft>
                        <a:buNone/>
                      </a:pPr>
                      <a:r>
                        <a:rPr lang="es-ES" sz="900" b="1" i="0" u="none" strike="noStrike" dirty="0">
                          <a:solidFill>
                            <a:srgbClr val="000000"/>
                          </a:solidFill>
                          <a:effectLst/>
                          <a:latin typeface="Trebuchet MS" panose="020B0603020202020204" pitchFamily="34" charset="0"/>
                        </a:rPr>
                        <a:t>Módulo 2: </a:t>
                      </a:r>
                      <a:r>
                        <a:rPr lang="es-ES" sz="900" b="1" i="0" u="none" strike="noStrike" kern="1200" noProof="0" dirty="0">
                          <a:solidFill>
                            <a:srgbClr val="000000"/>
                          </a:solidFill>
                          <a:effectLst/>
                          <a:latin typeface="Trebuchet MS" panose="020B0603020202020204" pitchFamily="34" charset="0"/>
                          <a:ea typeface="+mn-ea"/>
                          <a:cs typeface="+mn-cs"/>
                        </a:rPr>
                        <a:t>Seguridad aplicada a código: .NET/JAVA</a:t>
                      </a: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Principios de programación segura aplicados a .NET / JAVA</a:t>
                      </a:r>
                      <a:endParaRPr lang="en-US" sz="900" b="0" i="0" u="none" strike="noStrike" kern="1200" noProof="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Técnicas de Programación segura específicas para .NET / JAVA.</a:t>
                      </a:r>
                      <a:endParaRPr lang="es-ES" sz="900" b="0" i="0" u="none" strike="noStrike" kern="120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Uso de </a:t>
                      </a:r>
                      <a:r>
                        <a:rPr lang="es-ES" sz="900" b="0" i="0" u="none" strike="noStrike" kern="1200" noProof="0" dirty="0" err="1">
                          <a:solidFill>
                            <a:srgbClr val="000000"/>
                          </a:solidFill>
                          <a:effectLst/>
                          <a:latin typeface="Trebuchet MS" panose="020B0603020202020204" pitchFamily="34" charset="0"/>
                          <a:ea typeface="+mn-ea"/>
                          <a:cs typeface="+mn-cs"/>
                        </a:rPr>
                        <a:t>APIs</a:t>
                      </a:r>
                      <a:r>
                        <a:rPr lang="es-ES" sz="900" b="0" i="0" u="none" strike="noStrike" kern="1200" noProof="0" dirty="0">
                          <a:solidFill>
                            <a:srgbClr val="000000"/>
                          </a:solidFill>
                          <a:effectLst/>
                          <a:latin typeface="Trebuchet MS" panose="020B0603020202020204" pitchFamily="34" charset="0"/>
                          <a:ea typeface="+mn-ea"/>
                          <a:cs typeface="+mn-cs"/>
                        </a:rPr>
                        <a:t> y bibliotecas seguras en .NET / JAVA.</a:t>
                      </a:r>
                    </a:p>
                  </a:txBody>
                  <a:tcPr marL="49223" marR="49223" marT="24612" marB="2461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595959"/>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321557185"/>
                  </a:ext>
                </a:extLst>
              </a:tr>
              <a:tr h="1069675">
                <a:tc>
                  <a:txBody>
                    <a:bodyPr/>
                    <a:lstStyle/>
                    <a:p>
                      <a:pPr marL="0" marR="0" lvl="0" indent="0" algn="l" defTabSz="914400" rtl="0" eaLnBrk="1" fontAlgn="base" latinLnBrk="0" hangingPunct="1">
                        <a:lnSpc>
                          <a:spcPts val="1650"/>
                        </a:lnSpc>
                        <a:spcBef>
                          <a:spcPts val="0"/>
                        </a:spcBef>
                        <a:spcAft>
                          <a:spcPts val="0"/>
                        </a:spcAft>
                        <a:buNone/>
                      </a:pPr>
                      <a:r>
                        <a:rPr lang="es-ES" sz="900" b="1" i="0" u="none" strike="noStrike" kern="1200" dirty="0">
                          <a:solidFill>
                            <a:srgbClr val="000000"/>
                          </a:solidFill>
                          <a:effectLst/>
                          <a:latin typeface="Trebuchet MS" panose="020B0603020202020204" pitchFamily="34" charset="0"/>
                          <a:ea typeface="+mn-ea"/>
                          <a:cs typeface="+mn-cs"/>
                        </a:rPr>
                        <a:t>Módulo 3: </a:t>
                      </a:r>
                      <a:r>
                        <a:rPr lang="es-ES" sz="900" b="1" i="0" u="none" strike="noStrike" kern="1200" noProof="0" dirty="0">
                          <a:solidFill>
                            <a:srgbClr val="000000"/>
                          </a:solidFill>
                          <a:effectLst/>
                          <a:latin typeface="Trebuchet MS" panose="020B0603020202020204" pitchFamily="34" charset="0"/>
                          <a:ea typeface="+mn-ea"/>
                          <a:cs typeface="+mn-cs"/>
                        </a:rPr>
                        <a:t>Laboratorio de explotación y mitigación de vulnerabilidades</a:t>
                      </a: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Vulnerabilidades comunes en .NET / JAVA</a:t>
                      </a:r>
                      <a:endParaRPr lang="en-US" sz="900" b="0" i="0" u="none" strike="noStrike" kern="1200" noProof="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Explotación de estas vulnerabilidades.</a:t>
                      </a: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Técnicas de mitigación de estas vulnerabilidades.</a:t>
                      </a:r>
                      <a:endParaRPr lang="es-ES" sz="900" b="0" i="0" u="none" strike="noStrike" kern="120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Práctica: identificación, explotación y mitigación de estas vulnerabilidades en un entorno controlado.</a:t>
                      </a:r>
                    </a:p>
                  </a:txBody>
                  <a:tcPr marL="49223" marR="49223" marT="24612" marB="2461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AEA"/>
                    </a:solidFill>
                  </a:tcPr>
                </a:tc>
                <a:extLst>
                  <a:ext uri="{0D108BD9-81ED-4DB2-BD59-A6C34878D82A}">
                    <a16:rowId xmlns:a16="http://schemas.microsoft.com/office/drawing/2014/main" val="1194590021"/>
                  </a:ext>
                </a:extLst>
              </a:tr>
              <a:tr h="1204056">
                <a:tc>
                  <a:txBody>
                    <a:bodyPr/>
                    <a:lstStyle/>
                    <a:p>
                      <a:pPr marL="0" marR="0" lvl="0" indent="0" algn="l" defTabSz="914400" rtl="0" eaLnBrk="1" fontAlgn="base" latinLnBrk="0" hangingPunct="1">
                        <a:lnSpc>
                          <a:spcPts val="1650"/>
                        </a:lnSpc>
                        <a:spcBef>
                          <a:spcPts val="0"/>
                        </a:spcBef>
                        <a:spcAft>
                          <a:spcPts val="0"/>
                        </a:spcAft>
                        <a:buFont typeface="Arial"/>
                        <a:buNone/>
                      </a:pPr>
                      <a:r>
                        <a:rPr lang="es-ES" sz="900" b="1" i="0" u="none" strike="noStrike" dirty="0">
                          <a:solidFill>
                            <a:srgbClr val="000000"/>
                          </a:solidFill>
                          <a:effectLst/>
                          <a:latin typeface="Trebuchet MS" panose="020B0603020202020204" pitchFamily="34" charset="0"/>
                        </a:rPr>
                        <a:t>Módulo 4: </a:t>
                      </a:r>
                      <a:r>
                        <a:rPr lang="es-VE" sz="900" b="1" i="0" u="none" strike="noStrike" kern="1200" noProof="0" dirty="0">
                          <a:solidFill>
                            <a:srgbClr val="000000"/>
                          </a:solidFill>
                          <a:effectLst/>
                          <a:latin typeface="Trebuchet MS" panose="020B0603020202020204" pitchFamily="34" charset="0"/>
                          <a:ea typeface="+mn-ea"/>
                          <a:cs typeface="+mn-cs"/>
                        </a:rPr>
                        <a:t>Auditoria de código y pruebas (60MIN)</a:t>
                      </a:r>
                      <a:r>
                        <a:rPr lang="en-US" sz="900" b="1" i="0" u="none" strike="noStrike" kern="1200" noProof="0" dirty="0">
                          <a:solidFill>
                            <a:srgbClr val="000000"/>
                          </a:solidFill>
                          <a:effectLst/>
                          <a:latin typeface="Trebuchet MS" panose="020B0603020202020204" pitchFamily="34" charset="0"/>
                          <a:ea typeface="+mn-ea"/>
                          <a:cs typeface="+mn-cs"/>
                        </a:rPr>
                        <a:t> </a:t>
                      </a: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Técnicas y herramientas para la auditoria de código en .NET / JAVA.</a:t>
                      </a:r>
                      <a:r>
                        <a:rPr lang="en-US" sz="900" b="0" i="0" u="none" strike="noStrike" kern="1200" noProof="0" dirty="0">
                          <a:solidFill>
                            <a:srgbClr val="000000"/>
                          </a:solidFill>
                          <a:effectLst/>
                          <a:latin typeface="Trebuchet MS" panose="020B0603020202020204" pitchFamily="34" charset="0"/>
                          <a:ea typeface="+mn-ea"/>
                          <a:cs typeface="+mn-cs"/>
                        </a:rPr>
                        <a:t> </a:t>
                      </a: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Creación y gestión de casos de prueba para seguridad. </a:t>
                      </a:r>
                      <a:endParaRPr lang="en-US" sz="900" b="0" i="0" u="none" strike="noStrike" kern="1200" noProof="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SAST vs DAST </a:t>
                      </a:r>
                      <a:endParaRPr lang="en-US" sz="900" b="0" i="0" u="none" strike="noStrike" kern="1200" noProof="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Práctica: realización de una auditoría de código.</a:t>
                      </a:r>
                      <a:endParaRPr lang="en-US" sz="900" b="0" i="0" u="none" strike="noStrike" kern="1200" noProof="0" dirty="0">
                        <a:solidFill>
                          <a:srgbClr val="000000"/>
                        </a:solidFill>
                        <a:effectLst/>
                        <a:latin typeface="Trebuchet MS" panose="020B0603020202020204" pitchFamily="34" charset="0"/>
                        <a:ea typeface="+mn-ea"/>
                        <a:cs typeface="+mn-cs"/>
                      </a:endParaRPr>
                    </a:p>
                  </a:txBody>
                  <a:tcPr marL="49223" marR="49223" marT="24612" marB="24612">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FFFFFF"/>
                      </a:solidFill>
                      <a:prstDash val="solid"/>
                      <a:round/>
                      <a:headEnd type="none" w="med" len="med"/>
                      <a:tailEnd type="none" w="med" len="med"/>
                    </a:lnT>
                    <a:lnB w="6401" cap="flat" cmpd="sng" algn="ctr">
                      <a:solidFill>
                        <a:srgbClr val="595959"/>
                      </a:solidFill>
                      <a:prstDash val="solid"/>
                      <a:round/>
                      <a:headEnd type="none" w="med" len="med"/>
                      <a:tailEnd type="none" w="med" len="med"/>
                    </a:lnB>
                    <a:solidFill>
                      <a:srgbClr val="FFFFFF"/>
                    </a:solidFill>
                  </a:tcPr>
                </a:tc>
                <a:extLst>
                  <a:ext uri="{0D108BD9-81ED-4DB2-BD59-A6C34878D82A}">
                    <a16:rowId xmlns:a16="http://schemas.microsoft.com/office/drawing/2014/main" val="2562537330"/>
                  </a:ext>
                </a:extLst>
              </a:tr>
            </a:tbl>
          </a:graphicData>
        </a:graphic>
      </p:graphicFrame>
      <p:graphicFrame>
        <p:nvGraphicFramePr>
          <p:cNvPr id="4" name="Tabla 3">
            <a:extLst>
              <a:ext uri="{FF2B5EF4-FFF2-40B4-BE49-F238E27FC236}">
                <a16:creationId xmlns:a16="http://schemas.microsoft.com/office/drawing/2014/main" id="{D8D5EFAB-FF34-A1A0-4FB7-A8AFEDA44B4C}"/>
              </a:ext>
            </a:extLst>
          </p:cNvPr>
          <p:cNvGraphicFramePr>
            <a:graphicFrameLocks noGrp="1"/>
          </p:cNvGraphicFramePr>
          <p:nvPr>
            <p:extLst>
              <p:ext uri="{D42A27DB-BD31-4B8C-83A1-F6EECF244321}">
                <p14:modId xmlns:p14="http://schemas.microsoft.com/office/powerpoint/2010/main" val="2259889435"/>
              </p:ext>
            </p:extLst>
          </p:nvPr>
        </p:nvGraphicFramePr>
        <p:xfrm>
          <a:off x="5859035" y="1160409"/>
          <a:ext cx="4071349" cy="2491910"/>
        </p:xfrm>
        <a:graphic>
          <a:graphicData uri="http://schemas.openxmlformats.org/drawingml/2006/table">
            <a:tbl>
              <a:tblPr/>
              <a:tblGrid>
                <a:gridCol w="4071349">
                  <a:extLst>
                    <a:ext uri="{9D8B030D-6E8A-4147-A177-3AD203B41FA5}">
                      <a16:colId xmlns:a16="http://schemas.microsoft.com/office/drawing/2014/main" val="3576638827"/>
                    </a:ext>
                  </a:extLst>
                </a:gridCol>
              </a:tblGrid>
              <a:tr h="965953">
                <a:tc>
                  <a:txBody>
                    <a:bodyPr/>
                    <a:lstStyle/>
                    <a:p>
                      <a:pPr marL="0" marR="0" lvl="0" indent="0" algn="l" defTabSz="914400" rtl="0" eaLnBrk="1" fontAlgn="base" latinLnBrk="0" hangingPunct="1">
                        <a:lnSpc>
                          <a:spcPts val="1650"/>
                        </a:lnSpc>
                        <a:spcBef>
                          <a:spcPts val="0"/>
                        </a:spcBef>
                        <a:spcAft>
                          <a:spcPts val="0"/>
                        </a:spcAft>
                        <a:buNone/>
                      </a:pPr>
                      <a:r>
                        <a:rPr lang="es-ES" sz="900" b="1" i="0" u="none" strike="noStrike" kern="1200" dirty="0">
                          <a:solidFill>
                            <a:srgbClr val="000000"/>
                          </a:solidFill>
                          <a:effectLst/>
                          <a:latin typeface="Trebuchet MS" panose="020B0603020202020204" pitchFamily="34" charset="0"/>
                          <a:ea typeface="+mn-ea"/>
                          <a:cs typeface="+mn-cs"/>
                        </a:rPr>
                        <a:t>Módulo 5: </a:t>
                      </a:r>
                      <a:r>
                        <a:rPr lang="es-VE" sz="900" b="1" i="0" u="none" strike="noStrike" kern="1200" noProof="0" dirty="0">
                          <a:solidFill>
                            <a:srgbClr val="000000"/>
                          </a:solidFill>
                          <a:effectLst/>
                          <a:latin typeface="Trebuchet MS" panose="020B0603020202020204" pitchFamily="34" charset="0"/>
                          <a:ea typeface="+mn-ea"/>
                          <a:cs typeface="+mn-cs"/>
                        </a:rPr>
                        <a:t>Gestión de vulnerabilidades e inteligencia de amenazas</a:t>
                      </a: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Procesos y herramientas para la gestión de vulnerabilidades.</a:t>
                      </a:r>
                      <a:endParaRPr lang="en-US" sz="900" b="0" i="0" u="none" strike="noStrike" kern="1200" noProof="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Como manejar la divulgación de vulnerabilidades.</a:t>
                      </a:r>
                      <a:endParaRPr lang="es-ES" sz="900" b="0" i="0" u="none" strike="noStrike" kern="120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Concepto de inteligencia de amenazas</a:t>
                      </a:r>
                      <a:endParaRPr lang="es-ES" sz="900" b="0" i="0" u="none" strike="noStrike" kern="1200" dirty="0">
                        <a:solidFill>
                          <a:srgbClr val="000000"/>
                        </a:solidFill>
                        <a:effectLst/>
                        <a:latin typeface="Trebuchet MS" panose="020B0603020202020204" pitchFamily="34" charset="0"/>
                        <a:ea typeface="+mn-ea"/>
                        <a:cs typeface="+mn-cs"/>
                      </a:endParaRP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Fuentes de información sobre amenazas y vulnerabilidades.</a:t>
                      </a:r>
                    </a:p>
                    <a:p>
                      <a:pPr marL="171450" marR="0" lvl="0" indent="-171450" algn="l" defTabSz="914400" rtl="0" eaLnBrk="1" fontAlgn="base" latinLnBrk="0" hangingPunct="1">
                        <a:lnSpc>
                          <a:spcPts val="1650"/>
                        </a:lnSpc>
                        <a:spcBef>
                          <a:spcPts val="0"/>
                        </a:spcBef>
                        <a:spcAft>
                          <a:spcPts val="0"/>
                        </a:spcAft>
                        <a:buClr>
                          <a:srgbClr val="000000"/>
                        </a:buClr>
                        <a:buFont typeface="Arial" panose="020B0604020202020204" pitchFamily="34" charset="0"/>
                        <a:buChar char="•"/>
                      </a:pPr>
                      <a:r>
                        <a:rPr lang="es-ES" sz="900" b="0" i="0" u="none" strike="noStrike" kern="1200" noProof="0" dirty="0">
                          <a:solidFill>
                            <a:srgbClr val="000000"/>
                          </a:solidFill>
                          <a:effectLst/>
                          <a:latin typeface="Trebuchet MS" panose="020B0603020202020204" pitchFamily="34" charset="0"/>
                          <a:ea typeface="+mn-ea"/>
                          <a:cs typeface="+mn-cs"/>
                        </a:rPr>
                        <a:t>Práctica: identificación y gestión de una vulnerabilidad en un caso de estudio.</a:t>
                      </a:r>
                      <a:endParaRPr lang="es-ES" sz="900" b="0" i="0" u="none" strike="noStrike" kern="1200" dirty="0">
                        <a:solidFill>
                          <a:srgbClr val="000000"/>
                        </a:solidFill>
                        <a:effectLst/>
                        <a:latin typeface="Trebuchet MS" panose="020B0603020202020204" pitchFamily="34" charset="0"/>
                        <a:ea typeface="+mn-ea"/>
                        <a:cs typeface="+mn-cs"/>
                      </a:endParaRPr>
                    </a:p>
                  </a:txBody>
                  <a:tcPr marL="53511" marR="53511" marT="26756" marB="26756">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401" cap="flat" cmpd="sng" algn="ctr">
                      <a:solidFill>
                        <a:srgbClr val="595959"/>
                      </a:solidFill>
                      <a:prstDash val="solid"/>
                      <a:round/>
                      <a:headEnd type="none" w="med" len="med"/>
                      <a:tailEnd type="none" w="med" len="med"/>
                    </a:lnT>
                    <a:lnB w="12700" cap="flat" cmpd="sng" algn="ctr">
                      <a:solidFill>
                        <a:srgbClr val="595959"/>
                      </a:solidFill>
                      <a:prstDash val="solid"/>
                      <a:round/>
                      <a:headEnd type="none" w="med" len="med"/>
                      <a:tailEnd type="none" w="med" len="med"/>
                    </a:lnB>
                    <a:solidFill>
                      <a:srgbClr val="EAEAEA"/>
                    </a:solidFill>
                  </a:tcPr>
                </a:tc>
                <a:extLst>
                  <a:ext uri="{0D108BD9-81ED-4DB2-BD59-A6C34878D82A}">
                    <a16:rowId xmlns:a16="http://schemas.microsoft.com/office/drawing/2014/main" val="4247539180"/>
                  </a:ext>
                </a:extLst>
              </a:tr>
              <a:tr h="954847">
                <a:tc>
                  <a:txBody>
                    <a:bodyPr/>
                    <a:lstStyle/>
                    <a:p>
                      <a:pPr algn="l" fontAlgn="base">
                        <a:lnSpc>
                          <a:spcPts val="1650"/>
                        </a:lnSpc>
                        <a:buNone/>
                      </a:pPr>
                      <a:r>
                        <a:rPr lang="es-ES" sz="900" b="1" i="0" dirty="0">
                          <a:solidFill>
                            <a:srgbClr val="000000"/>
                          </a:solidFill>
                          <a:effectLst/>
                          <a:latin typeface="Trebuchet MS" panose="020B0603020202020204" pitchFamily="34" charset="0"/>
                        </a:rPr>
                        <a:t>Módulo</a:t>
                      </a:r>
                      <a:r>
                        <a:rPr lang="es-ES" sz="900" b="1" i="0" u="none" strike="noStrike" dirty="0">
                          <a:solidFill>
                            <a:srgbClr val="000000"/>
                          </a:solidFill>
                          <a:effectLst/>
                          <a:latin typeface="Trebuchet MS" panose="020B0603020202020204" pitchFamily="34" charset="0"/>
                        </a:rPr>
                        <a:t> 6: Cierre</a:t>
                      </a:r>
                      <a:endParaRPr lang="es-ES" sz="900" b="0" i="0" dirty="0">
                        <a:solidFill>
                          <a:srgbClr val="595959"/>
                        </a:solidFill>
                        <a:effectLst/>
                        <a:latin typeface="Trebuchet MS" panose="020B0603020202020204" pitchFamily="34" charset="0"/>
                      </a:endParaRPr>
                    </a:p>
                    <a:p>
                      <a:pPr marL="171450" indent="-171450" algn="l" fontAlgn="base">
                        <a:lnSpc>
                          <a:spcPts val="1650"/>
                        </a:lnSpc>
                        <a:buFont typeface="Arial" panose="020B0604020202020204" pitchFamily="34" charset="0"/>
                        <a:buChar char="•"/>
                      </a:pPr>
                      <a:r>
                        <a:rPr lang="es-ES" sz="900" b="0" i="0" u="none" strike="noStrike" dirty="0">
                          <a:solidFill>
                            <a:srgbClr val="000000"/>
                          </a:solidFill>
                          <a:effectLst/>
                          <a:latin typeface="Trebuchet MS" panose="020B0603020202020204" pitchFamily="34" charset="0"/>
                        </a:rPr>
                        <a:t>Resumen de la jornada y puntos clave aprendidos.</a:t>
                      </a:r>
                      <a:r>
                        <a:rPr lang="es-ES" sz="900" b="0" i="0" dirty="0">
                          <a:solidFill>
                            <a:srgbClr val="595959"/>
                          </a:solidFill>
                          <a:effectLst/>
                          <a:latin typeface="Trebuchet MS" panose="020B0603020202020204" pitchFamily="34" charset="0"/>
                        </a:rPr>
                        <a:t>​</a:t>
                      </a:r>
                    </a:p>
                    <a:p>
                      <a:pPr marL="171450" indent="-171450" algn="l" fontAlgn="base">
                        <a:lnSpc>
                          <a:spcPts val="1650"/>
                        </a:lnSpc>
                        <a:buFont typeface="Arial" panose="020B0604020202020204" pitchFamily="34" charset="0"/>
                        <a:buChar char="•"/>
                      </a:pPr>
                      <a:r>
                        <a:rPr lang="es-ES" sz="900" b="0" i="0" u="none" strike="noStrike" dirty="0">
                          <a:solidFill>
                            <a:srgbClr val="000000"/>
                          </a:solidFill>
                          <a:effectLst/>
                          <a:latin typeface="Trebuchet MS" panose="020B0603020202020204" pitchFamily="34" charset="0"/>
                        </a:rPr>
                        <a:t>Espacio para preguntas y debate.</a:t>
                      </a:r>
                      <a:r>
                        <a:rPr lang="es-ES" sz="900" b="0" i="0" dirty="0">
                          <a:solidFill>
                            <a:srgbClr val="595959"/>
                          </a:solidFill>
                          <a:effectLst/>
                          <a:latin typeface="Trebuchet MS" panose="020B0603020202020204" pitchFamily="34" charset="0"/>
                        </a:rPr>
                        <a:t>​</a:t>
                      </a:r>
                    </a:p>
                    <a:p>
                      <a:pPr marL="171450" indent="-171450" algn="l" fontAlgn="base">
                        <a:lnSpc>
                          <a:spcPts val="1650"/>
                        </a:lnSpc>
                        <a:buFont typeface="Arial" panose="020B0604020202020204" pitchFamily="34" charset="0"/>
                        <a:buChar char="•"/>
                      </a:pPr>
                      <a:r>
                        <a:rPr lang="es-ES" sz="900" b="0" i="0" u="none" strike="noStrike" dirty="0">
                          <a:solidFill>
                            <a:srgbClr val="000000"/>
                          </a:solidFill>
                          <a:effectLst/>
                          <a:latin typeface="Trebuchet MS" panose="020B0603020202020204" pitchFamily="34" charset="0"/>
                        </a:rPr>
                        <a:t>Evaluación de la formación y </a:t>
                      </a:r>
                      <a:r>
                        <a:rPr lang="es-ES" sz="900" b="0" i="0" u="none" strike="noStrike" dirty="0" err="1">
                          <a:solidFill>
                            <a:srgbClr val="000000"/>
                          </a:solidFill>
                          <a:effectLst/>
                          <a:latin typeface="Trebuchet MS" panose="020B0603020202020204" pitchFamily="34" charset="0"/>
                        </a:rPr>
                        <a:t>feedback</a:t>
                      </a:r>
                      <a:r>
                        <a:rPr lang="es-ES" sz="900" b="0" i="0" u="none" strike="noStrike" dirty="0">
                          <a:solidFill>
                            <a:srgbClr val="000000"/>
                          </a:solidFill>
                          <a:effectLst/>
                          <a:latin typeface="Trebuchet MS" panose="020B0603020202020204" pitchFamily="34" charset="0"/>
                        </a:rPr>
                        <a:t>.</a:t>
                      </a:r>
                      <a:r>
                        <a:rPr lang="es-ES" sz="900" b="0" i="0" dirty="0">
                          <a:solidFill>
                            <a:srgbClr val="595959"/>
                          </a:solidFill>
                          <a:effectLst/>
                          <a:latin typeface="Trebuchet MS" panose="020B0603020202020204" pitchFamily="34" charset="0"/>
                        </a:rPr>
                        <a:t>​</a:t>
                      </a:r>
                    </a:p>
                  </a:txBody>
                  <a:tcPr marL="53511" marR="53511" marT="26756" marB="26756">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595959"/>
                      </a:solidFill>
                      <a:prstDash val="solid"/>
                      <a:round/>
                      <a:headEnd type="none" w="med" len="med"/>
                      <a:tailEnd type="none" w="med" len="med"/>
                    </a:lnT>
                    <a:lnB w="6401" cap="flat" cmpd="sng" algn="ctr">
                      <a:solidFill>
                        <a:srgbClr val="595959"/>
                      </a:solidFill>
                      <a:prstDash val="solid"/>
                      <a:round/>
                      <a:headEnd type="none" w="med" len="med"/>
                      <a:tailEnd type="none" w="med" len="med"/>
                    </a:lnB>
                    <a:solidFill>
                      <a:srgbClr val="FFFFFF"/>
                    </a:solidFill>
                  </a:tcPr>
                </a:tc>
                <a:extLst>
                  <a:ext uri="{0D108BD9-81ED-4DB2-BD59-A6C34878D82A}">
                    <a16:rowId xmlns:a16="http://schemas.microsoft.com/office/drawing/2014/main" val="862283545"/>
                  </a:ext>
                </a:extLst>
              </a:tr>
            </a:tbl>
          </a:graphicData>
        </a:graphic>
      </p:graphicFrame>
      <p:sp>
        <p:nvSpPr>
          <p:cNvPr id="5" name="Rectangle 1">
            <a:extLst>
              <a:ext uri="{FF2B5EF4-FFF2-40B4-BE49-F238E27FC236}">
                <a16:creationId xmlns:a16="http://schemas.microsoft.com/office/drawing/2014/main" id="{278378B5-1294-E85D-23F7-92AF1BBB8FB6}"/>
              </a:ext>
            </a:extLst>
          </p:cNvPr>
          <p:cNvSpPr>
            <a:spLocks noChangeArrowheads="1"/>
          </p:cNvSpPr>
          <p:nvPr/>
        </p:nvSpPr>
        <p:spPr bwMode="auto">
          <a:xfrm>
            <a:off x="5094288" y="50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pic>
        <p:nvPicPr>
          <p:cNvPr id="7" name="Imagen 6" descr="Interfaz de usuario gráfica&#10;&#10;El contenido generado por IA puede ser incorrecto.">
            <a:extLst>
              <a:ext uri="{FF2B5EF4-FFF2-40B4-BE49-F238E27FC236}">
                <a16:creationId xmlns:a16="http://schemas.microsoft.com/office/drawing/2014/main" id="{5B93C56B-73C1-AB62-7014-3778C7E22D9F}"/>
              </a:ext>
            </a:extLst>
          </p:cNvPr>
          <p:cNvPicPr>
            <a:picLocks noChangeAspect="1"/>
          </p:cNvPicPr>
          <p:nvPr/>
        </p:nvPicPr>
        <p:blipFill>
          <a:blip r:embed="rId3">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016122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104F76F0-A5FD-9545-1C53-160C5798E325}"/>
            </a:ext>
          </a:extLst>
        </p:cNvPr>
        <p:cNvGrpSpPr/>
        <p:nvPr/>
      </p:nvGrpSpPr>
      <p:grpSpPr>
        <a:xfrm>
          <a:off x="0" y="0"/>
          <a:ext cx="0" cy="0"/>
          <a:chOff x="0" y="0"/>
          <a:chExt cx="0" cy="0"/>
        </a:xfrm>
      </p:grpSpPr>
      <p:sp>
        <p:nvSpPr>
          <p:cNvPr id="5" name="Diagrama de flujo: retraso 4">
            <a:extLst>
              <a:ext uri="{FF2B5EF4-FFF2-40B4-BE49-F238E27FC236}">
                <a16:creationId xmlns:a16="http://schemas.microsoft.com/office/drawing/2014/main" id="{57ED6745-CBB0-0D23-52B6-52D5A35C8E81}"/>
              </a:ext>
            </a:extLst>
          </p:cNvPr>
          <p:cNvSpPr/>
          <p:nvPr/>
        </p:nvSpPr>
        <p:spPr>
          <a:xfrm rot="10800000">
            <a:off x="5384373" y="0"/>
            <a:ext cx="6807627" cy="6858000"/>
          </a:xfrm>
          <a:prstGeom prst="flowChartDelay">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6DEEE0CD-6C84-6DA7-034C-78634FA56373}"/>
              </a:ext>
            </a:extLst>
          </p:cNvPr>
          <p:cNvSpPr txBox="1"/>
          <p:nvPr/>
        </p:nvSpPr>
        <p:spPr>
          <a:xfrm>
            <a:off x="5907024" y="2703486"/>
            <a:ext cx="6217920" cy="2062103"/>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pPr algn="ctr"/>
            <a:r>
              <a:rPr lang="es-ES" sz="3600" dirty="0">
                <a:solidFill>
                  <a:srgbClr val="193330"/>
                </a:solidFill>
              </a:rPr>
              <a:t>MÓDULO 2.</a:t>
            </a:r>
          </a:p>
          <a:p>
            <a:pPr algn="ctr"/>
            <a:r>
              <a:rPr lang="es-ES" sz="3600" dirty="0">
                <a:solidFill>
                  <a:srgbClr val="193330"/>
                </a:solidFill>
              </a:rPr>
              <a:t>SEGURIDAD APLICADA A CÓDIGO</a:t>
            </a:r>
          </a:p>
        </p:txBody>
      </p:sp>
      <p:pic>
        <p:nvPicPr>
          <p:cNvPr id="4" name="Imagen 3" descr="Texto&#10;&#10;El contenido generado por IA puede ser incorrecto.">
            <a:extLst>
              <a:ext uri="{FF2B5EF4-FFF2-40B4-BE49-F238E27FC236}">
                <a16:creationId xmlns:a16="http://schemas.microsoft.com/office/drawing/2014/main" id="{00FF009C-FD38-DE3E-26C6-034F13160A46}"/>
              </a:ext>
            </a:extLst>
          </p:cNvPr>
          <p:cNvPicPr>
            <a:picLocks noChangeAspect="1"/>
          </p:cNvPicPr>
          <p:nvPr/>
        </p:nvPicPr>
        <p:blipFill>
          <a:blip r:embed="rId2">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1D8C6481-7581-3C62-F35F-0A186A423101}"/>
              </a:ext>
            </a:extLst>
          </p:cNvPr>
          <p:cNvPicPr>
            <a:picLocks noChangeAspect="1"/>
          </p:cNvPicPr>
          <p:nvPr/>
        </p:nvPicPr>
        <p:blipFill>
          <a:blip r:embed="rId3">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239177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280D2-0129-21E3-1391-969E9F6E99B7}"/>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E6E96E36-B2E7-8987-DC30-51FA46B90D71}"/>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4B245D37-473B-E2FE-6766-97458C9280FC}"/>
              </a:ext>
            </a:extLst>
          </p:cNvPr>
          <p:cNvSpPr txBox="1"/>
          <p:nvPr/>
        </p:nvSpPr>
        <p:spPr>
          <a:xfrm>
            <a:off x="429768" y="251936"/>
            <a:ext cx="9500616"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Principio de mínimos privilegios</a:t>
            </a:r>
          </a:p>
        </p:txBody>
      </p:sp>
      <p:pic>
        <p:nvPicPr>
          <p:cNvPr id="20" name="Imagen 19" descr="Texto&#10;&#10;El contenido generado por IA puede ser incorrecto.">
            <a:extLst>
              <a:ext uri="{FF2B5EF4-FFF2-40B4-BE49-F238E27FC236}">
                <a16:creationId xmlns:a16="http://schemas.microsoft.com/office/drawing/2014/main" id="{75AAA25A-EB95-48C6-769F-52A539025AF5}"/>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3" name="TextBox 5">
            <a:extLst>
              <a:ext uri="{FF2B5EF4-FFF2-40B4-BE49-F238E27FC236}">
                <a16:creationId xmlns:a16="http://schemas.microsoft.com/office/drawing/2014/main" id="{069ED592-EBE7-9B06-4FCC-ABE9ABE48151}"/>
              </a:ext>
            </a:extLst>
          </p:cNvPr>
          <p:cNvSpPr txBox="1"/>
          <p:nvPr/>
        </p:nvSpPr>
        <p:spPr>
          <a:xfrm>
            <a:off x="437448" y="1151877"/>
            <a:ext cx="994243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sz="1800" dirty="0">
                <a:solidFill>
                  <a:srgbClr val="000000"/>
                </a:solidFill>
                <a:latin typeface="Trebuchet MS" panose="020B0603020202020204" pitchFamily="34" charset="0"/>
                <a:ea typeface="+mn-lt"/>
                <a:cs typeface="+mn-lt"/>
              </a:rPr>
              <a:t>Cada </a:t>
            </a:r>
            <a:r>
              <a:rPr lang="en-US" sz="1800" dirty="0" err="1">
                <a:solidFill>
                  <a:srgbClr val="000000"/>
                </a:solidFill>
                <a:latin typeface="Trebuchet MS" panose="020B0603020202020204" pitchFamily="34" charset="0"/>
                <a:ea typeface="+mn-lt"/>
                <a:cs typeface="+mn-lt"/>
              </a:rPr>
              <a:t>parte</a:t>
            </a:r>
            <a:r>
              <a:rPr lang="en-US" sz="1800" dirty="0">
                <a:solidFill>
                  <a:srgbClr val="000000"/>
                </a:solidFill>
                <a:latin typeface="Trebuchet MS" panose="020B0603020202020204" pitchFamily="34" charset="0"/>
                <a:ea typeface="+mn-lt"/>
                <a:cs typeface="+mn-lt"/>
              </a:rPr>
              <a:t> de un </a:t>
            </a:r>
            <a:r>
              <a:rPr lang="en-US" sz="1800" dirty="0" err="1">
                <a:solidFill>
                  <a:srgbClr val="000000"/>
                </a:solidFill>
                <a:latin typeface="Trebuchet MS" panose="020B0603020202020204" pitchFamily="34" charset="0"/>
                <a:ea typeface="+mn-lt"/>
                <a:cs typeface="+mn-lt"/>
              </a:rPr>
              <a:t>sistema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debe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tener</a:t>
            </a:r>
            <a:r>
              <a:rPr lang="en-US" sz="1800" dirty="0">
                <a:solidFill>
                  <a:srgbClr val="000000"/>
                </a:solidFill>
                <a:latin typeface="Trebuchet MS" panose="020B0603020202020204" pitchFamily="34" charset="0"/>
                <a:ea typeface="+mn-lt"/>
                <a:cs typeface="+mn-lt"/>
              </a:rPr>
              <a:t> solo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privilegios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necesarios</a:t>
            </a:r>
            <a:r>
              <a:rPr lang="en-US" sz="1800" dirty="0">
                <a:solidFill>
                  <a:srgbClr val="000000"/>
                </a:solidFill>
                <a:latin typeface="Trebuchet MS" panose="020B0603020202020204" pitchFamily="34" charset="0"/>
                <a:ea typeface="+mn-lt"/>
                <a:cs typeface="+mn-lt"/>
              </a:rPr>
              <a:t> para </a:t>
            </a:r>
            <a:r>
              <a:rPr lang="en-US" sz="1800" dirty="0" err="1">
                <a:solidFill>
                  <a:srgbClr val="000000"/>
                </a:solidFill>
                <a:latin typeface="Trebuchet MS" panose="020B0603020202020204" pitchFamily="34" charset="0"/>
                <a:ea typeface="+mn-lt"/>
                <a:cs typeface="+mn-lt"/>
              </a:rPr>
              <a:t>llevar</a:t>
            </a:r>
            <a:r>
              <a:rPr lang="en-US" sz="1800" dirty="0">
                <a:solidFill>
                  <a:srgbClr val="000000"/>
                </a:solidFill>
                <a:latin typeface="Trebuchet MS" panose="020B0603020202020204" pitchFamily="34" charset="0"/>
                <a:ea typeface="+mn-lt"/>
                <a:cs typeface="+mn-lt"/>
              </a:rPr>
              <a:t> a </a:t>
            </a:r>
            <a:r>
              <a:rPr lang="en-US" sz="1800" dirty="0" err="1">
                <a:solidFill>
                  <a:srgbClr val="000000"/>
                </a:solidFill>
                <a:latin typeface="Trebuchet MS" panose="020B0603020202020204" pitchFamily="34" charset="0"/>
                <a:ea typeface="+mn-lt"/>
                <a:cs typeface="+mn-lt"/>
              </a:rPr>
              <a:t>cabo</a:t>
            </a:r>
            <a:r>
              <a:rPr lang="en-US" sz="1800" dirty="0">
                <a:solidFill>
                  <a:srgbClr val="000000"/>
                </a:solidFill>
                <a:latin typeface="Trebuchet MS" panose="020B0603020202020204" pitchFamily="34" charset="0"/>
                <a:ea typeface="+mn-lt"/>
                <a:cs typeface="+mn-lt"/>
              </a:rPr>
              <a:t> sus </a:t>
            </a:r>
            <a:r>
              <a:rPr lang="en-US" sz="1800" dirty="0" err="1">
                <a:solidFill>
                  <a:srgbClr val="000000"/>
                </a:solidFill>
                <a:latin typeface="Trebuchet MS" panose="020B0603020202020204" pitchFamily="34" charset="0"/>
                <a:ea typeface="+mn-lt"/>
                <a:cs typeface="+mn-lt"/>
              </a:rPr>
              <a:t>funciones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específicas</a:t>
            </a:r>
            <a:r>
              <a:rPr lang="en-US" sz="1800" dirty="0">
                <a:solidFill>
                  <a:srgbClr val="000000"/>
                </a:solidFill>
                <a:latin typeface="Trebuchet MS" panose="020B0603020202020204" pitchFamily="34" charset="0"/>
                <a:ea typeface="+mn-lt"/>
                <a:cs typeface="+mn-lt"/>
              </a:rPr>
              <a:t> y no </a:t>
            </a:r>
            <a:r>
              <a:rPr lang="en-US" sz="1800" dirty="0" err="1">
                <a:solidFill>
                  <a:srgbClr val="000000"/>
                </a:solidFill>
                <a:latin typeface="Trebuchet MS" panose="020B0603020202020204" pitchFamily="34" charset="0"/>
                <a:ea typeface="+mn-lt"/>
                <a:cs typeface="+mn-lt"/>
              </a:rPr>
              <a:t>más</a:t>
            </a:r>
            <a:r>
              <a:rPr lang="en-US" sz="1800" dirty="0">
                <a:solidFill>
                  <a:srgbClr val="000000"/>
                </a:solidFill>
                <a:latin typeface="Trebuchet MS" panose="020B0603020202020204" pitchFamily="34" charset="0"/>
                <a:ea typeface="+mn-lt"/>
                <a:cs typeface="+mn-lt"/>
              </a:rPr>
              <a:t>. </a:t>
            </a:r>
          </a:p>
          <a:p>
            <a:pPr marL="285750" indent="-285750" algn="just">
              <a:buFont typeface="Arial" panose="020B0604020202020204" pitchFamily="34" charset="0"/>
              <a:buChar char="•"/>
            </a:pPr>
            <a:endParaRPr lang="en-US" sz="1800" dirty="0">
              <a:solidFill>
                <a:srgbClr val="000000"/>
              </a:solidFill>
              <a:latin typeface="Trebuchet MS" panose="020B0603020202020204" pitchFamily="34" charset="0"/>
              <a:ea typeface="+mn-lt"/>
              <a:cs typeface="+mn-lt"/>
            </a:endParaRPr>
          </a:p>
          <a:p>
            <a:pPr marL="285750" indent="-285750" algn="just">
              <a:buFont typeface="Arial" panose="020B0604020202020204" pitchFamily="34" charset="0"/>
              <a:buChar char="•"/>
            </a:pPr>
            <a:r>
              <a:rPr lang="en-US" sz="1800" dirty="0">
                <a:solidFill>
                  <a:srgbClr val="000000"/>
                </a:solidFill>
                <a:latin typeface="Trebuchet MS" panose="020B0603020202020204" pitchFamily="34" charset="0"/>
                <a:ea typeface="+mn-lt"/>
                <a:cs typeface="+mn-lt"/>
              </a:rPr>
              <a:t>Se </a:t>
            </a:r>
            <a:r>
              <a:rPr lang="en-US" sz="1800" dirty="0" err="1">
                <a:solidFill>
                  <a:srgbClr val="000000"/>
                </a:solidFill>
                <a:latin typeface="Trebuchet MS" panose="020B0603020202020204" pitchFamily="34" charset="0"/>
                <a:ea typeface="+mn-lt"/>
                <a:cs typeface="+mn-lt"/>
              </a:rPr>
              <a:t>aplica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mediante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el</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uso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políticas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seguridad</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que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restringen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permisos</a:t>
            </a:r>
            <a:r>
              <a:rPr lang="en-US" sz="1800" dirty="0">
                <a:solidFill>
                  <a:srgbClr val="000000"/>
                </a:solidFill>
                <a:latin typeface="Trebuchet MS" panose="020B0603020202020204" pitchFamily="34" charset="0"/>
                <a:ea typeface="+mn-lt"/>
                <a:cs typeface="+mn-lt"/>
              </a:rPr>
              <a:t> de las </a:t>
            </a:r>
            <a:r>
              <a:rPr lang="en-US" sz="1800" dirty="0" err="1">
                <a:solidFill>
                  <a:srgbClr val="000000"/>
                </a:solidFill>
                <a:latin typeface="Trebuchet MS" panose="020B0603020202020204" pitchFamily="34" charset="0"/>
                <a:ea typeface="+mn-lt"/>
                <a:cs typeface="+mn-lt"/>
              </a:rPr>
              <a:t>aplicaciones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función</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su</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origen</a:t>
            </a:r>
            <a:r>
              <a:rPr lang="en-US" sz="1800" dirty="0">
                <a:solidFill>
                  <a:srgbClr val="000000"/>
                </a:solidFill>
                <a:latin typeface="Trebuchet MS" panose="020B0603020202020204" pitchFamily="34" charset="0"/>
                <a:ea typeface="+mn-lt"/>
                <a:cs typeface="+mn-lt"/>
              </a:rPr>
              <a:t> y sus </a:t>
            </a:r>
            <a:r>
              <a:rPr lang="en-US" sz="1800" dirty="0" err="1">
                <a:solidFill>
                  <a:srgbClr val="000000"/>
                </a:solidFill>
                <a:latin typeface="Trebuchet MS" panose="020B0603020202020204" pitchFamily="34" charset="0"/>
                <a:ea typeface="+mn-lt"/>
                <a:cs typeface="+mn-lt"/>
              </a:rPr>
              <a:t>requerimientos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acceso</a:t>
            </a:r>
            <a:r>
              <a:rPr lang="en-US" sz="1800" dirty="0">
                <a:solidFill>
                  <a:srgbClr val="000000"/>
                </a:solidFill>
                <a:latin typeface="Trebuchet MS" panose="020B0603020202020204" pitchFamily="34" charset="0"/>
                <a:ea typeface="+mn-lt"/>
                <a:cs typeface="+mn-lt"/>
              </a:rPr>
              <a:t> a </a:t>
            </a:r>
            <a:r>
              <a:rPr lang="en-US" sz="1800" dirty="0" err="1">
                <a:solidFill>
                  <a:srgbClr val="000000"/>
                </a:solidFill>
                <a:latin typeface="Trebuchet MS" panose="020B0603020202020204" pitchFamily="34" charset="0"/>
                <a:ea typeface="+mn-lt"/>
                <a:cs typeface="+mn-lt"/>
              </a:rPr>
              <a:t>recursos</a:t>
            </a:r>
            <a:r>
              <a:rPr lang="en-US" sz="1800" dirty="0">
                <a:solidFill>
                  <a:srgbClr val="000000"/>
                </a:solidFill>
                <a:latin typeface="Trebuchet MS" panose="020B0603020202020204" pitchFamily="34" charset="0"/>
                <a:ea typeface="+mn-lt"/>
                <a:cs typeface="+mn-lt"/>
              </a:rPr>
              <a:t> del </a:t>
            </a:r>
            <a:r>
              <a:rPr lang="en-US" sz="1800" dirty="0" err="1">
                <a:solidFill>
                  <a:srgbClr val="000000"/>
                </a:solidFill>
                <a:latin typeface="Trebuchet MS" panose="020B0603020202020204" pitchFamily="34" charset="0"/>
                <a:ea typeface="+mn-lt"/>
                <a:cs typeface="+mn-lt"/>
              </a:rPr>
              <a:t>sistema</a:t>
            </a:r>
            <a:r>
              <a:rPr lang="en-US" sz="1800" dirty="0">
                <a:solidFill>
                  <a:srgbClr val="000000"/>
                </a:solidFill>
                <a:latin typeface="Trebuchet MS" panose="020B0603020202020204" pitchFamily="34" charset="0"/>
                <a:ea typeface="+mn-lt"/>
                <a:cs typeface="+mn-lt"/>
              </a:rPr>
              <a:t>.</a:t>
            </a:r>
            <a:endParaRPr lang="en-US" sz="1800" dirty="0">
              <a:solidFill>
                <a:srgbClr val="000000"/>
              </a:solidFill>
              <a:latin typeface="Trebuchet MS" panose="020B0603020202020204" pitchFamily="34" charset="0"/>
              <a:cs typeface="Calibri"/>
            </a:endParaRPr>
          </a:p>
        </p:txBody>
      </p:sp>
      <p:pic>
        <p:nvPicPr>
          <p:cNvPr id="4" name="Picture 10">
            <a:extLst>
              <a:ext uri="{FF2B5EF4-FFF2-40B4-BE49-F238E27FC236}">
                <a16:creationId xmlns:a16="http://schemas.microsoft.com/office/drawing/2014/main" id="{236D3081-A8E5-8221-CCFF-EBAB26493D76}"/>
              </a:ext>
            </a:extLst>
          </p:cNvPr>
          <p:cNvPicPr>
            <a:picLocks noChangeAspect="1"/>
          </p:cNvPicPr>
          <p:nvPr/>
        </p:nvPicPr>
        <p:blipFill>
          <a:blip r:embed="rId4"/>
          <a:stretch>
            <a:fillRect/>
          </a:stretch>
        </p:blipFill>
        <p:spPr>
          <a:xfrm>
            <a:off x="3081133" y="2993017"/>
            <a:ext cx="4938885" cy="2676864"/>
          </a:xfrm>
          <a:prstGeom prst="rect">
            <a:avLst/>
          </a:prstGeom>
        </p:spPr>
      </p:pic>
      <p:pic>
        <p:nvPicPr>
          <p:cNvPr id="5" name="Imagen 4" descr="Interfaz de usuario gráfica&#10;&#10;El contenido generado por IA puede ser incorrecto.">
            <a:extLst>
              <a:ext uri="{FF2B5EF4-FFF2-40B4-BE49-F238E27FC236}">
                <a16:creationId xmlns:a16="http://schemas.microsoft.com/office/drawing/2014/main" id="{75145BC2-057F-948A-499C-89E08737BB5A}"/>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1415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5DAFA-38CE-7663-B6C2-7D44564CFC19}"/>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8B011B61-B737-9D3D-0484-B46920B5B2C4}"/>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E46BD39E-0631-1E52-2A69-7FEA49D35F3C}"/>
              </a:ext>
            </a:extLst>
          </p:cNvPr>
          <p:cNvSpPr txBox="1"/>
          <p:nvPr/>
        </p:nvSpPr>
        <p:spPr>
          <a:xfrm>
            <a:off x="429768" y="251936"/>
            <a:ext cx="9500616"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Defensa en Profundidad</a:t>
            </a:r>
          </a:p>
        </p:txBody>
      </p:sp>
      <p:pic>
        <p:nvPicPr>
          <p:cNvPr id="20" name="Imagen 19" descr="Texto&#10;&#10;El contenido generado por IA puede ser incorrecto.">
            <a:extLst>
              <a:ext uri="{FF2B5EF4-FFF2-40B4-BE49-F238E27FC236}">
                <a16:creationId xmlns:a16="http://schemas.microsoft.com/office/drawing/2014/main" id="{32827CA2-11A4-E726-3F1F-B9CF8114B750}"/>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8" name="TextBox 5">
            <a:extLst>
              <a:ext uri="{FF2B5EF4-FFF2-40B4-BE49-F238E27FC236}">
                <a16:creationId xmlns:a16="http://schemas.microsoft.com/office/drawing/2014/main" id="{FDFCECD3-3DEC-327D-1D9A-FA83F582E0F0}"/>
              </a:ext>
            </a:extLst>
          </p:cNvPr>
          <p:cNvSpPr txBox="1"/>
          <p:nvPr/>
        </p:nvSpPr>
        <p:spPr>
          <a:xfrm>
            <a:off x="377066" y="1229510"/>
            <a:ext cx="994243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múltiples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capas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seguridad</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una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para </a:t>
            </a:r>
            <a:r>
              <a:rPr lang="en-US" sz="1800" dirty="0" err="1">
                <a:solidFill>
                  <a:srgbClr val="000000"/>
                </a:solidFill>
                <a:latin typeface="Trebuchet MS" panose="020B0603020202020204" pitchFamily="34" charset="0"/>
                <a:ea typeface="+mn-lt"/>
                <a:cs typeface="+mn-lt"/>
              </a:rPr>
              <a:t>protegerla</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amenazas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diferentes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niveles</a:t>
            </a:r>
            <a:r>
              <a:rPr lang="en-US" sz="1800" dirty="0">
                <a:solidFill>
                  <a:srgbClr val="000000"/>
                </a:solidFill>
                <a:latin typeface="Trebuchet MS" panose="020B0603020202020204" pitchFamily="34" charset="0"/>
                <a:ea typeface="+mn-lt"/>
                <a:cs typeface="+mn-lt"/>
              </a:rPr>
              <a:t>.</a:t>
            </a:r>
            <a:endParaRPr lang="en-US" dirty="0">
              <a:latin typeface="Trebuchet MS" panose="020B0603020202020204" pitchFamily="34" charset="0"/>
            </a:endParaRPr>
          </a:p>
          <a:p>
            <a:pPr marL="285750" indent="-285750" algn="just">
              <a:buFont typeface="Arial" panose="020B0604020202020204" pitchFamily="34" charset="0"/>
              <a:buChar char="•"/>
            </a:pPr>
            <a:endParaRPr lang="en-US" sz="1800" dirty="0">
              <a:solidFill>
                <a:srgbClr val="000000"/>
              </a:solidFill>
              <a:latin typeface="Trebuchet MS" panose="020B0603020202020204" pitchFamily="34" charset="0"/>
              <a:ea typeface="+mn-lt"/>
              <a:cs typeface="+mn-lt"/>
            </a:endParaRPr>
          </a:p>
          <a:p>
            <a:pPr marL="285750" indent="-285750" algn="just">
              <a:buFont typeface="Arial" panose="020B0604020202020204" pitchFamily="34" charset="0"/>
              <a:buChar char="•"/>
            </a:pPr>
            <a:r>
              <a:rPr lang="en-US" sz="1800" dirty="0">
                <a:solidFill>
                  <a:srgbClr val="000000"/>
                </a:solidFill>
                <a:latin typeface="Trebuchet MS" panose="020B0603020202020204" pitchFamily="34" charset="0"/>
                <a:ea typeface="+mn-lt"/>
                <a:cs typeface="+mn-lt"/>
              </a:rPr>
              <a:t>Al </a:t>
            </a:r>
            <a:r>
              <a:rPr lang="en-US" sz="1800" dirty="0" err="1">
                <a:solidFill>
                  <a:srgbClr val="000000"/>
                </a:solidFill>
                <a:latin typeface="Trebuchet MS" panose="020B0603020202020204" pitchFamily="34" charset="0"/>
                <a:ea typeface="+mn-lt"/>
                <a:cs typeface="+mn-lt"/>
              </a:rPr>
              <a:t>utilizar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varias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capas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seguridad</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desde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el</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nivel</a:t>
            </a:r>
            <a:r>
              <a:rPr lang="en-US" sz="1800" dirty="0">
                <a:solidFill>
                  <a:srgbClr val="000000"/>
                </a:solidFill>
                <a:latin typeface="Trebuchet MS" panose="020B0603020202020204" pitchFamily="34" charset="0"/>
                <a:ea typeface="+mn-lt"/>
                <a:cs typeface="+mn-lt"/>
              </a:rPr>
              <a:t> de red hasta la </a:t>
            </a: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se </a:t>
            </a:r>
            <a:r>
              <a:rPr lang="en-US" sz="1800" dirty="0" err="1">
                <a:solidFill>
                  <a:srgbClr val="000000"/>
                </a:solidFill>
                <a:latin typeface="Trebuchet MS" panose="020B0603020202020204" pitchFamily="34" charset="0"/>
                <a:ea typeface="+mn-lt"/>
                <a:cs typeface="+mn-lt"/>
              </a:rPr>
              <a:t>crea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una</a:t>
            </a:r>
            <a:r>
              <a:rPr lang="en-US" sz="1800" dirty="0">
                <a:solidFill>
                  <a:srgbClr val="000000"/>
                </a:solidFill>
                <a:latin typeface="Trebuchet MS" panose="020B0603020202020204" pitchFamily="34" charset="0"/>
                <a:ea typeface="+mn-lt"/>
                <a:cs typeface="+mn-lt"/>
              </a:rPr>
              <a:t> barrera </a:t>
            </a:r>
            <a:r>
              <a:rPr lang="en-US" sz="1800" dirty="0" err="1">
                <a:solidFill>
                  <a:srgbClr val="000000"/>
                </a:solidFill>
                <a:latin typeface="Trebuchet MS" panose="020B0603020202020204" pitchFamily="34" charset="0"/>
                <a:ea typeface="+mn-lt"/>
                <a:cs typeface="+mn-lt"/>
              </a:rPr>
              <a:t>más</a:t>
            </a:r>
            <a:r>
              <a:rPr lang="en-US" sz="1800" dirty="0">
                <a:solidFill>
                  <a:srgbClr val="000000"/>
                </a:solidFill>
                <a:latin typeface="Trebuchet MS" panose="020B0603020202020204" pitchFamily="34" charset="0"/>
                <a:ea typeface="+mn-lt"/>
                <a:cs typeface="+mn-lt"/>
              </a:rPr>
              <a:t> robusta contra </a:t>
            </a:r>
            <a:r>
              <a:rPr lang="en-US" sz="1800" dirty="0" err="1">
                <a:solidFill>
                  <a:srgbClr val="000000"/>
                </a:solidFill>
                <a:latin typeface="Trebuchet MS" panose="020B0603020202020204" pitchFamily="34" charset="0"/>
                <a:ea typeface="+mn-lt"/>
                <a:cs typeface="+mn-lt"/>
              </a:rPr>
              <a:t>posibles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ataques</a:t>
            </a:r>
            <a:r>
              <a:rPr lang="en-US" sz="1800" dirty="0">
                <a:solidFill>
                  <a:srgbClr val="000000"/>
                </a:solidFill>
                <a:latin typeface="Trebuchet MS" panose="020B0603020202020204" pitchFamily="34" charset="0"/>
                <a:ea typeface="+mn-lt"/>
                <a:cs typeface="+mn-lt"/>
              </a:rPr>
              <a:t>.</a:t>
            </a:r>
          </a:p>
        </p:txBody>
      </p:sp>
      <p:pic>
        <p:nvPicPr>
          <p:cNvPr id="9" name="Picture 1">
            <a:extLst>
              <a:ext uri="{FF2B5EF4-FFF2-40B4-BE49-F238E27FC236}">
                <a16:creationId xmlns:a16="http://schemas.microsoft.com/office/drawing/2014/main" id="{FFFE185D-8C9F-1743-176A-A1C65F849910}"/>
              </a:ext>
            </a:extLst>
          </p:cNvPr>
          <p:cNvPicPr>
            <a:picLocks noChangeAspect="1"/>
          </p:cNvPicPr>
          <p:nvPr/>
        </p:nvPicPr>
        <p:blipFill>
          <a:blip r:embed="rId4"/>
          <a:stretch>
            <a:fillRect/>
          </a:stretch>
        </p:blipFill>
        <p:spPr>
          <a:xfrm>
            <a:off x="2749815" y="3133387"/>
            <a:ext cx="6692369" cy="2408214"/>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22CB2C09-C541-A1A5-D86B-39F1C617D8A6}"/>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07297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7828D-CFCF-8F1E-5D8B-6A634AD6868C}"/>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3A615266-073B-3570-871A-F83BF3F4900A}"/>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98B9CEDD-2C7B-C57B-430A-65B15A64DAC7}"/>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Encriptación y </a:t>
            </a:r>
            <a:r>
              <a:rPr lang="es-ES" dirty="0" err="1">
                <a:solidFill>
                  <a:schemeClr val="tx1">
                    <a:lumMod val="75000"/>
                    <a:lumOff val="25000"/>
                  </a:schemeClr>
                </a:solidFill>
              </a:rPr>
              <a:t>Hashing</a:t>
            </a:r>
            <a:endParaRPr lang="es-ES" dirty="0">
              <a:solidFill>
                <a:schemeClr val="tx1">
                  <a:lumMod val="75000"/>
                  <a:lumOff val="25000"/>
                </a:schemeClr>
              </a:solidFill>
            </a:endParaRPr>
          </a:p>
        </p:txBody>
      </p:sp>
      <p:pic>
        <p:nvPicPr>
          <p:cNvPr id="20" name="Imagen 19" descr="Texto&#10;&#10;El contenido generado por IA puede ser incorrecto.">
            <a:extLst>
              <a:ext uri="{FF2B5EF4-FFF2-40B4-BE49-F238E27FC236}">
                <a16:creationId xmlns:a16="http://schemas.microsoft.com/office/drawing/2014/main" id="{9080D6C7-0B8C-B124-253B-B078813E2017}"/>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1" name="TextBox 5">
            <a:extLst>
              <a:ext uri="{FF2B5EF4-FFF2-40B4-BE49-F238E27FC236}">
                <a16:creationId xmlns:a16="http://schemas.microsoft.com/office/drawing/2014/main" id="{92CCA2DD-07E1-A8D7-88D3-E35A086FAA27}"/>
              </a:ext>
            </a:extLst>
          </p:cNvPr>
          <p:cNvSpPr txBox="1"/>
          <p:nvPr/>
        </p:nvSpPr>
        <p:spPr>
          <a:xfrm>
            <a:off x="506466" y="1298521"/>
            <a:ext cx="994243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sz="1800" dirty="0">
                <a:solidFill>
                  <a:srgbClr val="000000"/>
                </a:solidFill>
                <a:latin typeface="Trebuchet MS" panose="020B0603020202020204" pitchFamily="34" charset="0"/>
                <a:ea typeface="+mn-lt"/>
                <a:cs typeface="+mn-lt"/>
              </a:rPr>
              <a:t>Fundamental para </a:t>
            </a:r>
            <a:r>
              <a:rPr lang="en-US" sz="1800" dirty="0" err="1">
                <a:solidFill>
                  <a:srgbClr val="000000"/>
                </a:solidFill>
                <a:latin typeface="Trebuchet MS" panose="020B0603020202020204" pitchFamily="34" charset="0"/>
                <a:ea typeface="+mn-lt"/>
                <a:cs typeface="+mn-lt"/>
              </a:rPr>
              <a:t>proteger</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confidencialidad</a:t>
            </a:r>
            <a:r>
              <a:rPr lang="en-US" sz="1800" dirty="0">
                <a:solidFill>
                  <a:srgbClr val="000000"/>
                </a:solidFill>
                <a:latin typeface="Trebuchet MS" panose="020B0603020202020204" pitchFamily="34" charset="0"/>
                <a:ea typeface="+mn-lt"/>
                <a:cs typeface="+mn-lt"/>
              </a:rPr>
              <a:t> e </a:t>
            </a:r>
            <a:r>
              <a:rPr lang="en-US" sz="1800" dirty="0" err="1">
                <a:solidFill>
                  <a:srgbClr val="000000"/>
                </a:solidFill>
                <a:latin typeface="Trebuchet MS" panose="020B0603020202020204" pitchFamily="34" charset="0"/>
                <a:ea typeface="+mn-lt"/>
                <a:cs typeface="+mn-lt"/>
              </a:rPr>
              <a:t>integridad</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tránsito</a:t>
            </a:r>
            <a:r>
              <a:rPr lang="en-US" sz="1800" dirty="0">
                <a:solidFill>
                  <a:srgbClr val="000000"/>
                </a:solidFill>
                <a:latin typeface="Trebuchet MS" panose="020B0603020202020204" pitchFamily="34" charset="0"/>
                <a:ea typeface="+mn-lt"/>
                <a:cs typeface="+mn-lt"/>
              </a:rPr>
              <a:t> y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reposo</a:t>
            </a:r>
            <a:r>
              <a:rPr lang="en-US" sz="1800" dirty="0">
                <a:solidFill>
                  <a:srgbClr val="000000"/>
                </a:solidFill>
                <a:latin typeface="Trebuchet MS" panose="020B0603020202020204" pitchFamily="34" charset="0"/>
                <a:ea typeface="+mn-lt"/>
                <a:cs typeface="+mn-lt"/>
              </a:rPr>
              <a:t>.</a:t>
            </a:r>
            <a:endParaRPr lang="en-US" sz="1800" dirty="0">
              <a:solidFill>
                <a:srgbClr val="000000"/>
              </a:solidFill>
              <a:latin typeface="Trebuchet MS" panose="020B0603020202020204" pitchFamily="34" charset="0"/>
              <a:cs typeface="Calibri"/>
            </a:endParaRPr>
          </a:p>
          <a:p>
            <a:pPr marL="285750" indent="-285750" algn="just">
              <a:buFont typeface="Arial" panose="020B0604020202020204" pitchFamily="34" charset="0"/>
              <a:buChar char="•"/>
            </a:pPr>
            <a:endParaRPr lang="en-US" sz="1800" dirty="0">
              <a:solidFill>
                <a:srgbClr val="000000"/>
              </a:solidFill>
              <a:latin typeface="Trebuchet MS" panose="020B0603020202020204" pitchFamily="34" charset="0"/>
              <a:ea typeface="+mn-lt"/>
              <a:cs typeface="+mn-lt"/>
            </a:endParaRPr>
          </a:p>
          <a:p>
            <a:pPr marL="285750" indent="-285750" algn="just">
              <a:buFont typeface="Arial" panose="020B0604020202020204" pitchFamily="34" charset="0"/>
              <a:buChar char="•"/>
            </a:pPr>
            <a:r>
              <a:rPr lang="en-US" sz="1800" dirty="0">
                <a:solidFill>
                  <a:srgbClr val="000000"/>
                </a:solidFill>
                <a:latin typeface="Trebuchet MS" panose="020B0603020202020204" pitchFamily="34" charset="0"/>
                <a:ea typeface="+mn-lt"/>
                <a:cs typeface="+mn-lt"/>
              </a:rPr>
              <a:t>La </a:t>
            </a:r>
            <a:r>
              <a:rPr lang="en-US" sz="1800" dirty="0" err="1">
                <a:solidFill>
                  <a:srgbClr val="000000"/>
                </a:solidFill>
                <a:latin typeface="Trebuchet MS" panose="020B0603020202020204" pitchFamily="34" charset="0"/>
                <a:ea typeface="+mn-lt"/>
                <a:cs typeface="+mn-lt"/>
              </a:rPr>
              <a:t>encriptación</a:t>
            </a:r>
            <a:r>
              <a:rPr lang="en-US" sz="1800" dirty="0">
                <a:solidFill>
                  <a:srgbClr val="000000"/>
                </a:solidFill>
                <a:latin typeface="Trebuchet MS" panose="020B0603020202020204" pitchFamily="34" charset="0"/>
                <a:ea typeface="+mn-lt"/>
                <a:cs typeface="+mn-lt"/>
              </a:rPr>
              <a:t> protege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sensibles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mientras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están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almacenados</a:t>
            </a:r>
            <a:r>
              <a:rPr lang="en-US" sz="1800" dirty="0">
                <a:solidFill>
                  <a:srgbClr val="000000"/>
                </a:solidFill>
                <a:latin typeface="Trebuchet MS" panose="020B0603020202020204" pitchFamily="34" charset="0"/>
                <a:ea typeface="+mn-lt"/>
                <a:cs typeface="+mn-lt"/>
              </a:rPr>
              <a:t> o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movimiento</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mientras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que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el</a:t>
            </a:r>
            <a:r>
              <a:rPr lang="en-US" sz="1800" dirty="0">
                <a:solidFill>
                  <a:srgbClr val="000000"/>
                </a:solidFill>
                <a:latin typeface="Trebuchet MS" panose="020B0603020202020204" pitchFamily="34" charset="0"/>
                <a:ea typeface="+mn-lt"/>
                <a:cs typeface="+mn-lt"/>
              </a:rPr>
              <a:t> hashing </a:t>
            </a:r>
            <a:r>
              <a:rPr lang="en-US" sz="1800" dirty="0" err="1">
                <a:solidFill>
                  <a:srgbClr val="000000"/>
                </a:solidFill>
                <a:latin typeface="Trebuchet MS" panose="020B0603020202020204" pitchFamily="34" charset="0"/>
                <a:ea typeface="+mn-lt"/>
                <a:cs typeface="+mn-lt"/>
              </a:rPr>
              <a:t>garantiza</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integridad</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al </a:t>
            </a:r>
            <a:r>
              <a:rPr lang="en-US" sz="1800" dirty="0" err="1">
                <a:solidFill>
                  <a:srgbClr val="000000"/>
                </a:solidFill>
                <a:latin typeface="Trebuchet MS" panose="020B0603020202020204" pitchFamily="34" charset="0"/>
                <a:ea typeface="+mn-lt"/>
                <a:cs typeface="+mn-lt"/>
              </a:rPr>
              <a:t>producir</a:t>
            </a:r>
            <a:r>
              <a:rPr lang="en-US" sz="1800" dirty="0">
                <a:solidFill>
                  <a:srgbClr val="000000"/>
                </a:solidFill>
                <a:latin typeface="Trebuchet MS" panose="020B0603020202020204" pitchFamily="34" charset="0"/>
                <a:ea typeface="+mn-lt"/>
                <a:cs typeface="+mn-lt"/>
              </a:rPr>
              <a:t> un valor </a:t>
            </a:r>
            <a:r>
              <a:rPr lang="en-US" sz="1800" dirty="0" err="1">
                <a:solidFill>
                  <a:srgbClr val="000000"/>
                </a:solidFill>
                <a:latin typeface="Trebuchet MS" panose="020B0603020202020204" pitchFamily="34" charset="0"/>
                <a:ea typeface="+mn-lt"/>
                <a:cs typeface="+mn-lt"/>
              </a:rPr>
              <a:t>único</a:t>
            </a:r>
            <a:r>
              <a:rPr lang="en-US" sz="1800" dirty="0">
                <a:solidFill>
                  <a:srgbClr val="000000"/>
                </a:solidFill>
                <a:latin typeface="Trebuchet MS" panose="020B0603020202020204" pitchFamily="34" charset="0"/>
                <a:ea typeface="+mn-lt"/>
                <a:cs typeface="+mn-lt"/>
              </a:rPr>
              <a:t> e irreversible.</a:t>
            </a:r>
          </a:p>
        </p:txBody>
      </p:sp>
      <p:pic>
        <p:nvPicPr>
          <p:cNvPr id="12" name="Imagen 11" descr="Un tipo sobre un ordenador intentando abrir una cerradura">
            <a:extLst>
              <a:ext uri="{FF2B5EF4-FFF2-40B4-BE49-F238E27FC236}">
                <a16:creationId xmlns:a16="http://schemas.microsoft.com/office/drawing/2014/main" id="{D1DC981A-4787-A02F-A7DF-A940859B4E1A}"/>
              </a:ext>
            </a:extLst>
          </p:cNvPr>
          <p:cNvPicPr>
            <a:picLocks noChangeAspect="1"/>
          </p:cNvPicPr>
          <p:nvPr/>
        </p:nvPicPr>
        <p:blipFill rotWithShape="1">
          <a:blip r:embed="rId4"/>
          <a:srcRect l="10454" t="19091" r="43182" b="12273"/>
          <a:stretch/>
        </p:blipFill>
        <p:spPr>
          <a:xfrm>
            <a:off x="4420398" y="3291667"/>
            <a:ext cx="3351204" cy="2482098"/>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2672E2A3-9604-24F8-600F-03973827D59D}"/>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790369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80024-AF89-95F1-51FD-B58340E0D361}"/>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EC619086-A039-5079-42EB-C7DC788C78C4}"/>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25C5CAEC-030A-6FD4-B23E-4D19FB057C8E}"/>
              </a:ext>
            </a:extLst>
          </p:cNvPr>
          <p:cNvSpPr txBox="1"/>
          <p:nvPr/>
        </p:nvSpPr>
        <p:spPr>
          <a:xfrm>
            <a:off x="429768" y="251936"/>
            <a:ext cx="9884664"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Protección de Datos Sensibles en Memoria</a:t>
            </a:r>
          </a:p>
        </p:txBody>
      </p:sp>
      <p:pic>
        <p:nvPicPr>
          <p:cNvPr id="20" name="Imagen 19" descr="Texto&#10;&#10;El contenido generado por IA puede ser incorrecto.">
            <a:extLst>
              <a:ext uri="{FF2B5EF4-FFF2-40B4-BE49-F238E27FC236}">
                <a16:creationId xmlns:a16="http://schemas.microsoft.com/office/drawing/2014/main" id="{213141D5-6CCB-C572-6410-983F79B4FCEA}"/>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8" name="TextBox 5">
            <a:extLst>
              <a:ext uri="{FF2B5EF4-FFF2-40B4-BE49-F238E27FC236}">
                <a16:creationId xmlns:a16="http://schemas.microsoft.com/office/drawing/2014/main" id="{4E516FF8-4BCE-8CDE-A0F5-0A8E667E4464}"/>
              </a:ext>
            </a:extLst>
          </p:cNvPr>
          <p:cNvSpPr txBox="1"/>
          <p:nvPr/>
        </p:nvSpPr>
        <p:spPr>
          <a:xfrm>
            <a:off x="377066" y="1496931"/>
            <a:ext cx="994243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dirty="0">
                <a:solidFill>
                  <a:srgbClr val="000000"/>
                </a:solidFill>
                <a:latin typeface="Trebuchet MS" panose="020B0603020202020204" pitchFamily="34" charset="0"/>
                <a:ea typeface="+mn-lt"/>
                <a:cs typeface="+mn-lt"/>
              </a:rPr>
              <a:t>Es </a:t>
            </a:r>
            <a:r>
              <a:rPr lang="en-US" sz="1800" dirty="0" err="1">
                <a:solidFill>
                  <a:srgbClr val="000000"/>
                </a:solidFill>
                <a:latin typeface="Trebuchet MS" panose="020B0603020202020204" pitchFamily="34" charset="0"/>
                <a:ea typeface="+mn-lt"/>
                <a:cs typeface="+mn-lt"/>
              </a:rPr>
              <a:t>importante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proteger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sensibles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la memoria de la </a:t>
            </a: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para </a:t>
            </a:r>
            <a:r>
              <a:rPr lang="en-US" sz="1800" dirty="0" err="1">
                <a:solidFill>
                  <a:srgbClr val="000000"/>
                </a:solidFill>
                <a:latin typeface="Trebuchet MS" panose="020B0603020202020204" pitchFamily="34" charset="0"/>
                <a:ea typeface="+mn-lt"/>
                <a:cs typeface="+mn-lt"/>
              </a:rPr>
              <a:t>evitar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fugas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información</a:t>
            </a:r>
            <a:r>
              <a:rPr lang="en-US" sz="1800" dirty="0">
                <a:solidFill>
                  <a:srgbClr val="000000"/>
                </a:solidFill>
                <a:latin typeface="Trebuchet MS" panose="020B0603020202020204" pitchFamily="34" charset="0"/>
                <a:ea typeface="+mn-lt"/>
                <a:cs typeface="+mn-lt"/>
              </a:rPr>
              <a:t> a </a:t>
            </a:r>
            <a:r>
              <a:rPr lang="en-US" sz="1800" dirty="0" err="1">
                <a:solidFill>
                  <a:srgbClr val="000000"/>
                </a:solidFill>
                <a:latin typeface="Trebuchet MS" panose="020B0603020202020204" pitchFamily="34" charset="0"/>
                <a:ea typeface="+mn-lt"/>
                <a:cs typeface="+mn-lt"/>
              </a:rPr>
              <a:t>través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vulnerabilidades</a:t>
            </a:r>
            <a:r>
              <a:rPr lang="en-US" sz="1800" dirty="0">
                <a:solidFill>
                  <a:srgbClr val="000000"/>
                </a:solidFill>
                <a:latin typeface="Trebuchet MS" panose="020B0603020202020204" pitchFamily="34" charset="0"/>
                <a:ea typeface="+mn-lt"/>
                <a:cs typeface="+mn-lt"/>
              </a:rPr>
              <a:t>. </a:t>
            </a:r>
          </a:p>
          <a:p>
            <a:pPr algn="just"/>
            <a:endParaRPr lang="en-US" sz="1800" dirty="0">
              <a:solidFill>
                <a:srgbClr val="000000"/>
              </a:solidFill>
              <a:latin typeface="Trebuchet MS" panose="020B0603020202020204" pitchFamily="34" charset="0"/>
              <a:ea typeface="+mn-lt"/>
              <a:cs typeface="+mn-lt"/>
            </a:endParaRPr>
          </a:p>
          <a:p>
            <a:pPr algn="just"/>
            <a:r>
              <a:rPr lang="en-US" sz="1800" dirty="0">
                <a:solidFill>
                  <a:srgbClr val="000000"/>
                </a:solidFill>
                <a:latin typeface="Trebuchet MS" panose="020B0603020202020204" pitchFamily="34" charset="0"/>
                <a:ea typeface="+mn-lt"/>
                <a:cs typeface="+mn-lt"/>
              </a:rPr>
              <a:t>Uso de </a:t>
            </a:r>
            <a:r>
              <a:rPr lang="en-US" sz="1800" dirty="0" err="1">
                <a:solidFill>
                  <a:srgbClr val="000000"/>
                </a:solidFill>
                <a:latin typeface="Trebuchet MS" panose="020B0603020202020204" pitchFamily="34" charset="0"/>
                <a:ea typeface="+mn-lt"/>
                <a:cs typeface="+mn-lt"/>
              </a:rPr>
              <a:t>técnicas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como</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gestión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segura</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objetos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sensibles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el</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uso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métodos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acceso</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controlado</a:t>
            </a:r>
            <a:r>
              <a:rPr lang="en-US" sz="1800" dirty="0">
                <a:solidFill>
                  <a:srgbClr val="000000"/>
                </a:solidFill>
                <a:latin typeface="Trebuchet MS" panose="020B0603020202020204" pitchFamily="34" charset="0"/>
                <a:ea typeface="+mn-lt"/>
                <a:cs typeface="+mn-lt"/>
              </a:rPr>
              <a:t> y la </a:t>
            </a:r>
            <a:r>
              <a:rPr lang="en-US" sz="1800" dirty="0" err="1">
                <a:solidFill>
                  <a:srgbClr val="000000"/>
                </a:solidFill>
                <a:latin typeface="Trebuchet MS" panose="020B0603020202020204" pitchFamily="34" charset="0"/>
                <a:ea typeface="+mn-lt"/>
                <a:cs typeface="+mn-lt"/>
              </a:rPr>
              <a:t>eliminación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segura</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sensibles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después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su</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uso</a:t>
            </a:r>
            <a:r>
              <a:rPr lang="en-US" sz="1800" dirty="0">
                <a:solidFill>
                  <a:srgbClr val="000000"/>
                </a:solidFill>
                <a:latin typeface="Trebuchet MS" panose="020B0603020202020204" pitchFamily="34" charset="0"/>
                <a:ea typeface="+mn-lt"/>
                <a:cs typeface="+mn-lt"/>
              </a:rPr>
              <a:t>.</a:t>
            </a:r>
            <a:endParaRPr lang="en-US" sz="1800" dirty="0">
              <a:solidFill>
                <a:srgbClr val="000000"/>
              </a:solidFill>
              <a:latin typeface="Trebuchet MS" panose="020B0603020202020204" pitchFamily="34" charset="0"/>
            </a:endParaRPr>
          </a:p>
        </p:txBody>
      </p:sp>
      <p:pic>
        <p:nvPicPr>
          <p:cNvPr id="11" name="Imagen 10">
            <a:extLst>
              <a:ext uri="{FF2B5EF4-FFF2-40B4-BE49-F238E27FC236}">
                <a16:creationId xmlns:a16="http://schemas.microsoft.com/office/drawing/2014/main" id="{704ADBC1-4FCD-13F9-6CFB-ABCA35D0DE3B}"/>
              </a:ext>
            </a:extLst>
          </p:cNvPr>
          <p:cNvPicPr>
            <a:picLocks noChangeAspect="1"/>
          </p:cNvPicPr>
          <p:nvPr/>
        </p:nvPicPr>
        <p:blipFill rotWithShape="1">
          <a:blip r:embed="rId4"/>
          <a:srcRect l="23358" t="18735" r="23601" b="18735"/>
          <a:stretch/>
        </p:blipFill>
        <p:spPr>
          <a:xfrm>
            <a:off x="4894389" y="3196638"/>
            <a:ext cx="2403221" cy="2833885"/>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C4099DF9-B96A-FCAF-39B9-A3466C6284A7}"/>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441419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E0444-77DD-BB15-0F7A-EF00AFF3CEF8}"/>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4FCF3D54-D9D9-DAF3-F810-3B304934E34F}"/>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3C28E5EB-BFF4-3D16-A34E-D9A291CF1D45}"/>
              </a:ext>
            </a:extLst>
          </p:cNvPr>
          <p:cNvSpPr txBox="1"/>
          <p:nvPr/>
        </p:nvSpPr>
        <p:spPr>
          <a:xfrm>
            <a:off x="429768" y="251936"/>
            <a:ext cx="9884664"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Gestión Segura de Credenciales y Secretos</a:t>
            </a:r>
          </a:p>
        </p:txBody>
      </p:sp>
      <p:pic>
        <p:nvPicPr>
          <p:cNvPr id="20" name="Imagen 19" descr="Texto&#10;&#10;El contenido generado por IA puede ser incorrecto.">
            <a:extLst>
              <a:ext uri="{FF2B5EF4-FFF2-40B4-BE49-F238E27FC236}">
                <a16:creationId xmlns:a16="http://schemas.microsoft.com/office/drawing/2014/main" id="{3F45338C-0820-8C2E-BDDD-71C1C3E9264B}"/>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4" name="TextBox 5">
            <a:extLst>
              <a:ext uri="{FF2B5EF4-FFF2-40B4-BE49-F238E27FC236}">
                <a16:creationId xmlns:a16="http://schemas.microsoft.com/office/drawing/2014/main" id="{3DDEB29F-4CF6-C898-5177-931553F71857}"/>
              </a:ext>
            </a:extLst>
          </p:cNvPr>
          <p:cNvSpPr txBox="1"/>
          <p:nvPr/>
        </p:nvSpPr>
        <p:spPr>
          <a:xfrm>
            <a:off x="377066" y="1298522"/>
            <a:ext cx="994243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sz="1800" dirty="0">
                <a:solidFill>
                  <a:srgbClr val="000000"/>
                </a:solidFill>
                <a:latin typeface="Trebuchet MS" panose="020B0603020202020204" pitchFamily="34" charset="0"/>
                <a:ea typeface="+mn-lt"/>
                <a:cs typeface="+mn-lt"/>
              </a:rPr>
              <a:t>Crucial para </a:t>
            </a:r>
            <a:r>
              <a:rPr lang="en-US" sz="1800" dirty="0" err="1">
                <a:solidFill>
                  <a:srgbClr val="000000"/>
                </a:solidFill>
                <a:latin typeface="Trebuchet MS" panose="020B0603020202020204" pitchFamily="34" charset="0"/>
                <a:ea typeface="+mn-lt"/>
                <a:cs typeface="+mn-lt"/>
              </a:rPr>
              <a:t>prevenir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accesos</a:t>
            </a:r>
            <a:r>
              <a:rPr lang="en-US" sz="1800" dirty="0">
                <a:solidFill>
                  <a:srgbClr val="000000"/>
                </a:solidFill>
                <a:latin typeface="Trebuchet MS" panose="020B0603020202020204" pitchFamily="34" charset="0"/>
                <a:ea typeface="+mn-lt"/>
                <a:cs typeface="+mn-lt"/>
              </a:rPr>
              <a:t> no </a:t>
            </a:r>
            <a:r>
              <a:rPr lang="en-US" sz="1800" dirty="0" err="1">
                <a:solidFill>
                  <a:srgbClr val="000000"/>
                </a:solidFill>
                <a:latin typeface="Trebuchet MS" panose="020B0603020202020204" pitchFamily="34" charset="0"/>
                <a:ea typeface="+mn-lt"/>
                <a:cs typeface="+mn-lt"/>
              </a:rPr>
              <a:t>autorizados</a:t>
            </a:r>
            <a:r>
              <a:rPr lang="en-US" sz="1800" dirty="0">
                <a:solidFill>
                  <a:srgbClr val="000000"/>
                </a:solidFill>
                <a:latin typeface="Trebuchet MS" panose="020B0603020202020204" pitchFamily="34" charset="0"/>
                <a:ea typeface="+mn-lt"/>
                <a:cs typeface="+mn-lt"/>
              </a:rPr>
              <a:t> a </a:t>
            </a:r>
            <a:r>
              <a:rPr lang="en-US" sz="1800" dirty="0" err="1">
                <a:solidFill>
                  <a:srgbClr val="000000"/>
                </a:solidFill>
                <a:latin typeface="Trebuchet MS" panose="020B0603020202020204" pitchFamily="34" charset="0"/>
                <a:ea typeface="+mn-lt"/>
                <a:cs typeface="+mn-lt"/>
              </a:rPr>
              <a:t>sistemas</a:t>
            </a:r>
            <a:r>
              <a:rPr lang="en-US" sz="1800" dirty="0">
                <a:solidFill>
                  <a:srgbClr val="000000"/>
                </a:solidFill>
                <a:latin typeface="Trebuchet MS" panose="020B0603020202020204" pitchFamily="34" charset="0"/>
                <a:ea typeface="+mn-lt"/>
                <a:cs typeface="+mn-lt"/>
              </a:rPr>
              <a:t> y </a:t>
            </a:r>
            <a:r>
              <a:rPr lang="en-US" sz="1800" dirty="0" err="1">
                <a:solidFill>
                  <a:srgbClr val="000000"/>
                </a:solidFill>
                <a:latin typeface="Trebuchet MS" panose="020B0603020202020204" pitchFamily="34" charset="0"/>
                <a:ea typeface="+mn-lt"/>
                <a:cs typeface="+mn-lt"/>
              </a:rPr>
              <a:t>servicios</a:t>
            </a:r>
            <a:r>
              <a:rPr lang="en-US" sz="1800" dirty="0">
                <a:solidFill>
                  <a:srgbClr val="000000"/>
                </a:solidFill>
                <a:latin typeface="Trebuchet MS" panose="020B0603020202020204" pitchFamily="34" charset="0"/>
                <a:ea typeface="+mn-lt"/>
                <a:cs typeface="+mn-lt"/>
              </a:rPr>
              <a:t>. </a:t>
            </a:r>
          </a:p>
          <a:p>
            <a:pPr marL="285750" indent="-285750" algn="just">
              <a:buFont typeface="Arial" panose="020B0604020202020204" pitchFamily="34" charset="0"/>
              <a:buChar char="•"/>
            </a:pPr>
            <a:endParaRPr lang="en-US" sz="1800" dirty="0">
              <a:solidFill>
                <a:srgbClr val="000000"/>
              </a:solidFill>
              <a:latin typeface="Trebuchet MS" panose="020B0603020202020204" pitchFamily="34" charset="0"/>
              <a:ea typeface="+mn-lt"/>
              <a:cs typeface="+mn-lt"/>
            </a:endParaRPr>
          </a:p>
          <a:p>
            <a:pPr marL="285750" indent="-285750" algn="just">
              <a:buFont typeface="Arial" panose="020B0604020202020204" pitchFamily="34" charset="0"/>
              <a:buChar char="•"/>
            </a:pPr>
            <a:r>
              <a:rPr lang="en-US" sz="1800" dirty="0" err="1">
                <a:solidFill>
                  <a:srgbClr val="000000"/>
                </a:solidFill>
                <a:latin typeface="Trebuchet MS" panose="020B0603020202020204" pitchFamily="34" charset="0"/>
                <a:ea typeface="+mn-lt"/>
                <a:cs typeface="+mn-lt"/>
              </a:rPr>
              <a:t>Almacenamiento</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seguro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credenciales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archivos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configuración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cifrados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el</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uso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sistemas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gestión</a:t>
            </a:r>
            <a:r>
              <a:rPr lang="en-US" sz="1800" dirty="0">
                <a:solidFill>
                  <a:srgbClr val="000000"/>
                </a:solidFill>
                <a:latin typeface="Trebuchet MS" panose="020B0603020202020204" pitchFamily="34" charset="0"/>
                <a:ea typeface="+mn-lt"/>
                <a:cs typeface="+mn-lt"/>
              </a:rPr>
              <a:t> de claves y la </a:t>
            </a:r>
            <a:r>
              <a:rPr lang="en-US" sz="1800" dirty="0" err="1">
                <a:solidFill>
                  <a:srgbClr val="000000"/>
                </a:solidFill>
                <a:latin typeface="Trebuchet MS" panose="020B0603020202020204" pitchFamily="34" charset="0"/>
                <a:ea typeface="+mn-lt"/>
                <a:cs typeface="+mn-lt"/>
              </a:rPr>
              <a:t>rotación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periódica</a:t>
            </a:r>
            <a:r>
              <a:rPr lang="en-US" sz="1800" dirty="0">
                <a:solidFill>
                  <a:srgbClr val="000000"/>
                </a:solidFill>
                <a:latin typeface="Trebuchet MS" panose="020B0603020202020204" pitchFamily="34" charset="0"/>
                <a:ea typeface="+mn-lt"/>
                <a:cs typeface="+mn-lt"/>
              </a:rPr>
              <a:t> de claves para </a:t>
            </a:r>
            <a:r>
              <a:rPr lang="en-US" sz="1800" dirty="0" err="1">
                <a:solidFill>
                  <a:srgbClr val="000000"/>
                </a:solidFill>
                <a:latin typeface="Trebuchet MS" panose="020B0603020202020204" pitchFamily="34" charset="0"/>
                <a:ea typeface="+mn-lt"/>
                <a:cs typeface="+mn-lt"/>
              </a:rPr>
              <a:t>mitigar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el</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riesgo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compromiso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credenciales</a:t>
            </a:r>
            <a:r>
              <a:rPr lang="en-US" sz="1800" dirty="0">
                <a:solidFill>
                  <a:srgbClr val="000000"/>
                </a:solidFill>
                <a:latin typeface="Trebuchet MS" panose="020B0603020202020204" pitchFamily="34" charset="0"/>
                <a:ea typeface="+mn-lt"/>
                <a:cs typeface="+mn-lt"/>
              </a:rPr>
              <a:t>.</a:t>
            </a:r>
            <a:endParaRPr lang="en-US" sz="1800" dirty="0">
              <a:solidFill>
                <a:srgbClr val="000000"/>
              </a:solidFill>
              <a:latin typeface="Trebuchet MS" panose="020B0603020202020204" pitchFamily="34" charset="0"/>
            </a:endParaRPr>
          </a:p>
        </p:txBody>
      </p:sp>
      <p:pic>
        <p:nvPicPr>
          <p:cNvPr id="5" name="Imagen 4" descr="Sign In http://teekid.com/istockphoto/banner/banner3.jpg login page stock pictures, royalty-free photos &amp; images">
            <a:extLst>
              <a:ext uri="{FF2B5EF4-FFF2-40B4-BE49-F238E27FC236}">
                <a16:creationId xmlns:a16="http://schemas.microsoft.com/office/drawing/2014/main" id="{1FB0183D-4620-BCC9-D2FD-C59DDDBC6CFF}"/>
              </a:ext>
            </a:extLst>
          </p:cNvPr>
          <p:cNvPicPr>
            <a:picLocks noChangeAspect="1"/>
          </p:cNvPicPr>
          <p:nvPr/>
        </p:nvPicPr>
        <p:blipFill>
          <a:blip r:embed="rId4"/>
          <a:stretch>
            <a:fillRect/>
          </a:stretch>
        </p:blipFill>
        <p:spPr>
          <a:xfrm>
            <a:off x="3742241" y="2834467"/>
            <a:ext cx="4707518" cy="3106837"/>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6FF49D74-7EFA-5100-9358-EFEB6AD793B9}"/>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314754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CD2AA-FB7B-7346-167C-E7FF8C49767A}"/>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EA9AF2BA-676C-924A-6B59-4C697D6DAF34}"/>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D7AFC26B-AF4A-047A-8532-1E5885DDD173}"/>
              </a:ext>
            </a:extLst>
          </p:cNvPr>
          <p:cNvSpPr txBox="1"/>
          <p:nvPr/>
        </p:nvSpPr>
        <p:spPr>
          <a:xfrm>
            <a:off x="429768" y="251936"/>
            <a:ext cx="9884664"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Técnica de Programación Segura Específicas para .NET/Java</a:t>
            </a:r>
          </a:p>
        </p:txBody>
      </p:sp>
      <p:pic>
        <p:nvPicPr>
          <p:cNvPr id="20" name="Imagen 19" descr="Texto&#10;&#10;El contenido generado por IA puede ser incorrecto.">
            <a:extLst>
              <a:ext uri="{FF2B5EF4-FFF2-40B4-BE49-F238E27FC236}">
                <a16:creationId xmlns:a16="http://schemas.microsoft.com/office/drawing/2014/main" id="{14DEDAF5-7837-5B69-448A-EED2E14BC437}"/>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8" name="TextBox 5">
            <a:extLst>
              <a:ext uri="{FF2B5EF4-FFF2-40B4-BE49-F238E27FC236}">
                <a16:creationId xmlns:a16="http://schemas.microsoft.com/office/drawing/2014/main" id="{6786D10B-A031-FC3F-2615-F5B1D4069B5D}"/>
              </a:ext>
            </a:extLst>
          </p:cNvPr>
          <p:cNvSpPr txBox="1"/>
          <p:nvPr/>
        </p:nvSpPr>
        <p:spPr>
          <a:xfrm>
            <a:off x="377066" y="1565939"/>
            <a:ext cx="994243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dirty="0">
                <a:solidFill>
                  <a:srgbClr val="000000"/>
                </a:solidFill>
                <a:latin typeface="Trebuchet MS" panose="020B0603020202020204" pitchFamily="34" charset="0"/>
                <a:ea typeface="+mn-lt"/>
                <a:cs typeface="+mn-lt"/>
              </a:rPr>
              <a:t>La </a:t>
            </a:r>
            <a:r>
              <a:rPr lang="en-US" sz="1800" dirty="0" err="1">
                <a:solidFill>
                  <a:srgbClr val="000000"/>
                </a:solidFill>
                <a:latin typeface="Trebuchet MS" panose="020B0603020202020204" pitchFamily="34" charset="0"/>
                <a:ea typeface="+mn-lt"/>
                <a:cs typeface="+mn-lt"/>
              </a:rPr>
              <a:t>programación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segura</a:t>
            </a:r>
            <a:r>
              <a:rPr lang="en-US" sz="1800" dirty="0">
                <a:solidFill>
                  <a:srgbClr val="000000"/>
                </a:solidFill>
                <a:latin typeface="Trebuchet MS" panose="020B0603020202020204" pitchFamily="34" charset="0"/>
                <a:ea typeface="+mn-lt"/>
                <a:cs typeface="+mn-lt"/>
              </a:rPr>
              <a:t> se centra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desarrollar</a:t>
            </a:r>
            <a:r>
              <a:rPr lang="en-US" sz="1800" dirty="0">
                <a:solidFill>
                  <a:srgbClr val="000000"/>
                </a:solidFill>
                <a:latin typeface="Trebuchet MS" panose="020B0603020202020204" pitchFamily="34" charset="0"/>
                <a:ea typeface="+mn-lt"/>
                <a:cs typeface="+mn-lt"/>
              </a:rPr>
              <a:t> software </a:t>
            </a:r>
            <a:r>
              <a:rPr lang="en-US" sz="1800" dirty="0" err="1">
                <a:solidFill>
                  <a:srgbClr val="000000"/>
                </a:solidFill>
                <a:latin typeface="Trebuchet MS" panose="020B0603020202020204" pitchFamily="34" charset="0"/>
                <a:ea typeface="+mn-lt"/>
                <a:cs typeface="+mn-lt"/>
              </a:rPr>
              <a:t>resistente</a:t>
            </a:r>
            <a:r>
              <a:rPr lang="en-US" sz="1800" dirty="0">
                <a:solidFill>
                  <a:srgbClr val="000000"/>
                </a:solidFill>
                <a:latin typeface="Trebuchet MS" panose="020B0603020202020204" pitchFamily="34" charset="0"/>
                <a:ea typeface="+mn-lt"/>
                <a:cs typeface="+mn-lt"/>
              </a:rPr>
              <a:t> a </a:t>
            </a:r>
            <a:r>
              <a:rPr lang="en-US" sz="1800" dirty="0" err="1">
                <a:solidFill>
                  <a:srgbClr val="000000"/>
                </a:solidFill>
                <a:latin typeface="Trebuchet MS" panose="020B0603020202020204" pitchFamily="34" charset="0"/>
                <a:ea typeface="+mn-lt"/>
                <a:cs typeface="+mn-lt"/>
              </a:rPr>
              <a:t>ataques</a:t>
            </a:r>
            <a:r>
              <a:rPr lang="en-US" sz="1800" dirty="0">
                <a:solidFill>
                  <a:srgbClr val="000000"/>
                </a:solidFill>
                <a:latin typeface="Trebuchet MS" panose="020B0603020202020204" pitchFamily="34" charset="0"/>
                <a:ea typeface="+mn-lt"/>
                <a:cs typeface="+mn-lt"/>
              </a:rPr>
              <a:t> y </a:t>
            </a:r>
            <a:r>
              <a:rPr lang="en-US" sz="1800" dirty="0" err="1">
                <a:solidFill>
                  <a:srgbClr val="000000"/>
                </a:solidFill>
                <a:latin typeface="Trebuchet MS" panose="020B0603020202020204" pitchFamily="34" charset="0"/>
                <a:ea typeface="+mn-lt"/>
                <a:cs typeface="+mn-lt"/>
              </a:rPr>
              <a:t>vulnerabilidades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Implica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aplicar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técnicas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que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protegen</a:t>
            </a:r>
            <a:r>
              <a:rPr lang="en-US" sz="1800" dirty="0">
                <a:solidFill>
                  <a:srgbClr val="000000"/>
                </a:solidFill>
                <a:latin typeface="Trebuchet MS" panose="020B0603020202020204" pitchFamily="34" charset="0"/>
                <a:ea typeface="+mn-lt"/>
                <a:cs typeface="+mn-lt"/>
              </a:rPr>
              <a:t> a las </a:t>
            </a:r>
            <a:r>
              <a:rPr lang="en-US" sz="1800" dirty="0" err="1">
                <a:solidFill>
                  <a:srgbClr val="000000"/>
                </a:solidFill>
                <a:latin typeface="Trebuchet MS" panose="020B0603020202020204" pitchFamily="34" charset="0"/>
                <a:ea typeface="+mn-lt"/>
                <a:cs typeface="+mn-lt"/>
              </a:rPr>
              <a:t>aplicaciones</a:t>
            </a:r>
            <a:r>
              <a:rPr lang="en-US" sz="1800" dirty="0">
                <a:solidFill>
                  <a:srgbClr val="000000"/>
                </a:solidFill>
                <a:latin typeface="Trebuchet MS" panose="020B0603020202020204" pitchFamily="34" charset="0"/>
                <a:ea typeface="+mn-lt"/>
                <a:cs typeface="+mn-lt"/>
              </a:rPr>
              <a:t> contra </a:t>
            </a:r>
            <a:r>
              <a:rPr lang="en-US" sz="1800" dirty="0" err="1">
                <a:solidFill>
                  <a:srgbClr val="000000"/>
                </a:solidFill>
                <a:latin typeface="Trebuchet MS" panose="020B0603020202020204" pitchFamily="34" charset="0"/>
                <a:ea typeface="+mn-lt"/>
                <a:cs typeface="+mn-lt"/>
              </a:rPr>
              <a:t>posibles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amenazas</a:t>
            </a:r>
            <a:r>
              <a:rPr lang="en-US" sz="1800" dirty="0">
                <a:solidFill>
                  <a:srgbClr val="000000"/>
                </a:solidFill>
                <a:latin typeface="Trebuchet MS" panose="020B0603020202020204" pitchFamily="34" charset="0"/>
                <a:ea typeface="+mn-lt"/>
                <a:cs typeface="+mn-lt"/>
              </a:rPr>
              <a:t> y </a:t>
            </a:r>
            <a:r>
              <a:rPr lang="en-US" sz="1800" dirty="0" err="1">
                <a:solidFill>
                  <a:srgbClr val="000000"/>
                </a:solidFill>
                <a:latin typeface="Trebuchet MS" panose="020B0603020202020204" pitchFamily="34" charset="0"/>
                <a:ea typeface="+mn-lt"/>
                <a:cs typeface="+mn-lt"/>
              </a:rPr>
              <a:t>aseguran</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integridad</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a:t>
            </a:r>
          </a:p>
        </p:txBody>
      </p:sp>
      <p:pic>
        <p:nvPicPr>
          <p:cNvPr id="11" name="Picture 1">
            <a:extLst>
              <a:ext uri="{FF2B5EF4-FFF2-40B4-BE49-F238E27FC236}">
                <a16:creationId xmlns:a16="http://schemas.microsoft.com/office/drawing/2014/main" id="{045A0EA5-0C6A-0C63-0CF6-0B44AC999858}"/>
              </a:ext>
            </a:extLst>
          </p:cNvPr>
          <p:cNvPicPr>
            <a:picLocks noChangeAspect="1"/>
          </p:cNvPicPr>
          <p:nvPr/>
        </p:nvPicPr>
        <p:blipFill>
          <a:blip r:embed="rId4"/>
          <a:stretch>
            <a:fillRect/>
          </a:stretch>
        </p:blipFill>
        <p:spPr>
          <a:xfrm>
            <a:off x="3552597" y="2858029"/>
            <a:ext cx="5086806" cy="3021406"/>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DCD5D565-1034-37CF-F688-16E54E8FE52A}"/>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981342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6191-6230-E3B6-E48D-0F3EEBD74CA5}"/>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BFE8ABE5-B040-1226-1B56-D2A78D6AA07A}"/>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558BBAE3-AD79-1DDD-42E2-4F385359703C}"/>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Validación de Entrada de Usuario</a:t>
            </a:r>
          </a:p>
        </p:txBody>
      </p:sp>
      <p:pic>
        <p:nvPicPr>
          <p:cNvPr id="20" name="Imagen 19" descr="Texto&#10;&#10;El contenido generado por IA puede ser incorrecto.">
            <a:extLst>
              <a:ext uri="{FF2B5EF4-FFF2-40B4-BE49-F238E27FC236}">
                <a16:creationId xmlns:a16="http://schemas.microsoft.com/office/drawing/2014/main" id="{7A3E9891-50F7-D224-0D38-D9484F3636A3}"/>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4" name="TextBox 5">
            <a:extLst>
              <a:ext uri="{FF2B5EF4-FFF2-40B4-BE49-F238E27FC236}">
                <a16:creationId xmlns:a16="http://schemas.microsoft.com/office/drawing/2014/main" id="{7EB79994-D07B-0FD3-F5CE-E63479F5AFF0}"/>
              </a:ext>
            </a:extLst>
          </p:cNvPr>
          <p:cNvSpPr txBox="1"/>
          <p:nvPr/>
        </p:nvSpPr>
        <p:spPr>
          <a:xfrm>
            <a:off x="377066" y="1074239"/>
            <a:ext cx="994243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dirty="0" err="1">
                <a:solidFill>
                  <a:srgbClr val="000000"/>
                </a:solidFill>
                <a:latin typeface="Trebuchet MS" panose="020B0603020202020204" pitchFamily="34" charset="0"/>
                <a:ea typeface="+mn-lt"/>
                <a:cs typeface="+mn-lt"/>
              </a:rPr>
              <a:t>Implica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validar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cuidadosamente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todos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proporcionados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por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el</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usuario</a:t>
            </a:r>
            <a:r>
              <a:rPr lang="en-US" sz="1800" dirty="0">
                <a:solidFill>
                  <a:srgbClr val="000000"/>
                </a:solidFill>
                <a:latin typeface="Trebuchet MS" panose="020B0603020202020204" pitchFamily="34" charset="0"/>
                <a:ea typeface="+mn-lt"/>
                <a:cs typeface="+mn-lt"/>
              </a:rPr>
              <a:t> antes de </a:t>
            </a:r>
            <a:r>
              <a:rPr lang="en-US" sz="1800" dirty="0" err="1">
                <a:solidFill>
                  <a:srgbClr val="000000"/>
                </a:solidFill>
                <a:latin typeface="Trebuchet MS" panose="020B0603020202020204" pitchFamily="34" charset="0"/>
                <a:ea typeface="+mn-lt"/>
                <a:cs typeface="+mn-lt"/>
              </a:rPr>
              <a:t>procesarlos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a:t>
            </a:r>
          </a:p>
          <a:p>
            <a:pPr algn="just"/>
            <a:endParaRPr lang="en-US" sz="1800" dirty="0">
              <a:solidFill>
                <a:srgbClr val="000000"/>
              </a:solidFill>
              <a:latin typeface="Trebuchet MS" panose="020B0603020202020204" pitchFamily="34" charset="0"/>
              <a:cs typeface="Calibri"/>
            </a:endParaRPr>
          </a:p>
          <a:p>
            <a:pPr algn="just"/>
            <a:r>
              <a:rPr lang="en-US" sz="1800" dirty="0">
                <a:solidFill>
                  <a:srgbClr val="000000"/>
                </a:solidFill>
                <a:latin typeface="Trebuchet MS" panose="020B0603020202020204" pitchFamily="34" charset="0"/>
                <a:ea typeface="+mn-lt"/>
                <a:cs typeface="+mn-lt"/>
              </a:rPr>
              <a:t>En </a:t>
            </a:r>
            <a:r>
              <a:rPr lang="en-US" sz="1800" b="1" dirty="0">
                <a:solidFill>
                  <a:srgbClr val="000000"/>
                </a:solidFill>
                <a:latin typeface="Trebuchet MS" panose="020B0603020202020204" pitchFamily="34" charset="0"/>
                <a:ea typeface="+mn-lt"/>
                <a:cs typeface="+mn-lt"/>
              </a:rPr>
              <a:t>.NET</a:t>
            </a:r>
            <a:r>
              <a:rPr lang="en-US" sz="1800" dirty="0">
                <a:solidFill>
                  <a:srgbClr val="000000"/>
                </a:solidFill>
                <a:latin typeface="Trebuchet MS" panose="020B0603020202020204" pitchFamily="34" charset="0"/>
                <a:ea typeface="+mn-lt"/>
                <a:cs typeface="+mn-lt"/>
              </a:rPr>
              <a:t>, se </a:t>
            </a:r>
            <a:r>
              <a:rPr lang="en-US" sz="1800" dirty="0" err="1">
                <a:solidFill>
                  <a:srgbClr val="000000"/>
                </a:solidFill>
                <a:latin typeface="Trebuchet MS" panose="020B0603020202020204" pitchFamily="34" charset="0"/>
                <a:ea typeface="+mn-lt"/>
                <a:cs typeface="+mn-lt"/>
              </a:rPr>
              <a:t>puede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utilizar</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funcionalidad</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validación</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formularios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proporcionada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por</a:t>
            </a:r>
            <a:r>
              <a:rPr lang="en-US" sz="1800" dirty="0">
                <a:solidFill>
                  <a:srgbClr val="000000"/>
                </a:solidFill>
                <a:latin typeface="Trebuchet MS" panose="020B0603020202020204" pitchFamily="34" charset="0"/>
                <a:ea typeface="+mn-lt"/>
                <a:cs typeface="+mn-lt"/>
              </a:rPr>
              <a:t> ASP.NET MVC o ASP.NET Core, </a:t>
            </a:r>
            <a:r>
              <a:rPr lang="en-US" sz="1800" dirty="0" err="1">
                <a:solidFill>
                  <a:srgbClr val="000000"/>
                </a:solidFill>
                <a:latin typeface="Trebuchet MS" panose="020B0603020202020204" pitchFamily="34" charset="0"/>
                <a:ea typeface="+mn-lt"/>
                <a:cs typeface="+mn-lt"/>
              </a:rPr>
              <a:t>así</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como</a:t>
            </a:r>
            <a:r>
              <a:rPr lang="en-US" sz="1800" dirty="0">
                <a:solidFill>
                  <a:srgbClr val="000000"/>
                </a:solidFill>
                <a:latin typeface="Trebuchet MS" panose="020B0603020202020204" pitchFamily="34" charset="0"/>
                <a:ea typeface="+mn-lt"/>
                <a:cs typeface="+mn-lt"/>
              </a:rPr>
              <a:t> las </a:t>
            </a:r>
            <a:r>
              <a:rPr lang="en-US" sz="1800" dirty="0" err="1">
                <a:solidFill>
                  <a:srgbClr val="000000"/>
                </a:solidFill>
                <a:latin typeface="Trebuchet MS" panose="020B0603020202020204" pitchFamily="34" charset="0"/>
                <a:ea typeface="+mn-lt"/>
                <a:cs typeface="+mn-lt"/>
              </a:rPr>
              <a:t>anotaciones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DataAnnotations</a:t>
            </a:r>
            <a:r>
              <a:rPr lang="en-US" sz="1800" dirty="0">
                <a:solidFill>
                  <a:srgbClr val="000000"/>
                </a:solidFill>
                <a:latin typeface="Trebuchet MS" panose="020B0603020202020204" pitchFamily="34" charset="0"/>
                <a:ea typeface="+mn-lt"/>
                <a:cs typeface="+mn-lt"/>
              </a:rPr>
              <a:t>) para </a:t>
            </a:r>
            <a:r>
              <a:rPr lang="en-US" sz="1800" dirty="0" err="1">
                <a:solidFill>
                  <a:srgbClr val="000000"/>
                </a:solidFill>
                <a:latin typeface="Trebuchet MS" panose="020B0603020202020204" pitchFamily="34" charset="0"/>
                <a:ea typeface="+mn-lt"/>
                <a:cs typeface="+mn-lt"/>
              </a:rPr>
              <a:t>definir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reglas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validación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modelos</a:t>
            </a:r>
            <a:r>
              <a:rPr lang="en-US" sz="1800" dirty="0">
                <a:solidFill>
                  <a:srgbClr val="000000"/>
                </a:solidFill>
                <a:latin typeface="Trebuchet MS" panose="020B0603020202020204" pitchFamily="34" charset="0"/>
                <a:ea typeface="+mn-lt"/>
                <a:cs typeface="+mn-lt"/>
              </a:rPr>
              <a:t>.</a:t>
            </a:r>
            <a:endParaRPr lang="en-US" sz="1800" dirty="0">
              <a:solidFill>
                <a:srgbClr val="000000"/>
              </a:solidFill>
              <a:latin typeface="Trebuchet MS" panose="020B0603020202020204" pitchFamily="34" charset="0"/>
            </a:endParaRPr>
          </a:p>
        </p:txBody>
      </p:sp>
      <p:pic>
        <p:nvPicPr>
          <p:cNvPr id="5" name="Picture 3">
            <a:extLst>
              <a:ext uri="{FF2B5EF4-FFF2-40B4-BE49-F238E27FC236}">
                <a16:creationId xmlns:a16="http://schemas.microsoft.com/office/drawing/2014/main" id="{03A6A226-875C-A12D-55CB-3FF0844FED37}"/>
              </a:ext>
            </a:extLst>
          </p:cNvPr>
          <p:cNvPicPr>
            <a:picLocks noChangeAspect="1"/>
          </p:cNvPicPr>
          <p:nvPr/>
        </p:nvPicPr>
        <p:blipFill>
          <a:blip r:embed="rId4"/>
          <a:stretch>
            <a:fillRect/>
          </a:stretch>
        </p:blipFill>
        <p:spPr>
          <a:xfrm>
            <a:off x="1416656" y="3161176"/>
            <a:ext cx="9358687" cy="2741863"/>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9042407C-AF8A-17B7-E744-A6ED89CEEBB6}"/>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42619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81166-3E7B-38B4-2307-21917018F71E}"/>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0D65E83E-86AC-FB14-9A1D-3AB431A8C886}"/>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07CAC8CD-DDE2-4C23-D202-71DB090BAC0C}"/>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12" name="Picture 1">
            <a:extLst>
              <a:ext uri="{FF2B5EF4-FFF2-40B4-BE49-F238E27FC236}">
                <a16:creationId xmlns:a16="http://schemas.microsoft.com/office/drawing/2014/main" id="{C9B4FE0D-A598-0464-A049-A922E625AFDD}"/>
              </a:ext>
            </a:extLst>
          </p:cNvPr>
          <p:cNvPicPr>
            <a:picLocks noChangeAspect="1"/>
          </p:cNvPicPr>
          <p:nvPr/>
        </p:nvPicPr>
        <p:blipFill>
          <a:blip r:embed="rId4"/>
          <a:stretch>
            <a:fillRect/>
          </a:stretch>
        </p:blipFill>
        <p:spPr>
          <a:xfrm>
            <a:off x="1967932" y="959822"/>
            <a:ext cx="8256136" cy="4972704"/>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15155853-077C-E5CC-0CC3-6C15E2B31626}"/>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4" name="CuadroTexto 3">
            <a:extLst>
              <a:ext uri="{FF2B5EF4-FFF2-40B4-BE49-F238E27FC236}">
                <a16:creationId xmlns:a16="http://schemas.microsoft.com/office/drawing/2014/main" id="{BF069CAB-16E1-16B1-3E3C-BE0D12DE6C9E}"/>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Seguridad aplicada a código</a:t>
            </a:r>
          </a:p>
        </p:txBody>
      </p:sp>
    </p:spTree>
    <p:extLst>
      <p:ext uri="{BB962C8B-B14F-4D97-AF65-F5344CB8AC3E}">
        <p14:creationId xmlns:p14="http://schemas.microsoft.com/office/powerpoint/2010/main" val="684045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A33C6-0585-C4F1-3DD5-3A9866B7BE9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99DC170D-13FA-A3BC-F347-B4FAA607FB7D}"/>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360117EC-6E07-DE06-CF52-49560B5817EF}"/>
              </a:ext>
            </a:extLst>
          </p:cNvPr>
          <p:cNvSpPr txBox="1"/>
          <p:nvPr/>
        </p:nvSpPr>
        <p:spPr>
          <a:xfrm>
            <a:off x="429768" y="251936"/>
            <a:ext cx="9884664"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Uso de Librerías de Criptografías Confiables</a:t>
            </a:r>
          </a:p>
        </p:txBody>
      </p:sp>
      <p:pic>
        <p:nvPicPr>
          <p:cNvPr id="20" name="Imagen 19" descr="Texto&#10;&#10;El contenido generado por IA puede ser incorrecto.">
            <a:extLst>
              <a:ext uri="{FF2B5EF4-FFF2-40B4-BE49-F238E27FC236}">
                <a16:creationId xmlns:a16="http://schemas.microsoft.com/office/drawing/2014/main" id="{F8FD5A79-0945-C947-8E9D-79F070A9BAF5}"/>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4" name="TextBox 5">
            <a:extLst>
              <a:ext uri="{FF2B5EF4-FFF2-40B4-BE49-F238E27FC236}">
                <a16:creationId xmlns:a16="http://schemas.microsoft.com/office/drawing/2014/main" id="{B9FF037E-1E42-2615-F3B0-7F4A932E9FA2}"/>
              </a:ext>
            </a:extLst>
          </p:cNvPr>
          <p:cNvSpPr txBox="1"/>
          <p:nvPr/>
        </p:nvSpPr>
        <p:spPr>
          <a:xfrm>
            <a:off x="377066" y="1738465"/>
            <a:ext cx="994243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dirty="0" err="1">
                <a:solidFill>
                  <a:srgbClr val="000000"/>
                </a:solidFill>
                <a:latin typeface="Trebuchet MS" panose="020B0603020202020204" pitchFamily="34" charset="0"/>
                <a:ea typeface="+mn-lt"/>
                <a:cs typeface="+mn-lt"/>
              </a:rPr>
              <a:t>Utilizar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librerías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criptografía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confiables</a:t>
            </a:r>
            <a:r>
              <a:rPr lang="en-US" sz="1800" dirty="0">
                <a:solidFill>
                  <a:srgbClr val="000000"/>
                </a:solidFill>
                <a:latin typeface="Trebuchet MS" panose="020B0603020202020204" pitchFamily="34" charset="0"/>
                <a:ea typeface="+mn-lt"/>
                <a:cs typeface="+mn-lt"/>
              </a:rPr>
              <a:t> y bien </a:t>
            </a:r>
            <a:r>
              <a:rPr lang="en-US" sz="1800" dirty="0" err="1">
                <a:solidFill>
                  <a:srgbClr val="000000"/>
                </a:solidFill>
                <a:latin typeface="Trebuchet MS" panose="020B0603020202020204" pitchFamily="34" charset="0"/>
                <a:ea typeface="+mn-lt"/>
                <a:cs typeface="+mn-lt"/>
              </a:rPr>
              <a:t>mantenidas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lugar</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implementar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algoritmos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cifrado</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personalizados</a:t>
            </a:r>
            <a:r>
              <a:rPr lang="en-US" sz="1800" dirty="0">
                <a:solidFill>
                  <a:srgbClr val="000000"/>
                </a:solidFill>
                <a:latin typeface="Trebuchet MS" panose="020B0603020202020204" pitchFamily="34" charset="0"/>
                <a:ea typeface="+mn-lt"/>
                <a:cs typeface="+mn-lt"/>
              </a:rPr>
              <a:t>.</a:t>
            </a:r>
          </a:p>
          <a:p>
            <a:pPr algn="just"/>
            <a:endParaRPr lang="en-US" sz="1800" dirty="0">
              <a:solidFill>
                <a:srgbClr val="000000"/>
              </a:solidFill>
              <a:latin typeface="Trebuchet MS" panose="020B0603020202020204" pitchFamily="34" charset="0"/>
              <a:ea typeface="+mn-lt"/>
              <a:cs typeface="+mn-lt"/>
            </a:endParaRPr>
          </a:p>
          <a:p>
            <a:pPr algn="just"/>
            <a:r>
              <a:rPr lang="en-US" sz="1800" dirty="0">
                <a:solidFill>
                  <a:srgbClr val="000000"/>
                </a:solidFill>
                <a:latin typeface="Trebuchet MS" panose="020B0603020202020204" pitchFamily="34" charset="0"/>
                <a:ea typeface="+mn-lt"/>
                <a:cs typeface="+mn-lt"/>
              </a:rPr>
              <a:t>En </a:t>
            </a:r>
            <a:r>
              <a:rPr lang="en-US" sz="1800" b="1" dirty="0">
                <a:solidFill>
                  <a:srgbClr val="000000"/>
                </a:solidFill>
                <a:latin typeface="Trebuchet MS" panose="020B0603020202020204" pitchFamily="34" charset="0"/>
                <a:ea typeface="+mn-lt"/>
                <a:cs typeface="+mn-lt"/>
              </a:rPr>
              <a:t>.NET</a:t>
            </a:r>
            <a:r>
              <a:rPr lang="en-US" sz="1800" dirty="0">
                <a:solidFill>
                  <a:srgbClr val="000000"/>
                </a:solidFill>
                <a:latin typeface="Trebuchet MS" panose="020B0603020202020204" pitchFamily="34" charset="0"/>
                <a:ea typeface="+mn-lt"/>
                <a:cs typeface="+mn-lt"/>
              </a:rPr>
              <a:t>, se </a:t>
            </a:r>
            <a:r>
              <a:rPr lang="en-US" sz="1800" dirty="0" err="1">
                <a:solidFill>
                  <a:srgbClr val="000000"/>
                </a:solidFill>
                <a:latin typeface="Trebuchet MS" panose="020B0603020202020204" pitchFamily="34" charset="0"/>
                <a:ea typeface="+mn-lt"/>
                <a:cs typeface="+mn-lt"/>
              </a:rPr>
              <a:t>pueden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utilizar</a:t>
            </a:r>
            <a:r>
              <a:rPr lang="en-US" sz="1800" dirty="0">
                <a:solidFill>
                  <a:srgbClr val="000000"/>
                </a:solidFill>
                <a:latin typeface="Trebuchet MS" panose="020B0603020202020204" pitchFamily="34" charset="0"/>
                <a:ea typeface="+mn-lt"/>
                <a:cs typeface="+mn-lt"/>
              </a:rPr>
              <a:t> las </a:t>
            </a:r>
            <a:r>
              <a:rPr lang="en-US" sz="1800" dirty="0" err="1">
                <a:solidFill>
                  <a:srgbClr val="000000"/>
                </a:solidFill>
                <a:latin typeface="Trebuchet MS" panose="020B0603020202020204" pitchFamily="34" charset="0"/>
                <a:ea typeface="+mn-lt"/>
                <a:cs typeface="+mn-lt"/>
              </a:rPr>
              <a:t>clases</a:t>
            </a:r>
            <a:r>
              <a:rPr lang="en-US" sz="1800" dirty="0">
                <a:solidFill>
                  <a:srgbClr val="000000"/>
                </a:solidFill>
                <a:latin typeface="Trebuchet MS" panose="020B0603020202020204" pitchFamily="34" charset="0"/>
                <a:ea typeface="+mn-lt"/>
                <a:cs typeface="+mn-lt"/>
              </a:rPr>
              <a:t> del </a:t>
            </a:r>
            <a:r>
              <a:rPr lang="en-US" sz="1800" dirty="0" err="1">
                <a:solidFill>
                  <a:srgbClr val="000000"/>
                </a:solidFill>
                <a:latin typeface="Trebuchet MS" panose="020B0603020202020204" pitchFamily="34" charset="0"/>
                <a:ea typeface="+mn-lt"/>
                <a:cs typeface="+mn-lt"/>
              </a:rPr>
              <a:t>espacio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nombres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System.Security.Cryptography</a:t>
            </a:r>
            <a:endParaRPr lang="en-US" sz="1800" dirty="0">
              <a:solidFill>
                <a:srgbClr val="000000"/>
              </a:solidFill>
              <a:latin typeface="Trebuchet MS" panose="020B0603020202020204" pitchFamily="34" charset="0"/>
              <a:cs typeface="Calibri"/>
            </a:endParaRPr>
          </a:p>
        </p:txBody>
      </p:sp>
      <p:pic>
        <p:nvPicPr>
          <p:cNvPr id="5" name="Picture 1">
            <a:extLst>
              <a:ext uri="{FF2B5EF4-FFF2-40B4-BE49-F238E27FC236}">
                <a16:creationId xmlns:a16="http://schemas.microsoft.com/office/drawing/2014/main" id="{D7589240-3B98-C325-D1A8-05E2DEC6C9BF}"/>
              </a:ext>
            </a:extLst>
          </p:cNvPr>
          <p:cNvPicPr>
            <a:picLocks noChangeAspect="1"/>
          </p:cNvPicPr>
          <p:nvPr/>
        </p:nvPicPr>
        <p:blipFill>
          <a:blip r:embed="rId4"/>
          <a:stretch>
            <a:fillRect/>
          </a:stretch>
        </p:blipFill>
        <p:spPr>
          <a:xfrm>
            <a:off x="2949900" y="4017720"/>
            <a:ext cx="6292200" cy="1019175"/>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3B6A03A6-5CAB-228C-B2B1-2309017670D2}"/>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131857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0426E-889D-D9A0-7EE1-CFAFEFA7A5CE}"/>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B4BD0EC2-C466-CDAD-57FA-FDD00E5A93D9}"/>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15444602-FD42-A920-4F55-306AB566549D}"/>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8" name="Picture 3">
            <a:extLst>
              <a:ext uri="{FF2B5EF4-FFF2-40B4-BE49-F238E27FC236}">
                <a16:creationId xmlns:a16="http://schemas.microsoft.com/office/drawing/2014/main" id="{587A4566-51A3-10C8-6D1A-49694D964A5D}"/>
              </a:ext>
            </a:extLst>
          </p:cNvPr>
          <p:cNvPicPr>
            <a:picLocks noChangeAspect="1"/>
          </p:cNvPicPr>
          <p:nvPr/>
        </p:nvPicPr>
        <p:blipFill>
          <a:blip r:embed="rId4"/>
          <a:stretch>
            <a:fillRect/>
          </a:stretch>
        </p:blipFill>
        <p:spPr>
          <a:xfrm>
            <a:off x="1312369" y="959822"/>
            <a:ext cx="4463121" cy="5115102"/>
          </a:xfrm>
          <a:prstGeom prst="rect">
            <a:avLst/>
          </a:prstGeom>
        </p:spPr>
      </p:pic>
      <p:pic>
        <p:nvPicPr>
          <p:cNvPr id="9" name="Picture 6">
            <a:extLst>
              <a:ext uri="{FF2B5EF4-FFF2-40B4-BE49-F238E27FC236}">
                <a16:creationId xmlns:a16="http://schemas.microsoft.com/office/drawing/2014/main" id="{B867F14B-18E3-EA2C-8D85-F62E7C77F279}"/>
              </a:ext>
            </a:extLst>
          </p:cNvPr>
          <p:cNvPicPr>
            <a:picLocks noChangeAspect="1"/>
          </p:cNvPicPr>
          <p:nvPr/>
        </p:nvPicPr>
        <p:blipFill>
          <a:blip r:embed="rId5"/>
          <a:stretch>
            <a:fillRect/>
          </a:stretch>
        </p:blipFill>
        <p:spPr>
          <a:xfrm>
            <a:off x="6315333" y="959822"/>
            <a:ext cx="4592718" cy="5115102"/>
          </a:xfrm>
          <a:prstGeom prst="rect">
            <a:avLst/>
          </a:prstGeom>
        </p:spPr>
      </p:pic>
      <p:sp>
        <p:nvSpPr>
          <p:cNvPr id="2" name="CuadroTexto 1">
            <a:extLst>
              <a:ext uri="{FF2B5EF4-FFF2-40B4-BE49-F238E27FC236}">
                <a16:creationId xmlns:a16="http://schemas.microsoft.com/office/drawing/2014/main" id="{A29FFDA9-C051-2FBC-9BA4-B924B49163E8}"/>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Seguridad aplicada a código</a:t>
            </a:r>
          </a:p>
        </p:txBody>
      </p:sp>
      <p:pic>
        <p:nvPicPr>
          <p:cNvPr id="4" name="Imagen 3" descr="Interfaz de usuario gráfica&#10;&#10;El contenido generado por IA puede ser incorrecto.">
            <a:extLst>
              <a:ext uri="{FF2B5EF4-FFF2-40B4-BE49-F238E27FC236}">
                <a16:creationId xmlns:a16="http://schemas.microsoft.com/office/drawing/2014/main" id="{2F578C23-8FF0-00D5-1CD0-8AA1123A56D2}"/>
              </a:ext>
            </a:extLst>
          </p:cNvPr>
          <p:cNvPicPr>
            <a:picLocks noChangeAspect="1"/>
          </p:cNvPicPr>
          <p:nvPr/>
        </p:nvPicPr>
        <p:blipFill>
          <a:blip r:embed="rId6">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138484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D6AF6-D317-6983-8C19-CE8D378012B4}"/>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D2BE0A85-FD24-F941-DFCA-317FBDFE000A}"/>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803152ED-F7B6-179D-A7B7-1CF269579407}"/>
              </a:ext>
            </a:extLst>
          </p:cNvPr>
          <p:cNvSpPr txBox="1"/>
          <p:nvPr/>
        </p:nvSpPr>
        <p:spPr>
          <a:xfrm>
            <a:off x="429768" y="251936"/>
            <a:ext cx="9884664"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Control de Sesiones y Tokens de Autenticación</a:t>
            </a:r>
          </a:p>
        </p:txBody>
      </p:sp>
      <p:pic>
        <p:nvPicPr>
          <p:cNvPr id="20" name="Imagen 19" descr="Texto&#10;&#10;El contenido generado por IA puede ser incorrecto.">
            <a:extLst>
              <a:ext uri="{FF2B5EF4-FFF2-40B4-BE49-F238E27FC236}">
                <a16:creationId xmlns:a16="http://schemas.microsoft.com/office/drawing/2014/main" id="{BBDEB4AE-E3C8-E0B3-1CD5-01393350B1B1}"/>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3" name="TextBox 5">
            <a:extLst>
              <a:ext uri="{FF2B5EF4-FFF2-40B4-BE49-F238E27FC236}">
                <a16:creationId xmlns:a16="http://schemas.microsoft.com/office/drawing/2014/main" id="{967802D5-037D-E48C-5165-99264883A4B0}"/>
              </a:ext>
            </a:extLst>
          </p:cNvPr>
          <p:cNvSpPr txBox="1"/>
          <p:nvPr/>
        </p:nvSpPr>
        <p:spPr>
          <a:xfrm>
            <a:off x="351422" y="1773716"/>
            <a:ext cx="97629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dirty="0" err="1">
                <a:solidFill>
                  <a:srgbClr val="000000"/>
                </a:solidFill>
                <a:latin typeface="Trebuchet MS" panose="020B0603020202020204" pitchFamily="34" charset="0"/>
                <a:ea typeface="+mn-lt"/>
                <a:cs typeface="+mn-lt"/>
              </a:rPr>
              <a:t>Implementar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mecanismos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seguros</a:t>
            </a:r>
            <a:r>
              <a:rPr lang="en-US" sz="1800" dirty="0">
                <a:solidFill>
                  <a:srgbClr val="000000"/>
                </a:solidFill>
                <a:latin typeface="Trebuchet MS" panose="020B0603020202020204" pitchFamily="34" charset="0"/>
                <a:ea typeface="+mn-lt"/>
                <a:cs typeface="+mn-lt"/>
              </a:rPr>
              <a:t> de control de </a:t>
            </a:r>
            <a:r>
              <a:rPr lang="en-US" sz="1800" dirty="0" err="1">
                <a:solidFill>
                  <a:srgbClr val="000000"/>
                </a:solidFill>
                <a:latin typeface="Trebuchet MS" panose="020B0603020202020204" pitchFamily="34" charset="0"/>
                <a:ea typeface="+mn-lt"/>
                <a:cs typeface="+mn-lt"/>
              </a:rPr>
              <a:t>sesiones</a:t>
            </a:r>
            <a:r>
              <a:rPr lang="en-US" sz="1800" dirty="0">
                <a:solidFill>
                  <a:srgbClr val="000000"/>
                </a:solidFill>
                <a:latin typeface="Trebuchet MS" panose="020B0603020202020204" pitchFamily="34" charset="0"/>
                <a:ea typeface="+mn-lt"/>
                <a:cs typeface="+mn-lt"/>
              </a:rPr>
              <a:t> y tokens de </a:t>
            </a:r>
            <a:r>
              <a:rPr lang="en-US" sz="1800" dirty="0" err="1">
                <a:solidFill>
                  <a:srgbClr val="000000"/>
                </a:solidFill>
                <a:latin typeface="Trebuchet MS" panose="020B0603020202020204" pitchFamily="34" charset="0"/>
                <a:ea typeface="+mn-lt"/>
                <a:cs typeface="+mn-lt"/>
              </a:rPr>
              <a:t>autenticación</a:t>
            </a:r>
            <a:r>
              <a:rPr lang="en-US" sz="1800" dirty="0">
                <a:solidFill>
                  <a:srgbClr val="000000"/>
                </a:solidFill>
                <a:latin typeface="Trebuchet MS" panose="020B0603020202020204" pitchFamily="34" charset="0"/>
                <a:ea typeface="+mn-lt"/>
                <a:cs typeface="+mn-lt"/>
              </a:rPr>
              <a:t>. </a:t>
            </a:r>
          </a:p>
          <a:p>
            <a:pPr algn="just"/>
            <a:endParaRPr lang="en-US" sz="1800" dirty="0">
              <a:solidFill>
                <a:srgbClr val="000000"/>
              </a:solidFill>
              <a:latin typeface="Trebuchet MS" panose="020B0603020202020204" pitchFamily="34" charset="0"/>
              <a:ea typeface="+mn-lt"/>
              <a:cs typeface="+mn-lt"/>
            </a:endParaRPr>
          </a:p>
          <a:p>
            <a:pPr algn="just"/>
            <a:r>
              <a:rPr lang="en-US" sz="1800" dirty="0">
                <a:solidFill>
                  <a:srgbClr val="000000"/>
                </a:solidFill>
                <a:latin typeface="Trebuchet MS" panose="020B0603020202020204" pitchFamily="34" charset="0"/>
                <a:ea typeface="+mn-lt"/>
                <a:cs typeface="+mn-lt"/>
              </a:rPr>
              <a:t>En </a:t>
            </a:r>
            <a:r>
              <a:rPr lang="en-US" sz="1800" b="1" dirty="0">
                <a:solidFill>
                  <a:srgbClr val="000000"/>
                </a:solidFill>
                <a:latin typeface="Trebuchet MS" panose="020B0603020202020204" pitchFamily="34" charset="0"/>
                <a:ea typeface="+mn-lt"/>
                <a:cs typeface="+mn-lt"/>
              </a:rPr>
              <a:t>.NET</a:t>
            </a:r>
            <a:r>
              <a:rPr lang="en-US" sz="1800" dirty="0">
                <a:solidFill>
                  <a:srgbClr val="000000"/>
                </a:solidFill>
                <a:latin typeface="Trebuchet MS" panose="020B0603020202020204" pitchFamily="34" charset="0"/>
                <a:ea typeface="+mn-lt"/>
                <a:cs typeface="+mn-lt"/>
              </a:rPr>
              <a:t>, se </a:t>
            </a:r>
            <a:r>
              <a:rPr lang="en-US" sz="1800" dirty="0" err="1">
                <a:solidFill>
                  <a:srgbClr val="000000"/>
                </a:solidFill>
                <a:latin typeface="Trebuchet MS" panose="020B0603020202020204" pitchFamily="34" charset="0"/>
                <a:ea typeface="+mn-lt"/>
                <a:cs typeface="+mn-lt"/>
              </a:rPr>
              <a:t>pueden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utilizar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sistemas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como</a:t>
            </a:r>
            <a:r>
              <a:rPr lang="en-US" sz="1800" dirty="0">
                <a:solidFill>
                  <a:srgbClr val="000000"/>
                </a:solidFill>
                <a:latin typeface="Trebuchet MS" panose="020B0603020202020204" pitchFamily="34" charset="0"/>
                <a:ea typeface="+mn-lt"/>
                <a:cs typeface="+mn-lt"/>
              </a:rPr>
              <a:t> ASP.NET Identity para </a:t>
            </a:r>
            <a:r>
              <a:rPr lang="en-US" sz="1800" dirty="0" err="1">
                <a:solidFill>
                  <a:srgbClr val="000000"/>
                </a:solidFill>
                <a:latin typeface="Trebuchet MS" panose="020B0603020202020204" pitchFamily="34" charset="0"/>
                <a:ea typeface="+mn-lt"/>
                <a:cs typeface="+mn-lt"/>
              </a:rPr>
              <a:t>gestionar</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autenticación</a:t>
            </a:r>
            <a:r>
              <a:rPr lang="en-US" sz="1800" dirty="0">
                <a:solidFill>
                  <a:srgbClr val="000000"/>
                </a:solidFill>
                <a:latin typeface="Trebuchet MS" panose="020B0603020202020204" pitchFamily="34" charset="0"/>
                <a:ea typeface="+mn-lt"/>
                <a:cs typeface="+mn-lt"/>
              </a:rPr>
              <a:t> y </a:t>
            </a:r>
            <a:r>
              <a:rPr lang="en-US" sz="1800" dirty="0" err="1">
                <a:solidFill>
                  <a:srgbClr val="000000"/>
                </a:solidFill>
                <a:latin typeface="Trebuchet MS" panose="020B0603020202020204" pitchFamily="34" charset="0"/>
                <a:ea typeface="+mn-lt"/>
                <a:cs typeface="+mn-lt"/>
              </a:rPr>
              <a:t>autorización</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usuarios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manera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segura</a:t>
            </a:r>
            <a:r>
              <a:rPr lang="en-US" sz="1800" dirty="0">
                <a:solidFill>
                  <a:srgbClr val="000000"/>
                </a:solidFill>
                <a:latin typeface="Trebuchet MS" panose="020B0603020202020204" pitchFamily="34" charset="0"/>
                <a:ea typeface="+mn-lt"/>
                <a:cs typeface="+mn-lt"/>
              </a:rPr>
              <a:t>. </a:t>
            </a:r>
            <a:endParaRPr lang="en-US" sz="1800" dirty="0">
              <a:solidFill>
                <a:srgbClr val="000000"/>
              </a:solidFill>
              <a:latin typeface="Trebuchet MS" panose="020B0603020202020204" pitchFamily="34" charset="0"/>
            </a:endParaRPr>
          </a:p>
        </p:txBody>
      </p:sp>
      <p:pic>
        <p:nvPicPr>
          <p:cNvPr id="4" name="Picture 3">
            <a:extLst>
              <a:ext uri="{FF2B5EF4-FFF2-40B4-BE49-F238E27FC236}">
                <a16:creationId xmlns:a16="http://schemas.microsoft.com/office/drawing/2014/main" id="{95904031-F123-D8C9-7C0B-0D21E1947A80}"/>
              </a:ext>
            </a:extLst>
          </p:cNvPr>
          <p:cNvPicPr>
            <a:picLocks noChangeAspect="1"/>
          </p:cNvPicPr>
          <p:nvPr/>
        </p:nvPicPr>
        <p:blipFill>
          <a:blip r:embed="rId4"/>
          <a:stretch>
            <a:fillRect/>
          </a:stretch>
        </p:blipFill>
        <p:spPr>
          <a:xfrm>
            <a:off x="2179354" y="3563472"/>
            <a:ext cx="7833291" cy="1352550"/>
          </a:xfrm>
          <a:prstGeom prst="rect">
            <a:avLst/>
          </a:prstGeom>
        </p:spPr>
      </p:pic>
      <p:pic>
        <p:nvPicPr>
          <p:cNvPr id="5" name="Imagen 4" descr="Interfaz de usuario gráfica&#10;&#10;El contenido generado por IA puede ser incorrecto.">
            <a:extLst>
              <a:ext uri="{FF2B5EF4-FFF2-40B4-BE49-F238E27FC236}">
                <a16:creationId xmlns:a16="http://schemas.microsoft.com/office/drawing/2014/main" id="{02AAAB9E-A3F9-9297-BD1E-BA6AECDB827E}"/>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553486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6C0BB-170B-690F-C79A-3F8B3D998CBA}"/>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45AD1C77-7AF2-41CE-B7BD-2A0BA80EC851}"/>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3A12BC9C-5C0A-DF35-2371-C9FDECCBBB3C}"/>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7" name="Picture 1">
            <a:extLst>
              <a:ext uri="{FF2B5EF4-FFF2-40B4-BE49-F238E27FC236}">
                <a16:creationId xmlns:a16="http://schemas.microsoft.com/office/drawing/2014/main" id="{0F5A36B7-8D98-DDF0-EAF5-5CB86BD08242}"/>
              </a:ext>
            </a:extLst>
          </p:cNvPr>
          <p:cNvPicPr>
            <a:picLocks noChangeAspect="1"/>
          </p:cNvPicPr>
          <p:nvPr/>
        </p:nvPicPr>
        <p:blipFill>
          <a:blip r:embed="rId4"/>
          <a:stretch>
            <a:fillRect/>
          </a:stretch>
        </p:blipFill>
        <p:spPr>
          <a:xfrm>
            <a:off x="1709046" y="934778"/>
            <a:ext cx="8590794" cy="5109205"/>
          </a:xfrm>
          <a:prstGeom prst="rect">
            <a:avLst/>
          </a:prstGeom>
        </p:spPr>
      </p:pic>
      <p:sp>
        <p:nvSpPr>
          <p:cNvPr id="2" name="CuadroTexto 1">
            <a:extLst>
              <a:ext uri="{FF2B5EF4-FFF2-40B4-BE49-F238E27FC236}">
                <a16:creationId xmlns:a16="http://schemas.microsoft.com/office/drawing/2014/main" id="{C594FACA-D698-4A8F-3EB3-90BA14789F0D}"/>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Seguridad aplicada a código</a:t>
            </a:r>
          </a:p>
        </p:txBody>
      </p:sp>
      <p:pic>
        <p:nvPicPr>
          <p:cNvPr id="3" name="Imagen 2" descr="Interfaz de usuario gráfica&#10;&#10;El contenido generado por IA puede ser incorrecto.">
            <a:extLst>
              <a:ext uri="{FF2B5EF4-FFF2-40B4-BE49-F238E27FC236}">
                <a16:creationId xmlns:a16="http://schemas.microsoft.com/office/drawing/2014/main" id="{9A79DAC0-55D0-24C0-DB6D-825229367440}"/>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672059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DA6FE-FB77-0A11-F251-B1583D1D3D28}"/>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797095B7-8152-DB26-81A1-8516AF584C31}"/>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6865F7FF-8784-0F89-9C1B-7C45CF889EEF}"/>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2" name="TextBox 5">
            <a:extLst>
              <a:ext uri="{FF2B5EF4-FFF2-40B4-BE49-F238E27FC236}">
                <a16:creationId xmlns:a16="http://schemas.microsoft.com/office/drawing/2014/main" id="{AFCB142F-D4A3-C55D-74DD-CC2ED05FEA92}"/>
              </a:ext>
            </a:extLst>
          </p:cNvPr>
          <p:cNvSpPr txBox="1"/>
          <p:nvPr/>
        </p:nvSpPr>
        <p:spPr>
          <a:xfrm>
            <a:off x="454936" y="1333771"/>
            <a:ext cx="976292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dirty="0" err="1">
                <a:solidFill>
                  <a:srgbClr val="000000"/>
                </a:solidFill>
                <a:latin typeface="Trebuchet MS" panose="020B0603020202020204" pitchFamily="34" charset="0"/>
                <a:ea typeface="+mn-lt"/>
                <a:cs typeface="+mn-lt"/>
              </a:rPr>
              <a:t>Configurar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correctamente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el</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entorno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ejecución</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tu</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.NET o Java para </a:t>
            </a:r>
            <a:r>
              <a:rPr lang="en-US" sz="1800" dirty="0" err="1">
                <a:solidFill>
                  <a:srgbClr val="000000"/>
                </a:solidFill>
                <a:latin typeface="Trebuchet MS" panose="020B0603020202020204" pitchFamily="34" charset="0"/>
                <a:ea typeface="+mn-lt"/>
                <a:cs typeface="+mn-lt"/>
              </a:rPr>
              <a:t>minimizar</a:t>
            </a:r>
            <a:r>
              <a:rPr lang="en-US" sz="1800" dirty="0">
                <a:solidFill>
                  <a:srgbClr val="000000"/>
                </a:solidFill>
                <a:latin typeface="Trebuchet MS" panose="020B0603020202020204" pitchFamily="34" charset="0"/>
                <a:ea typeface="+mn-lt"/>
                <a:cs typeface="+mn-lt"/>
              </a:rPr>
              <a:t> las </a:t>
            </a:r>
            <a:r>
              <a:rPr lang="en-US" sz="1800" dirty="0" err="1">
                <a:solidFill>
                  <a:srgbClr val="000000"/>
                </a:solidFill>
                <a:latin typeface="Trebuchet MS" panose="020B0603020202020204" pitchFamily="34" charset="0"/>
                <a:ea typeface="+mn-lt"/>
                <a:cs typeface="+mn-lt"/>
              </a:rPr>
              <a:t>vulnerabilidades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seguridad</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Esto</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incluye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deshabilitar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características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innecesarias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aplicar</a:t>
            </a:r>
            <a:r>
              <a:rPr lang="en-US" sz="1800" dirty="0">
                <a:solidFill>
                  <a:srgbClr val="000000"/>
                </a:solidFill>
                <a:latin typeface="Trebuchet MS" panose="020B0603020202020204" pitchFamily="34" charset="0"/>
                <a:ea typeface="+mn-lt"/>
                <a:cs typeface="+mn-lt"/>
              </a:rPr>
              <a:t> parches de </a:t>
            </a:r>
            <a:r>
              <a:rPr lang="en-US" sz="1800" dirty="0" err="1">
                <a:solidFill>
                  <a:srgbClr val="000000"/>
                </a:solidFill>
                <a:latin typeface="Trebuchet MS" panose="020B0603020202020204" pitchFamily="34" charset="0"/>
                <a:ea typeface="+mn-lt"/>
                <a:cs typeface="+mn-lt"/>
              </a:rPr>
              <a:t>seguridad</a:t>
            </a:r>
            <a:r>
              <a:rPr lang="en-US" sz="1800" dirty="0">
                <a:solidFill>
                  <a:srgbClr val="000000"/>
                </a:solidFill>
                <a:latin typeface="Trebuchet MS" panose="020B0603020202020204" pitchFamily="34" charset="0"/>
                <a:ea typeface="+mn-lt"/>
                <a:cs typeface="+mn-lt"/>
              </a:rPr>
              <a:t> y </a:t>
            </a:r>
            <a:r>
              <a:rPr lang="en-US" sz="1800" dirty="0" err="1">
                <a:solidFill>
                  <a:srgbClr val="000000"/>
                </a:solidFill>
                <a:latin typeface="Trebuchet MS" panose="020B0603020202020204" pitchFamily="34" charset="0"/>
                <a:ea typeface="+mn-lt"/>
                <a:cs typeface="+mn-lt"/>
              </a:rPr>
              <a:t>mantener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actualizadas</a:t>
            </a:r>
            <a:r>
              <a:rPr lang="en-US" sz="1800" dirty="0">
                <a:solidFill>
                  <a:srgbClr val="000000"/>
                </a:solidFill>
                <a:latin typeface="Trebuchet MS" panose="020B0603020202020204" pitchFamily="34" charset="0"/>
                <a:ea typeface="+mn-lt"/>
                <a:cs typeface="+mn-lt"/>
              </a:rPr>
              <a:t> las </a:t>
            </a:r>
            <a:r>
              <a:rPr lang="en-US" sz="1800" dirty="0" err="1">
                <a:solidFill>
                  <a:srgbClr val="000000"/>
                </a:solidFill>
                <a:latin typeface="Trebuchet MS" panose="020B0603020202020204" pitchFamily="34" charset="0"/>
                <a:ea typeface="+mn-lt"/>
                <a:cs typeface="+mn-lt"/>
              </a:rPr>
              <a:t>bibliotecas</a:t>
            </a:r>
            <a:r>
              <a:rPr lang="en-US" sz="1800" dirty="0">
                <a:solidFill>
                  <a:srgbClr val="000000"/>
                </a:solidFill>
                <a:latin typeface="Trebuchet MS" panose="020B0603020202020204" pitchFamily="34" charset="0"/>
                <a:ea typeface="+mn-lt"/>
                <a:cs typeface="+mn-lt"/>
              </a:rPr>
              <a:t> y frameworks </a:t>
            </a:r>
            <a:r>
              <a:rPr lang="en-US" sz="1800" dirty="0" err="1">
                <a:solidFill>
                  <a:srgbClr val="000000"/>
                </a:solidFill>
                <a:latin typeface="Trebuchet MS" panose="020B0603020202020204" pitchFamily="34" charset="0"/>
                <a:ea typeface="+mn-lt"/>
                <a:cs typeface="+mn-lt"/>
              </a:rPr>
              <a:t>utilizados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tu</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a:t>
            </a:r>
          </a:p>
          <a:p>
            <a:pPr algn="just"/>
            <a:endParaRPr lang="en-US" sz="1800" dirty="0">
              <a:solidFill>
                <a:srgbClr val="000000"/>
              </a:solidFill>
              <a:latin typeface="Trebuchet MS" panose="020B0603020202020204" pitchFamily="34" charset="0"/>
              <a:ea typeface="+mn-lt"/>
              <a:cs typeface="+mn-lt"/>
            </a:endParaRPr>
          </a:p>
          <a:p>
            <a:pPr algn="just"/>
            <a:r>
              <a:rPr lang="en-US" sz="1800" dirty="0">
                <a:solidFill>
                  <a:srgbClr val="000000"/>
                </a:solidFill>
                <a:latin typeface="Trebuchet MS" panose="020B0603020202020204" pitchFamily="34" charset="0"/>
                <a:ea typeface="+mn-lt"/>
                <a:cs typeface="+mn-lt"/>
              </a:rPr>
              <a:t>En </a:t>
            </a:r>
            <a:r>
              <a:rPr lang="en-US" sz="1800" b="1" dirty="0">
                <a:solidFill>
                  <a:srgbClr val="000000"/>
                </a:solidFill>
                <a:latin typeface="Trebuchet MS" panose="020B0603020202020204" pitchFamily="34" charset="0"/>
                <a:ea typeface="+mn-lt"/>
                <a:cs typeface="+mn-lt"/>
              </a:rPr>
              <a:t>.NET</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considera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utilizar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herramientas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como</a:t>
            </a:r>
            <a:r>
              <a:rPr lang="en-US" sz="1800" dirty="0">
                <a:solidFill>
                  <a:srgbClr val="000000"/>
                </a:solidFill>
                <a:latin typeface="Trebuchet MS" panose="020B0603020202020204" pitchFamily="34" charset="0"/>
                <a:ea typeface="+mn-lt"/>
                <a:cs typeface="+mn-lt"/>
              </a:rPr>
              <a:t> Microsoft Secure Coding Guidelines y la </a:t>
            </a:r>
            <a:r>
              <a:rPr lang="en-US" sz="1800" dirty="0" err="1">
                <a:solidFill>
                  <a:srgbClr val="000000"/>
                </a:solidFill>
                <a:latin typeface="Trebuchet MS" panose="020B0603020202020204" pitchFamily="34" charset="0"/>
                <a:ea typeface="+mn-lt"/>
                <a:cs typeface="+mn-lt"/>
              </a:rPr>
              <a:t>herramienta</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análisis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seguridad</a:t>
            </a:r>
            <a:r>
              <a:rPr lang="en-US" sz="1800" dirty="0">
                <a:solidFill>
                  <a:srgbClr val="000000"/>
                </a:solidFill>
                <a:latin typeface="Trebuchet MS" panose="020B0603020202020204" pitchFamily="34" charset="0"/>
                <a:ea typeface="+mn-lt"/>
                <a:cs typeface="+mn-lt"/>
              </a:rPr>
              <a:t> .NET Security Guardrails.</a:t>
            </a:r>
            <a:endParaRPr lang="en-US" sz="1800" dirty="0">
              <a:solidFill>
                <a:srgbClr val="000000"/>
              </a:solidFill>
              <a:latin typeface="Trebuchet MS" panose="020B0603020202020204" pitchFamily="34" charset="0"/>
            </a:endParaRPr>
          </a:p>
        </p:txBody>
      </p:sp>
      <p:pic>
        <p:nvPicPr>
          <p:cNvPr id="3" name="Picture 3">
            <a:extLst>
              <a:ext uri="{FF2B5EF4-FFF2-40B4-BE49-F238E27FC236}">
                <a16:creationId xmlns:a16="http://schemas.microsoft.com/office/drawing/2014/main" id="{E9979717-F319-A958-24F6-48C5D2B643A6}"/>
              </a:ext>
            </a:extLst>
          </p:cNvPr>
          <p:cNvPicPr>
            <a:picLocks noChangeAspect="1"/>
          </p:cNvPicPr>
          <p:nvPr/>
        </p:nvPicPr>
        <p:blipFill>
          <a:blip r:embed="rId4"/>
          <a:stretch>
            <a:fillRect/>
          </a:stretch>
        </p:blipFill>
        <p:spPr>
          <a:xfrm>
            <a:off x="2233731" y="3811243"/>
            <a:ext cx="7966705" cy="1362075"/>
          </a:xfrm>
          <a:prstGeom prst="rect">
            <a:avLst/>
          </a:prstGeom>
        </p:spPr>
      </p:pic>
      <p:sp>
        <p:nvSpPr>
          <p:cNvPr id="4" name="CuadroTexto 3">
            <a:extLst>
              <a:ext uri="{FF2B5EF4-FFF2-40B4-BE49-F238E27FC236}">
                <a16:creationId xmlns:a16="http://schemas.microsoft.com/office/drawing/2014/main" id="{560BF11A-9F98-6E1B-0243-EC760B5922B3}"/>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Configuración Segura del Entorno</a:t>
            </a:r>
          </a:p>
        </p:txBody>
      </p:sp>
      <p:pic>
        <p:nvPicPr>
          <p:cNvPr id="6" name="Imagen 5" descr="Interfaz de usuario gráfica&#10;&#10;El contenido generado por IA puede ser incorrecto.">
            <a:extLst>
              <a:ext uri="{FF2B5EF4-FFF2-40B4-BE49-F238E27FC236}">
                <a16:creationId xmlns:a16="http://schemas.microsoft.com/office/drawing/2014/main" id="{E1018A44-C4ED-E3C1-7F20-B59773464F47}"/>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924958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5D21A-F5CE-CDDD-9FEC-C8444AADE0BA}"/>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1279C855-D66E-3E4B-2507-DB989886676C}"/>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FBC8A4E2-1740-70D6-5BF8-46C1C529E86F}"/>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6" name="Picture 1">
            <a:extLst>
              <a:ext uri="{FF2B5EF4-FFF2-40B4-BE49-F238E27FC236}">
                <a16:creationId xmlns:a16="http://schemas.microsoft.com/office/drawing/2014/main" id="{57EA543D-1006-DF89-1109-D33F0877D394}"/>
              </a:ext>
            </a:extLst>
          </p:cNvPr>
          <p:cNvPicPr>
            <a:picLocks noChangeAspect="1"/>
          </p:cNvPicPr>
          <p:nvPr/>
        </p:nvPicPr>
        <p:blipFill>
          <a:blip r:embed="rId4"/>
          <a:stretch>
            <a:fillRect/>
          </a:stretch>
        </p:blipFill>
        <p:spPr>
          <a:xfrm>
            <a:off x="2611923" y="942974"/>
            <a:ext cx="6785040" cy="4972050"/>
          </a:xfrm>
          <a:prstGeom prst="rect">
            <a:avLst/>
          </a:prstGeom>
        </p:spPr>
      </p:pic>
      <p:sp>
        <p:nvSpPr>
          <p:cNvPr id="2" name="CuadroTexto 1">
            <a:extLst>
              <a:ext uri="{FF2B5EF4-FFF2-40B4-BE49-F238E27FC236}">
                <a16:creationId xmlns:a16="http://schemas.microsoft.com/office/drawing/2014/main" id="{5C83DD5A-A4DC-6582-B9ED-A7771593746F}"/>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Seguridad aplicada a código</a:t>
            </a:r>
          </a:p>
        </p:txBody>
      </p:sp>
      <p:pic>
        <p:nvPicPr>
          <p:cNvPr id="3" name="Imagen 2" descr="Interfaz de usuario gráfica&#10;&#10;El contenido generado por IA puede ser incorrecto.">
            <a:extLst>
              <a:ext uri="{FF2B5EF4-FFF2-40B4-BE49-F238E27FC236}">
                <a16:creationId xmlns:a16="http://schemas.microsoft.com/office/drawing/2014/main" id="{FEFCE3C3-7242-FDFE-3867-66BD1DF71855}"/>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00984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CDE74-3B4D-838B-5A66-E0545627BDF2}"/>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B4F13308-541C-23A5-52E7-7C5EBD53292A}"/>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265567F8-D118-CBBC-2951-F407E02EBC59}"/>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4" name="CuadroTexto 3">
            <a:extLst>
              <a:ext uri="{FF2B5EF4-FFF2-40B4-BE49-F238E27FC236}">
                <a16:creationId xmlns:a16="http://schemas.microsoft.com/office/drawing/2014/main" id="{CDEBA849-C250-D4F4-56EF-2BAC652C884F}"/>
              </a:ext>
            </a:extLst>
          </p:cNvPr>
          <p:cNvSpPr txBox="1"/>
          <p:nvPr/>
        </p:nvSpPr>
        <p:spPr>
          <a:xfrm>
            <a:off x="429768" y="251936"/>
            <a:ext cx="9197311"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Validación de Datos de Entrada y Salida</a:t>
            </a:r>
          </a:p>
        </p:txBody>
      </p:sp>
      <p:sp>
        <p:nvSpPr>
          <p:cNvPr id="6" name="TextBox 5">
            <a:extLst>
              <a:ext uri="{FF2B5EF4-FFF2-40B4-BE49-F238E27FC236}">
                <a16:creationId xmlns:a16="http://schemas.microsoft.com/office/drawing/2014/main" id="{F468DE91-C071-E994-5DFD-D7959A227D7C}"/>
              </a:ext>
            </a:extLst>
          </p:cNvPr>
          <p:cNvSpPr txBox="1"/>
          <p:nvPr/>
        </p:nvSpPr>
        <p:spPr>
          <a:xfrm>
            <a:off x="454934" y="1282007"/>
            <a:ext cx="976292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dirty="0">
                <a:solidFill>
                  <a:srgbClr val="000000"/>
                </a:solidFill>
                <a:latin typeface="Trebuchet MS" panose="020B0603020202020204" pitchFamily="34" charset="0"/>
                <a:ea typeface="+mn-lt"/>
                <a:cs typeface="+mn-lt"/>
              </a:rPr>
              <a:t>La </a:t>
            </a:r>
            <a:r>
              <a:rPr lang="en-US" sz="1800" dirty="0" err="1">
                <a:solidFill>
                  <a:srgbClr val="000000"/>
                </a:solidFill>
                <a:latin typeface="Trebuchet MS" panose="020B0603020202020204" pitchFamily="34" charset="0"/>
                <a:ea typeface="+mn-lt"/>
                <a:cs typeface="+mn-lt"/>
              </a:rPr>
              <a:t>validación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adecuada</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de entrada y </a:t>
            </a:r>
            <a:r>
              <a:rPr lang="en-US" sz="1800" dirty="0" err="1">
                <a:solidFill>
                  <a:srgbClr val="000000"/>
                </a:solidFill>
                <a:latin typeface="Trebuchet MS" panose="020B0603020202020204" pitchFamily="34" charset="0"/>
                <a:ea typeface="+mn-lt"/>
                <a:cs typeface="+mn-lt"/>
              </a:rPr>
              <a:t>salida</a:t>
            </a:r>
            <a:r>
              <a:rPr lang="en-US" sz="1800" dirty="0">
                <a:solidFill>
                  <a:srgbClr val="000000"/>
                </a:solidFill>
                <a:latin typeface="Trebuchet MS" panose="020B0603020202020204" pitchFamily="34" charset="0"/>
                <a:ea typeface="+mn-lt"/>
                <a:cs typeface="+mn-lt"/>
              </a:rPr>
              <a:t> es </a:t>
            </a:r>
            <a:r>
              <a:rPr lang="en-US" sz="1800" dirty="0" err="1">
                <a:solidFill>
                  <a:srgbClr val="000000"/>
                </a:solidFill>
                <a:latin typeface="Trebuchet MS" panose="020B0603020202020204" pitchFamily="34" charset="0"/>
                <a:ea typeface="+mn-lt"/>
                <a:cs typeface="+mn-lt"/>
              </a:rPr>
              <a:t>esencial</a:t>
            </a:r>
            <a:r>
              <a:rPr lang="en-US" sz="1800" dirty="0">
                <a:solidFill>
                  <a:srgbClr val="000000"/>
                </a:solidFill>
                <a:latin typeface="Trebuchet MS" panose="020B0603020202020204" pitchFamily="34" charset="0"/>
                <a:ea typeface="+mn-lt"/>
                <a:cs typeface="+mn-lt"/>
              </a:rPr>
              <a:t> para </a:t>
            </a:r>
            <a:r>
              <a:rPr lang="en-US" sz="1800" dirty="0" err="1">
                <a:solidFill>
                  <a:srgbClr val="000000"/>
                </a:solidFill>
                <a:latin typeface="Trebuchet MS" panose="020B0603020202020204" pitchFamily="34" charset="0"/>
                <a:ea typeface="+mn-lt"/>
                <a:cs typeface="+mn-lt"/>
              </a:rPr>
              <a:t>prevenir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ataques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como</a:t>
            </a:r>
            <a:r>
              <a:rPr lang="en-US" sz="1800" dirty="0">
                <a:solidFill>
                  <a:srgbClr val="000000"/>
                </a:solidFill>
                <a:latin typeface="Trebuchet MS" panose="020B0603020202020204" pitchFamily="34" charset="0"/>
                <a:ea typeface="+mn-lt"/>
                <a:cs typeface="+mn-lt"/>
              </a:rPr>
              <a:t> Cross-Site Scripting (XSS) y Cross-Site Request Forgery (CSRF). </a:t>
            </a:r>
          </a:p>
          <a:p>
            <a:pPr algn="just"/>
            <a:endParaRPr lang="en-US" sz="1800" dirty="0">
              <a:solidFill>
                <a:srgbClr val="000000"/>
              </a:solidFill>
              <a:latin typeface="Trebuchet MS" panose="020B0603020202020204" pitchFamily="34" charset="0"/>
              <a:ea typeface="+mn-lt"/>
              <a:cs typeface="+mn-lt"/>
            </a:endParaRPr>
          </a:p>
          <a:p>
            <a:pPr algn="just"/>
            <a:r>
              <a:rPr lang="en-US" sz="1800" dirty="0">
                <a:solidFill>
                  <a:srgbClr val="000000"/>
                </a:solidFill>
                <a:latin typeface="Trebuchet MS" panose="020B0603020202020204" pitchFamily="34" charset="0"/>
                <a:ea typeface="+mn-lt"/>
                <a:cs typeface="+mn-lt"/>
              </a:rPr>
              <a:t>En </a:t>
            </a:r>
            <a:r>
              <a:rPr lang="en-US" sz="1800" b="1" dirty="0">
                <a:solidFill>
                  <a:srgbClr val="000000"/>
                </a:solidFill>
                <a:latin typeface="Trebuchet MS" panose="020B0603020202020204" pitchFamily="34" charset="0"/>
                <a:ea typeface="+mn-lt"/>
                <a:cs typeface="+mn-lt"/>
              </a:rPr>
              <a:t>.NET</a:t>
            </a:r>
            <a:r>
              <a:rPr lang="en-US" sz="1800" dirty="0">
                <a:solidFill>
                  <a:srgbClr val="000000"/>
                </a:solidFill>
                <a:latin typeface="Trebuchet MS" panose="020B0603020202020204" pitchFamily="34" charset="0"/>
                <a:ea typeface="+mn-lt"/>
                <a:cs typeface="+mn-lt"/>
              </a:rPr>
              <a:t>, se </a:t>
            </a:r>
            <a:r>
              <a:rPr lang="en-US" sz="1800" dirty="0" err="1">
                <a:solidFill>
                  <a:srgbClr val="000000"/>
                </a:solidFill>
                <a:latin typeface="Trebuchet MS" panose="020B0603020202020204" pitchFamily="34" charset="0"/>
                <a:ea typeface="+mn-lt"/>
                <a:cs typeface="+mn-lt"/>
              </a:rPr>
              <a:t>puede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utilizar</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clase</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HttpUtility.HtmlEncode</a:t>
            </a:r>
            <a:r>
              <a:rPr lang="en-US" sz="1800" dirty="0">
                <a:solidFill>
                  <a:srgbClr val="000000"/>
                </a:solidFill>
                <a:latin typeface="Trebuchet MS" panose="020B0603020202020204" pitchFamily="34" charset="0"/>
                <a:ea typeface="+mn-lt"/>
                <a:cs typeface="+mn-lt"/>
              </a:rPr>
              <a:t> para </a:t>
            </a:r>
            <a:r>
              <a:rPr lang="en-US" sz="1800" dirty="0" err="1">
                <a:solidFill>
                  <a:srgbClr val="000000"/>
                </a:solidFill>
                <a:latin typeface="Trebuchet MS" panose="020B0603020202020204" pitchFamily="34" charset="0"/>
                <a:ea typeface="+mn-lt"/>
                <a:cs typeface="+mn-lt"/>
              </a:rPr>
              <a:t>codificar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datos</a:t>
            </a:r>
            <a:r>
              <a:rPr lang="en-US" sz="1800" dirty="0">
                <a:solidFill>
                  <a:srgbClr val="000000"/>
                </a:solidFill>
                <a:latin typeface="Trebuchet MS" panose="020B0603020202020204" pitchFamily="34" charset="0"/>
                <a:ea typeface="+mn-lt"/>
                <a:cs typeface="+mn-lt"/>
              </a:rPr>
              <a:t> antes de </a:t>
            </a:r>
            <a:r>
              <a:rPr lang="en-US" sz="1800" dirty="0" err="1">
                <a:solidFill>
                  <a:srgbClr val="000000"/>
                </a:solidFill>
                <a:latin typeface="Trebuchet MS" panose="020B0603020202020204" pitchFamily="34" charset="0"/>
                <a:ea typeface="+mn-lt"/>
                <a:cs typeface="+mn-lt"/>
              </a:rPr>
              <a:t>mostrarlos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una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página</a:t>
            </a:r>
            <a:r>
              <a:rPr lang="en-US" sz="1800" dirty="0">
                <a:solidFill>
                  <a:srgbClr val="000000"/>
                </a:solidFill>
                <a:latin typeface="Trebuchet MS" panose="020B0603020202020204" pitchFamily="34" charset="0"/>
                <a:ea typeface="+mn-lt"/>
                <a:cs typeface="+mn-lt"/>
              </a:rPr>
              <a:t> web.</a:t>
            </a:r>
            <a:endParaRPr lang="en-US" sz="1800" dirty="0">
              <a:solidFill>
                <a:srgbClr val="000000"/>
              </a:solidFill>
              <a:latin typeface="Trebuchet MS" panose="020B0603020202020204" pitchFamily="34" charset="0"/>
            </a:endParaRPr>
          </a:p>
        </p:txBody>
      </p:sp>
      <p:pic>
        <p:nvPicPr>
          <p:cNvPr id="7" name="Picture 6">
            <a:extLst>
              <a:ext uri="{FF2B5EF4-FFF2-40B4-BE49-F238E27FC236}">
                <a16:creationId xmlns:a16="http://schemas.microsoft.com/office/drawing/2014/main" id="{AB2C128F-3645-DECC-94AC-6A3C30854A52}"/>
              </a:ext>
            </a:extLst>
          </p:cNvPr>
          <p:cNvPicPr>
            <a:picLocks noChangeAspect="1"/>
          </p:cNvPicPr>
          <p:nvPr/>
        </p:nvPicPr>
        <p:blipFill>
          <a:blip r:embed="rId4"/>
          <a:stretch>
            <a:fillRect/>
          </a:stretch>
        </p:blipFill>
        <p:spPr>
          <a:xfrm>
            <a:off x="2836921" y="2804535"/>
            <a:ext cx="6518158" cy="3126523"/>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623B92B9-7932-E462-B758-B1F48AD47C36}"/>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150173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E6B76-3357-11AF-CB7C-81D3D03F447C}"/>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9D873E22-677D-5CA6-F34D-06C039E779E1}"/>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9547B0FC-CCE2-339E-13E3-547EB7731619}"/>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4" name="CuadroTexto 3">
            <a:extLst>
              <a:ext uri="{FF2B5EF4-FFF2-40B4-BE49-F238E27FC236}">
                <a16:creationId xmlns:a16="http://schemas.microsoft.com/office/drawing/2014/main" id="{2B55D8BC-8D46-82F3-68D7-4C603B894495}"/>
              </a:ext>
            </a:extLst>
          </p:cNvPr>
          <p:cNvSpPr txBox="1"/>
          <p:nvPr/>
        </p:nvSpPr>
        <p:spPr>
          <a:xfrm>
            <a:off x="429768" y="251936"/>
            <a:ext cx="9197311"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Manejo Seguro de Errores</a:t>
            </a:r>
          </a:p>
        </p:txBody>
      </p:sp>
      <p:sp>
        <p:nvSpPr>
          <p:cNvPr id="2" name="TextBox 5">
            <a:extLst>
              <a:ext uri="{FF2B5EF4-FFF2-40B4-BE49-F238E27FC236}">
                <a16:creationId xmlns:a16="http://schemas.microsoft.com/office/drawing/2014/main" id="{818339AC-046E-A2FF-FAF3-BF749795F067}"/>
              </a:ext>
            </a:extLst>
          </p:cNvPr>
          <p:cNvSpPr txBox="1"/>
          <p:nvPr/>
        </p:nvSpPr>
        <p:spPr>
          <a:xfrm>
            <a:off x="437684" y="1100857"/>
            <a:ext cx="976292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dirty="0">
                <a:solidFill>
                  <a:srgbClr val="000000"/>
                </a:solidFill>
                <a:latin typeface="Trebuchet MS" panose="020B0603020202020204" pitchFamily="34" charset="0"/>
                <a:ea typeface="+mn-lt"/>
                <a:cs typeface="+mn-lt"/>
              </a:rPr>
              <a:t>El </a:t>
            </a:r>
            <a:r>
              <a:rPr lang="en-US" sz="1800" dirty="0" err="1">
                <a:solidFill>
                  <a:srgbClr val="000000"/>
                </a:solidFill>
                <a:latin typeface="Trebuchet MS" panose="020B0603020202020204" pitchFamily="34" charset="0"/>
                <a:ea typeface="+mn-lt"/>
                <a:cs typeface="+mn-lt"/>
              </a:rPr>
              <a:t>manejo</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seguro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errores</a:t>
            </a:r>
            <a:r>
              <a:rPr lang="en-US" sz="1800" dirty="0">
                <a:solidFill>
                  <a:srgbClr val="000000"/>
                </a:solidFill>
                <a:latin typeface="Trebuchet MS" panose="020B0603020202020204" pitchFamily="34" charset="0"/>
                <a:ea typeface="+mn-lt"/>
                <a:cs typeface="+mn-lt"/>
              </a:rPr>
              <a:t> es fundamental para </a:t>
            </a:r>
            <a:r>
              <a:rPr lang="en-US" sz="1800" dirty="0" err="1">
                <a:solidFill>
                  <a:srgbClr val="000000"/>
                </a:solidFill>
                <a:latin typeface="Trebuchet MS" panose="020B0603020202020204" pitchFamily="34" charset="0"/>
                <a:ea typeface="+mn-lt"/>
                <a:cs typeface="+mn-lt"/>
              </a:rPr>
              <a:t>proteger</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contra </a:t>
            </a:r>
            <a:r>
              <a:rPr lang="en-US" sz="1800" dirty="0" err="1">
                <a:solidFill>
                  <a:srgbClr val="000000"/>
                </a:solidFill>
                <a:latin typeface="Trebuchet MS" panose="020B0603020202020204" pitchFamily="34" charset="0"/>
                <a:ea typeface="+mn-lt"/>
                <a:cs typeface="+mn-lt"/>
              </a:rPr>
              <a:t>ataques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como</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divulgación</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información</a:t>
            </a:r>
            <a:r>
              <a:rPr lang="en-US" sz="1800" dirty="0">
                <a:solidFill>
                  <a:srgbClr val="000000"/>
                </a:solidFill>
                <a:latin typeface="Trebuchet MS" panose="020B0603020202020204" pitchFamily="34" charset="0"/>
                <a:ea typeface="+mn-lt"/>
                <a:cs typeface="+mn-lt"/>
              </a:rPr>
              <a:t> sensible. Se </a:t>
            </a:r>
            <a:r>
              <a:rPr lang="en-US" sz="1800" dirty="0" err="1">
                <a:solidFill>
                  <a:srgbClr val="000000"/>
                </a:solidFill>
                <a:latin typeface="Trebuchet MS" panose="020B0603020202020204" pitchFamily="34" charset="0"/>
                <a:ea typeface="+mn-lt"/>
                <a:cs typeface="+mn-lt"/>
              </a:rPr>
              <a:t>deben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evitar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mensajes</a:t>
            </a:r>
            <a:r>
              <a:rPr lang="en-US" sz="1800" dirty="0">
                <a:solidFill>
                  <a:srgbClr val="000000"/>
                </a:solidFill>
                <a:latin typeface="Trebuchet MS" panose="020B0603020202020204" pitchFamily="34" charset="0"/>
                <a:ea typeface="+mn-lt"/>
                <a:cs typeface="+mn-lt"/>
              </a:rPr>
              <a:t> de error </a:t>
            </a:r>
            <a:r>
              <a:rPr lang="en-US" sz="1800" dirty="0" err="1">
                <a:solidFill>
                  <a:srgbClr val="000000"/>
                </a:solidFill>
                <a:latin typeface="Trebuchet MS" panose="020B0603020202020204" pitchFamily="34" charset="0"/>
                <a:ea typeface="+mn-lt"/>
                <a:cs typeface="+mn-lt"/>
              </a:rPr>
              <a:t>detallados</a:t>
            </a:r>
            <a:r>
              <a:rPr lang="en-US" sz="1800" dirty="0">
                <a:solidFill>
                  <a:srgbClr val="000000"/>
                </a:solidFill>
                <a:latin typeface="Trebuchet MS" panose="020B0603020202020204" pitchFamily="34" charset="0"/>
                <a:ea typeface="+mn-lt"/>
                <a:cs typeface="+mn-lt"/>
              </a:rPr>
              <a:t> que </a:t>
            </a:r>
            <a:r>
              <a:rPr lang="en-US" sz="1800" dirty="0" err="1">
                <a:solidFill>
                  <a:srgbClr val="000000"/>
                </a:solidFill>
                <a:latin typeface="Trebuchet MS" panose="020B0603020202020204" pitchFamily="34" charset="0"/>
                <a:ea typeface="+mn-lt"/>
                <a:cs typeface="+mn-lt"/>
              </a:rPr>
              <a:t>puedan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revelar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información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confidencial</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sobre</a:t>
            </a:r>
            <a:r>
              <a:rPr lang="en-US" sz="1800" dirty="0">
                <a:solidFill>
                  <a:srgbClr val="000000"/>
                </a:solidFill>
                <a:latin typeface="Trebuchet MS" panose="020B0603020202020204" pitchFamily="34" charset="0"/>
                <a:ea typeface="+mn-lt"/>
                <a:cs typeface="+mn-lt"/>
              </a:rPr>
              <a:t> la </a:t>
            </a:r>
            <a:r>
              <a:rPr lang="en-US" sz="1800" dirty="0" err="1">
                <a:solidFill>
                  <a:srgbClr val="000000"/>
                </a:solidFill>
                <a:latin typeface="Trebuchet MS" panose="020B0603020202020204" pitchFamily="34" charset="0"/>
                <a:ea typeface="+mn-lt"/>
                <a:cs typeface="+mn-lt"/>
              </a:rPr>
              <a:t>aplicación</a:t>
            </a:r>
            <a:r>
              <a:rPr lang="en-US" sz="1800" dirty="0">
                <a:solidFill>
                  <a:srgbClr val="000000"/>
                </a:solidFill>
                <a:latin typeface="Trebuchet MS" panose="020B0603020202020204" pitchFamily="34" charset="0"/>
                <a:ea typeface="+mn-lt"/>
                <a:cs typeface="+mn-lt"/>
              </a:rPr>
              <a:t> o </a:t>
            </a:r>
            <a:r>
              <a:rPr lang="en-US" sz="1800" dirty="0" err="1">
                <a:solidFill>
                  <a:srgbClr val="000000"/>
                </a:solidFill>
                <a:latin typeface="Trebuchet MS" panose="020B0603020202020204" pitchFamily="34" charset="0"/>
                <a:ea typeface="+mn-lt"/>
                <a:cs typeface="+mn-lt"/>
              </a:rPr>
              <a:t>su</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entorno</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ejecución</a:t>
            </a:r>
            <a:r>
              <a:rPr lang="en-US" sz="1800" dirty="0">
                <a:solidFill>
                  <a:srgbClr val="000000"/>
                </a:solidFill>
                <a:latin typeface="Trebuchet MS" panose="020B0603020202020204" pitchFamily="34" charset="0"/>
                <a:ea typeface="+mn-lt"/>
                <a:cs typeface="+mn-lt"/>
              </a:rPr>
              <a:t>. En </a:t>
            </a:r>
            <a:r>
              <a:rPr lang="en-US" sz="1800" dirty="0" err="1">
                <a:solidFill>
                  <a:srgbClr val="000000"/>
                </a:solidFill>
                <a:latin typeface="Trebuchet MS" panose="020B0603020202020204" pitchFamily="34" charset="0"/>
                <a:ea typeface="+mn-lt"/>
                <a:cs typeface="+mn-lt"/>
              </a:rPr>
              <a:t>su</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lugar</a:t>
            </a:r>
            <a:r>
              <a:rPr lang="en-US" sz="1800" dirty="0">
                <a:solidFill>
                  <a:srgbClr val="000000"/>
                </a:solidFill>
                <a:latin typeface="Trebuchet MS" panose="020B0603020202020204" pitchFamily="34" charset="0"/>
                <a:ea typeface="+mn-lt"/>
                <a:cs typeface="+mn-lt"/>
              </a:rPr>
              <a:t>, se </a:t>
            </a:r>
            <a:r>
              <a:rPr lang="en-US" sz="1800" dirty="0" err="1">
                <a:solidFill>
                  <a:srgbClr val="000000"/>
                </a:solidFill>
                <a:latin typeface="Trebuchet MS" panose="020B0603020202020204" pitchFamily="34" charset="0"/>
                <a:ea typeface="+mn-lt"/>
                <a:cs typeface="+mn-lt"/>
              </a:rPr>
              <a:t>deben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utilizar</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mensajes</a:t>
            </a:r>
            <a:r>
              <a:rPr lang="en-US" sz="1800" dirty="0">
                <a:solidFill>
                  <a:srgbClr val="000000"/>
                </a:solidFill>
                <a:latin typeface="Trebuchet MS" panose="020B0603020202020204" pitchFamily="34" charset="0"/>
                <a:ea typeface="+mn-lt"/>
                <a:cs typeface="+mn-lt"/>
              </a:rPr>
              <a:t> de error </a:t>
            </a:r>
            <a:r>
              <a:rPr lang="en-US" sz="1800" dirty="0" err="1">
                <a:solidFill>
                  <a:srgbClr val="000000"/>
                </a:solidFill>
                <a:latin typeface="Trebuchet MS" panose="020B0603020202020204" pitchFamily="34" charset="0"/>
                <a:ea typeface="+mn-lt"/>
                <a:cs typeface="+mn-lt"/>
              </a:rPr>
              <a:t>genéricos</a:t>
            </a:r>
            <a:r>
              <a:rPr lang="en-US" sz="1800" dirty="0">
                <a:solidFill>
                  <a:srgbClr val="000000"/>
                </a:solidFill>
                <a:latin typeface="Trebuchet MS" panose="020B0603020202020204" pitchFamily="34" charset="0"/>
                <a:ea typeface="+mn-lt"/>
                <a:cs typeface="+mn-lt"/>
              </a:rPr>
              <a:t> y registrar </a:t>
            </a:r>
            <a:r>
              <a:rPr lang="en-US" sz="1800" dirty="0" err="1">
                <a:solidFill>
                  <a:srgbClr val="000000"/>
                </a:solidFill>
                <a:latin typeface="Trebuchet MS" panose="020B0603020202020204" pitchFamily="34" charset="0"/>
                <a:ea typeface="+mn-lt"/>
                <a:cs typeface="+mn-lt"/>
              </a:rPr>
              <a:t>los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errores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manera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segura</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en</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registros</a:t>
            </a:r>
            <a:r>
              <a:rPr lang="en-US" sz="1800" dirty="0">
                <a:solidFill>
                  <a:srgbClr val="000000"/>
                </a:solidFill>
                <a:latin typeface="Trebuchet MS" panose="020B0603020202020204" pitchFamily="34" charset="0"/>
                <a:ea typeface="+mn-lt"/>
                <a:cs typeface="+mn-lt"/>
              </a:rPr>
              <a:t> de </a:t>
            </a:r>
            <a:r>
              <a:rPr lang="en-US" sz="1800" dirty="0" err="1">
                <a:solidFill>
                  <a:srgbClr val="000000"/>
                </a:solidFill>
                <a:latin typeface="Trebuchet MS" panose="020B0603020202020204" pitchFamily="34" charset="0"/>
                <a:ea typeface="+mn-lt"/>
                <a:cs typeface="+mn-lt"/>
              </a:rPr>
              <a:t>eventos</a:t>
            </a:r>
            <a:r>
              <a:rPr lang="en-US" sz="1800" dirty="0">
                <a:solidFill>
                  <a:srgbClr val="000000"/>
                </a:solidFill>
                <a:latin typeface="Trebuchet MS" panose="020B0603020202020204" pitchFamily="34" charset="0"/>
                <a:ea typeface="+mn-lt"/>
                <a:cs typeface="+mn-lt"/>
              </a:rPr>
              <a:t> </a:t>
            </a:r>
            <a:r>
              <a:rPr lang="en-US" sz="1800" dirty="0" err="1">
                <a:solidFill>
                  <a:srgbClr val="000000"/>
                </a:solidFill>
                <a:latin typeface="Trebuchet MS" panose="020B0603020202020204" pitchFamily="34" charset="0"/>
                <a:ea typeface="+mn-lt"/>
                <a:cs typeface="+mn-lt"/>
              </a:rPr>
              <a:t>protegidos</a:t>
            </a:r>
            <a:r>
              <a:rPr lang="en-US" sz="1800" dirty="0">
                <a:solidFill>
                  <a:srgbClr val="000000"/>
                </a:solidFill>
                <a:latin typeface="Trebuchet MS" panose="020B0603020202020204" pitchFamily="34" charset="0"/>
                <a:ea typeface="+mn-lt"/>
                <a:cs typeface="+mn-lt"/>
              </a:rPr>
              <a:t>.</a:t>
            </a:r>
          </a:p>
        </p:txBody>
      </p:sp>
      <p:pic>
        <p:nvPicPr>
          <p:cNvPr id="3" name="Picture 1">
            <a:extLst>
              <a:ext uri="{FF2B5EF4-FFF2-40B4-BE49-F238E27FC236}">
                <a16:creationId xmlns:a16="http://schemas.microsoft.com/office/drawing/2014/main" id="{8A50E436-DF89-B858-BAFA-FAD154BE5CB2}"/>
              </a:ext>
            </a:extLst>
          </p:cNvPr>
          <p:cNvPicPr>
            <a:picLocks noChangeAspect="1"/>
          </p:cNvPicPr>
          <p:nvPr/>
        </p:nvPicPr>
        <p:blipFill rotWithShape="1">
          <a:blip r:embed="rId4"/>
          <a:srcRect t="11405" b="40049"/>
          <a:stretch/>
        </p:blipFill>
        <p:spPr>
          <a:xfrm>
            <a:off x="2499482" y="2842331"/>
            <a:ext cx="7193035" cy="2743201"/>
          </a:xfrm>
          <a:prstGeom prst="rect">
            <a:avLst/>
          </a:prstGeom>
        </p:spPr>
      </p:pic>
      <p:pic>
        <p:nvPicPr>
          <p:cNvPr id="6" name="Imagen 5" descr="Interfaz de usuario gráfica&#10;&#10;El contenido generado por IA puede ser incorrecto.">
            <a:extLst>
              <a:ext uri="{FF2B5EF4-FFF2-40B4-BE49-F238E27FC236}">
                <a16:creationId xmlns:a16="http://schemas.microsoft.com/office/drawing/2014/main" id="{0C625B8F-401C-C12A-5ED0-2B083015D8EF}"/>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871380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0F27C-DA70-9C61-272A-2874043B760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708E52DB-F0D8-7FDD-FD6B-81490D9ECCEC}"/>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AA5523A9-E870-B46D-0E24-79C07126EA80}"/>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4" name="CuadroTexto 3">
            <a:extLst>
              <a:ext uri="{FF2B5EF4-FFF2-40B4-BE49-F238E27FC236}">
                <a16:creationId xmlns:a16="http://schemas.microsoft.com/office/drawing/2014/main" id="{81BBDBE7-7AE0-0383-C74B-67AFEDACE037}"/>
              </a:ext>
            </a:extLst>
          </p:cNvPr>
          <p:cNvSpPr txBox="1"/>
          <p:nvPr/>
        </p:nvSpPr>
        <p:spPr>
          <a:xfrm>
            <a:off x="429768" y="251936"/>
            <a:ext cx="9197311"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Uso de </a:t>
            </a:r>
            <a:r>
              <a:rPr lang="es-ES" dirty="0" err="1">
                <a:solidFill>
                  <a:schemeClr val="tx1">
                    <a:lumMod val="75000"/>
                    <a:lumOff val="25000"/>
                  </a:schemeClr>
                </a:solidFill>
              </a:rPr>
              <a:t>APIs</a:t>
            </a:r>
            <a:r>
              <a:rPr lang="es-ES" dirty="0">
                <a:solidFill>
                  <a:schemeClr val="tx1">
                    <a:lumMod val="75000"/>
                    <a:lumOff val="25000"/>
                  </a:schemeClr>
                </a:solidFill>
              </a:rPr>
              <a:t> y bibliotecas seguras de .NET/JAVA</a:t>
            </a:r>
          </a:p>
        </p:txBody>
      </p:sp>
      <p:pic>
        <p:nvPicPr>
          <p:cNvPr id="6" name="Imagen 5">
            <a:extLst>
              <a:ext uri="{FF2B5EF4-FFF2-40B4-BE49-F238E27FC236}">
                <a16:creationId xmlns:a16="http://schemas.microsoft.com/office/drawing/2014/main" id="{3EE787F5-1446-C9C8-5792-79774078AD7D}"/>
              </a:ext>
            </a:extLst>
          </p:cNvPr>
          <p:cNvPicPr>
            <a:picLocks noChangeAspect="1"/>
          </p:cNvPicPr>
          <p:nvPr/>
        </p:nvPicPr>
        <p:blipFill rotWithShape="1">
          <a:blip r:embed="rId4"/>
          <a:srcRect l="4545" t="4895" r="4196" b="7343"/>
          <a:stretch/>
        </p:blipFill>
        <p:spPr>
          <a:xfrm>
            <a:off x="4259717" y="1949972"/>
            <a:ext cx="3578861" cy="3375020"/>
          </a:xfrm>
          <a:prstGeom prst="rect">
            <a:avLst/>
          </a:prstGeom>
        </p:spPr>
      </p:pic>
      <p:sp>
        <p:nvSpPr>
          <p:cNvPr id="7" name="CuadroTexto 6">
            <a:extLst>
              <a:ext uri="{FF2B5EF4-FFF2-40B4-BE49-F238E27FC236}">
                <a16:creationId xmlns:a16="http://schemas.microsoft.com/office/drawing/2014/main" id="{3022E6B5-3424-B546-5C75-8CBCB9B46A4B}"/>
              </a:ext>
            </a:extLst>
          </p:cNvPr>
          <p:cNvSpPr txBox="1"/>
          <p:nvPr/>
        </p:nvSpPr>
        <p:spPr>
          <a:xfrm>
            <a:off x="4624089" y="1226018"/>
            <a:ext cx="28321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cs typeface="Calibri"/>
              </a:rPr>
              <a:t>Investigar y seleccionar bibliotecas confiables</a:t>
            </a:r>
            <a:endParaRPr lang="es-ES" dirty="0"/>
          </a:p>
        </p:txBody>
      </p:sp>
      <p:sp>
        <p:nvSpPr>
          <p:cNvPr id="8" name="CuadroTexto 7">
            <a:extLst>
              <a:ext uri="{FF2B5EF4-FFF2-40B4-BE49-F238E27FC236}">
                <a16:creationId xmlns:a16="http://schemas.microsoft.com/office/drawing/2014/main" id="{6D0BD38E-553D-CF45-D723-D32D5C0178A4}"/>
              </a:ext>
            </a:extLst>
          </p:cNvPr>
          <p:cNvSpPr txBox="1"/>
          <p:nvPr/>
        </p:nvSpPr>
        <p:spPr>
          <a:xfrm>
            <a:off x="7839063" y="2587833"/>
            <a:ext cx="28321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cs typeface="Calibri"/>
              </a:rPr>
              <a:t>Actualizar regularmente las bibliotecas</a:t>
            </a:r>
            <a:endParaRPr lang="es-ES"/>
          </a:p>
        </p:txBody>
      </p:sp>
      <p:sp>
        <p:nvSpPr>
          <p:cNvPr id="9" name="CuadroTexto 8">
            <a:extLst>
              <a:ext uri="{FF2B5EF4-FFF2-40B4-BE49-F238E27FC236}">
                <a16:creationId xmlns:a16="http://schemas.microsoft.com/office/drawing/2014/main" id="{A752844E-24D1-BDF5-2C14-633B5CC2EC1E}"/>
              </a:ext>
            </a:extLst>
          </p:cNvPr>
          <p:cNvSpPr txBox="1"/>
          <p:nvPr/>
        </p:nvSpPr>
        <p:spPr>
          <a:xfrm>
            <a:off x="7335304" y="5119547"/>
            <a:ext cx="28321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cs typeface="Calibri"/>
              </a:rPr>
              <a:t>Verificar la seguridad de las </a:t>
            </a:r>
            <a:r>
              <a:rPr lang="es-ES" dirty="0" err="1">
                <a:cs typeface="Calibri"/>
              </a:rPr>
              <a:t>APIs</a:t>
            </a:r>
            <a:r>
              <a:rPr lang="es-ES" dirty="0">
                <a:cs typeface="Calibri"/>
              </a:rPr>
              <a:t> utilizadas</a:t>
            </a:r>
            <a:endParaRPr lang="es-ES" dirty="0"/>
          </a:p>
        </p:txBody>
      </p:sp>
      <p:sp>
        <p:nvSpPr>
          <p:cNvPr id="10" name="CuadroTexto 9">
            <a:extLst>
              <a:ext uri="{FF2B5EF4-FFF2-40B4-BE49-F238E27FC236}">
                <a16:creationId xmlns:a16="http://schemas.microsoft.com/office/drawing/2014/main" id="{2BE2E763-55AE-5FD3-A06E-39B37B409C6D}"/>
              </a:ext>
            </a:extLst>
          </p:cNvPr>
          <p:cNvSpPr txBox="1"/>
          <p:nvPr/>
        </p:nvSpPr>
        <p:spPr>
          <a:xfrm>
            <a:off x="1422430" y="2746183"/>
            <a:ext cx="2832169"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cs typeface="Calibri"/>
              </a:rPr>
              <a:t>Auditar el código fuente</a:t>
            </a:r>
          </a:p>
        </p:txBody>
      </p:sp>
      <p:sp>
        <p:nvSpPr>
          <p:cNvPr id="11" name="CuadroTexto 10">
            <a:extLst>
              <a:ext uri="{FF2B5EF4-FFF2-40B4-BE49-F238E27FC236}">
                <a16:creationId xmlns:a16="http://schemas.microsoft.com/office/drawing/2014/main" id="{95881BB6-32EA-4115-6B5D-8C2BAD829466}"/>
              </a:ext>
            </a:extLst>
          </p:cNvPr>
          <p:cNvSpPr txBox="1"/>
          <p:nvPr/>
        </p:nvSpPr>
        <p:spPr>
          <a:xfrm>
            <a:off x="2024527" y="5118512"/>
            <a:ext cx="3038115" cy="10618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cs typeface="Calibri"/>
              </a:rPr>
              <a:t>Evitar </a:t>
            </a:r>
            <a:r>
              <a:rPr lang="es-ES" dirty="0" err="1">
                <a:cs typeface="Calibri"/>
              </a:rPr>
              <a:t>APIs</a:t>
            </a:r>
            <a:r>
              <a:rPr lang="es-ES" dirty="0">
                <a:cs typeface="Calibri"/>
              </a:rPr>
              <a:t> y bibliotecas obsoletas o sin mantenimiento</a:t>
            </a:r>
            <a:endParaRPr lang="es-ES" dirty="0"/>
          </a:p>
        </p:txBody>
      </p:sp>
      <p:pic>
        <p:nvPicPr>
          <p:cNvPr id="2" name="Imagen 1" descr="Interfaz de usuario gráfica&#10;&#10;El contenido generado por IA puede ser incorrecto.">
            <a:extLst>
              <a:ext uri="{FF2B5EF4-FFF2-40B4-BE49-F238E27FC236}">
                <a16:creationId xmlns:a16="http://schemas.microsoft.com/office/drawing/2014/main" id="{AA7F7539-2E28-B157-0A79-FD22D751DDD1}"/>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787159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01BD8-DA61-6026-3471-9839F3C29545}"/>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8072C2D-1E9C-E1C8-E7F5-7A73697B95B4}"/>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37A89613-66DF-129F-EE00-2905F5DC46CB}"/>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4" name="CuadroTexto 3">
            <a:extLst>
              <a:ext uri="{FF2B5EF4-FFF2-40B4-BE49-F238E27FC236}">
                <a16:creationId xmlns:a16="http://schemas.microsoft.com/office/drawing/2014/main" id="{AF7B39E8-32D6-5C5B-3403-4A7666BBB9FD}"/>
              </a:ext>
            </a:extLst>
          </p:cNvPr>
          <p:cNvSpPr txBox="1"/>
          <p:nvPr/>
        </p:nvSpPr>
        <p:spPr>
          <a:xfrm>
            <a:off x="429768" y="251936"/>
            <a:ext cx="9197311"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.NET</a:t>
            </a:r>
          </a:p>
        </p:txBody>
      </p:sp>
      <p:graphicFrame>
        <p:nvGraphicFramePr>
          <p:cNvPr id="2" name="Tabla 1">
            <a:extLst>
              <a:ext uri="{FF2B5EF4-FFF2-40B4-BE49-F238E27FC236}">
                <a16:creationId xmlns:a16="http://schemas.microsoft.com/office/drawing/2014/main" id="{7A60CEB2-93E7-7919-7B33-DE08B06EA48E}"/>
              </a:ext>
            </a:extLst>
          </p:cNvPr>
          <p:cNvGraphicFramePr>
            <a:graphicFrameLocks noGrp="1"/>
          </p:cNvGraphicFramePr>
          <p:nvPr>
            <p:extLst>
              <p:ext uri="{D42A27DB-BD31-4B8C-83A1-F6EECF244321}">
                <p14:modId xmlns:p14="http://schemas.microsoft.com/office/powerpoint/2010/main" val="1998460371"/>
              </p:ext>
            </p:extLst>
          </p:nvPr>
        </p:nvGraphicFramePr>
        <p:xfrm>
          <a:off x="1240540" y="1414608"/>
          <a:ext cx="9710919" cy="4100543"/>
        </p:xfrm>
        <a:graphic>
          <a:graphicData uri="http://schemas.openxmlformats.org/drawingml/2006/table">
            <a:tbl>
              <a:tblPr firstRow="1" bandRow="1">
                <a:tableStyleId>{BC89EF96-8CEA-46FF-86C4-4CE0E7609802}</a:tableStyleId>
              </a:tblPr>
              <a:tblGrid>
                <a:gridCol w="4860766">
                  <a:extLst>
                    <a:ext uri="{9D8B030D-6E8A-4147-A177-3AD203B41FA5}">
                      <a16:colId xmlns:a16="http://schemas.microsoft.com/office/drawing/2014/main" val="485466689"/>
                    </a:ext>
                  </a:extLst>
                </a:gridCol>
                <a:gridCol w="4850153">
                  <a:extLst>
                    <a:ext uri="{9D8B030D-6E8A-4147-A177-3AD203B41FA5}">
                      <a16:colId xmlns:a16="http://schemas.microsoft.com/office/drawing/2014/main" val="1105343736"/>
                    </a:ext>
                  </a:extLst>
                </a:gridCol>
              </a:tblGrid>
              <a:tr h="680357">
                <a:tc>
                  <a:txBody>
                    <a:bodyPr/>
                    <a:lstStyle/>
                    <a:p>
                      <a:pPr lvl="0">
                        <a:buNone/>
                      </a:pPr>
                      <a:r>
                        <a:rPr lang="es-ES" sz="1800" b="1" i="0" u="sng" strike="noStrike" noProof="0" dirty="0" err="1">
                          <a:solidFill>
                            <a:schemeClr val="tx1"/>
                          </a:solidFill>
                          <a:latin typeface="Trebuchet MS" panose="020B0603020202020204" pitchFamily="34" charset="0"/>
                        </a:rPr>
                        <a:t>Newtonsoft.Json</a:t>
                      </a:r>
                      <a:endParaRPr lang="es-ES" sz="1800" u="sng" dirty="0">
                        <a:solidFill>
                          <a:schemeClr val="tx1"/>
                        </a:solidFill>
                        <a:latin typeface="Trebuchet MS" panose="020B0603020202020204" pitchFamily="34" charset="0"/>
                      </a:endParaRPr>
                    </a:p>
                  </a:txBody>
                  <a:tcPr anchor="ctr"/>
                </a:tc>
                <a:tc>
                  <a:txBody>
                    <a:bodyPr/>
                    <a:lstStyle/>
                    <a:p>
                      <a:pPr lvl="0">
                        <a:buNone/>
                      </a:pPr>
                      <a:r>
                        <a:rPr lang="es-ES" sz="1600" b="0" i="0" u="sng" strike="noStrike" noProof="0" dirty="0">
                          <a:solidFill>
                            <a:schemeClr val="tx1"/>
                          </a:solidFill>
                          <a:latin typeface="Trebuchet MS" panose="020B0603020202020204" pitchFamily="34" charset="0"/>
                        </a:rPr>
                        <a:t>Biblioteca popular para el manejo de JSON en .NET.</a:t>
                      </a:r>
                      <a:endParaRPr lang="es-ES" sz="1600" u="sng"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2803434767"/>
                  </a:ext>
                </a:extLst>
              </a:tr>
              <a:tr h="680357">
                <a:tc>
                  <a:txBody>
                    <a:bodyPr/>
                    <a:lstStyle/>
                    <a:p>
                      <a:r>
                        <a:rPr lang="es-ES" b="1" dirty="0">
                          <a:solidFill>
                            <a:schemeClr val="tx1"/>
                          </a:solidFill>
                          <a:latin typeface="Trebuchet MS" panose="020B0603020202020204" pitchFamily="34" charset="0"/>
                        </a:rPr>
                        <a:t>ASP.NET </a:t>
                      </a:r>
                      <a:r>
                        <a:rPr lang="es-ES" b="1" dirty="0" err="1">
                          <a:solidFill>
                            <a:schemeClr val="tx1"/>
                          </a:solidFill>
                          <a:latin typeface="Trebuchet MS" panose="020B0603020202020204" pitchFamily="34" charset="0"/>
                        </a:rPr>
                        <a:t>Identify</a:t>
                      </a:r>
                      <a:endParaRPr lang="es-ES" b="1" dirty="0">
                        <a:solidFill>
                          <a:schemeClr val="tx1"/>
                        </a:solidFill>
                        <a:latin typeface="Trebuchet MS" panose="020B0603020202020204" pitchFamily="34" charset="0"/>
                      </a:endParaRPr>
                    </a:p>
                  </a:txBody>
                  <a:tcPr anchor="ctr"/>
                </a:tc>
                <a:tc>
                  <a:txBody>
                    <a:bodyPr/>
                    <a:lstStyle/>
                    <a:p>
                      <a:pPr lvl="0">
                        <a:buNone/>
                      </a:pPr>
                      <a:r>
                        <a:rPr lang="es-ES" sz="1600" b="0" i="0" u="none" strike="noStrike" noProof="0">
                          <a:solidFill>
                            <a:schemeClr val="tx1"/>
                          </a:solidFill>
                          <a:latin typeface="Trebuchet MS" panose="020B0603020202020204" pitchFamily="34" charset="0"/>
                        </a:rPr>
                        <a:t>Marco de trabajo para la gestión de identidad y autenticación en aplicaciones web.</a:t>
                      </a:r>
                      <a:endParaRPr lang="es-ES" sz="1600">
                        <a:solidFill>
                          <a:schemeClr val="tx1"/>
                        </a:solidFill>
                        <a:latin typeface="Trebuchet MS" panose="020B0603020202020204" pitchFamily="34" charset="0"/>
                      </a:endParaRPr>
                    </a:p>
                  </a:txBody>
                  <a:tcPr anchor="ctr"/>
                </a:tc>
                <a:extLst>
                  <a:ext uri="{0D108BD9-81ED-4DB2-BD59-A6C34878D82A}">
                    <a16:rowId xmlns:a16="http://schemas.microsoft.com/office/drawing/2014/main" val="1701134256"/>
                  </a:ext>
                </a:extLst>
              </a:tr>
              <a:tr h="680357">
                <a:tc>
                  <a:txBody>
                    <a:bodyPr/>
                    <a:lstStyle/>
                    <a:p>
                      <a:pPr lvl="0">
                        <a:buNone/>
                      </a:pPr>
                      <a:r>
                        <a:rPr lang="es-ES" sz="1800" b="1" i="0" u="none" strike="noStrike" noProof="0" dirty="0" err="1">
                          <a:solidFill>
                            <a:schemeClr val="tx1"/>
                          </a:solidFill>
                          <a:latin typeface="Trebuchet MS" panose="020B0603020202020204" pitchFamily="34" charset="0"/>
                        </a:rPr>
                        <a:t>Entity</a:t>
                      </a:r>
                      <a:r>
                        <a:rPr lang="es-ES" sz="1800" b="1" i="0" u="none" strike="noStrike" noProof="0" dirty="0">
                          <a:solidFill>
                            <a:schemeClr val="tx1"/>
                          </a:solidFill>
                          <a:latin typeface="Trebuchet MS" panose="020B0603020202020204" pitchFamily="34" charset="0"/>
                        </a:rPr>
                        <a:t> Framework Core</a:t>
                      </a:r>
                    </a:p>
                  </a:txBody>
                  <a:tcPr anchor="ctr"/>
                </a:tc>
                <a:tc>
                  <a:txBody>
                    <a:bodyPr/>
                    <a:lstStyle/>
                    <a:p>
                      <a:pPr lvl="0">
                        <a:buNone/>
                      </a:pPr>
                      <a:r>
                        <a:rPr lang="es-ES" sz="1600" b="0" i="0" u="none" strike="noStrike" noProof="0" dirty="0">
                          <a:solidFill>
                            <a:schemeClr val="tx1"/>
                          </a:solidFill>
                          <a:latin typeface="Trebuchet MS" panose="020B0603020202020204" pitchFamily="34" charset="0"/>
                        </a:rPr>
                        <a:t>ORM para acceder y gestionar datos en bases de datos relacionales.</a:t>
                      </a:r>
                      <a:endParaRPr lang="es-ES" sz="16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3012009835"/>
                  </a:ext>
                </a:extLst>
              </a:tr>
              <a:tr h="680357">
                <a:tc>
                  <a:txBody>
                    <a:bodyPr/>
                    <a:lstStyle/>
                    <a:p>
                      <a:r>
                        <a:rPr lang="es-ES" b="1" dirty="0" err="1">
                          <a:solidFill>
                            <a:schemeClr val="tx1"/>
                          </a:solidFill>
                          <a:latin typeface="Trebuchet MS" panose="020B0603020202020204" pitchFamily="34" charset="0"/>
                        </a:rPr>
                        <a:t>Microsoft.Extensions.Logging</a:t>
                      </a:r>
                      <a:endParaRPr lang="es-ES" dirty="0">
                        <a:solidFill>
                          <a:schemeClr val="tx1"/>
                        </a:solidFill>
                        <a:latin typeface="Trebuchet MS" panose="020B0603020202020204" pitchFamily="34" charset="0"/>
                      </a:endParaRPr>
                    </a:p>
                  </a:txBody>
                  <a:tcPr anchor="ctr"/>
                </a:tc>
                <a:tc>
                  <a:txBody>
                    <a:bodyPr/>
                    <a:lstStyle/>
                    <a:p>
                      <a:pPr lvl="0">
                        <a:buNone/>
                      </a:pPr>
                      <a:r>
                        <a:rPr lang="es-ES" sz="1600" b="0" i="0" u="none" strike="noStrike" noProof="0" dirty="0">
                          <a:solidFill>
                            <a:schemeClr val="tx1"/>
                          </a:solidFill>
                          <a:latin typeface="Trebuchet MS" panose="020B0603020202020204" pitchFamily="34" charset="0"/>
                        </a:rPr>
                        <a:t>API para el registro de eventos y errores en aplicaciones .NET.</a:t>
                      </a:r>
                      <a:endParaRPr lang="es-ES" sz="16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2331833862"/>
                  </a:ext>
                </a:extLst>
              </a:tr>
              <a:tr h="698758">
                <a:tc>
                  <a:txBody>
                    <a:bodyPr/>
                    <a:lstStyle/>
                    <a:p>
                      <a:r>
                        <a:rPr lang="es-ES" sz="1800" b="1" dirty="0" err="1">
                          <a:solidFill>
                            <a:schemeClr val="tx1"/>
                          </a:solidFill>
                          <a:latin typeface="Trebuchet MS" panose="020B0603020202020204" pitchFamily="34" charset="0"/>
                        </a:rPr>
                        <a:t>Microsoft.AspNetCore.Cryptography.KeyDerivation</a:t>
                      </a:r>
                      <a:endParaRPr lang="es-ES" sz="1800" b="1" dirty="0">
                        <a:solidFill>
                          <a:schemeClr val="tx1"/>
                        </a:solidFill>
                        <a:latin typeface="Trebuchet MS" panose="020B0603020202020204" pitchFamily="34" charset="0"/>
                      </a:endParaRPr>
                    </a:p>
                  </a:txBody>
                  <a:tcPr anchor="ctr"/>
                </a:tc>
                <a:tc>
                  <a:txBody>
                    <a:bodyPr/>
                    <a:lstStyle/>
                    <a:p>
                      <a:pPr lvl="0">
                        <a:buNone/>
                      </a:pPr>
                      <a:r>
                        <a:rPr lang="es-ES" sz="1600" b="0" i="0" u="none" strike="noStrike" noProof="0" dirty="0">
                          <a:solidFill>
                            <a:schemeClr val="tx1"/>
                          </a:solidFill>
                          <a:latin typeface="Trebuchet MS" panose="020B0603020202020204" pitchFamily="34" charset="0"/>
                        </a:rPr>
                        <a:t>API para derivar claves de cifrado seguras en ASP.NET Core.</a:t>
                      </a:r>
                      <a:endParaRPr lang="es-ES" sz="16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1773248690"/>
                  </a:ext>
                </a:extLst>
              </a:tr>
              <a:tr h="680357">
                <a:tc>
                  <a:txBody>
                    <a:bodyPr/>
                    <a:lstStyle/>
                    <a:p>
                      <a:r>
                        <a:rPr lang="es-ES" b="1" dirty="0" err="1">
                          <a:solidFill>
                            <a:schemeClr val="tx1"/>
                          </a:solidFill>
                          <a:latin typeface="Trebuchet MS" panose="020B0603020202020204" pitchFamily="34" charset="0"/>
                        </a:rPr>
                        <a:t>System.Security.Cryptography</a:t>
                      </a:r>
                      <a:endParaRPr lang="es-ES" b="1" dirty="0">
                        <a:solidFill>
                          <a:schemeClr val="tx1"/>
                        </a:solidFill>
                        <a:latin typeface="Trebuchet MS" panose="020B0603020202020204" pitchFamily="34" charset="0"/>
                      </a:endParaRPr>
                    </a:p>
                  </a:txBody>
                  <a:tcPr anchor="ctr"/>
                </a:tc>
                <a:tc>
                  <a:txBody>
                    <a:bodyPr/>
                    <a:lstStyle/>
                    <a:p>
                      <a:pPr lvl="0">
                        <a:buNone/>
                      </a:pPr>
                      <a:r>
                        <a:rPr lang="es-ES" sz="1600" b="0" i="0" u="none" strike="noStrike" noProof="0" dirty="0">
                          <a:solidFill>
                            <a:schemeClr val="tx1"/>
                          </a:solidFill>
                          <a:latin typeface="Trebuchet MS" panose="020B0603020202020204" pitchFamily="34" charset="0"/>
                        </a:rPr>
                        <a:t>Espacio de nombres que proporciona clases para realizar operaciones criptográficas seguras.</a:t>
                      </a:r>
                      <a:endParaRPr lang="es-ES" sz="16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3773634219"/>
                  </a:ext>
                </a:extLst>
              </a:tr>
            </a:tbl>
          </a:graphicData>
        </a:graphic>
      </p:graphicFrame>
      <p:pic>
        <p:nvPicPr>
          <p:cNvPr id="3" name="Imagen 2" descr="Interfaz de usuario gráfica&#10;&#10;El contenido generado por IA puede ser incorrecto.">
            <a:extLst>
              <a:ext uri="{FF2B5EF4-FFF2-40B4-BE49-F238E27FC236}">
                <a16:creationId xmlns:a16="http://schemas.microsoft.com/office/drawing/2014/main" id="{26EF1D3B-63C5-417B-6ABD-B79DD0194748}"/>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574511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85ED9545-51F3-EC8F-3BA7-7C5EE5AF5393}"/>
            </a:ext>
          </a:extLst>
        </p:cNvPr>
        <p:cNvGrpSpPr/>
        <p:nvPr/>
      </p:nvGrpSpPr>
      <p:grpSpPr>
        <a:xfrm>
          <a:off x="0" y="0"/>
          <a:ext cx="0" cy="0"/>
          <a:chOff x="0" y="0"/>
          <a:chExt cx="0" cy="0"/>
        </a:xfrm>
      </p:grpSpPr>
      <p:sp>
        <p:nvSpPr>
          <p:cNvPr id="5" name="Diagrama de flujo: retraso 4">
            <a:extLst>
              <a:ext uri="{FF2B5EF4-FFF2-40B4-BE49-F238E27FC236}">
                <a16:creationId xmlns:a16="http://schemas.microsoft.com/office/drawing/2014/main" id="{DA1F856E-C0B6-D68C-6A8E-B7AA4D1E1454}"/>
              </a:ext>
            </a:extLst>
          </p:cNvPr>
          <p:cNvSpPr/>
          <p:nvPr/>
        </p:nvSpPr>
        <p:spPr>
          <a:xfrm>
            <a:off x="-7125" y="0"/>
            <a:ext cx="6807627" cy="6858000"/>
          </a:xfrm>
          <a:prstGeom prst="flowChartDelay">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D5A5F847-C8DD-3427-3F95-D7B91DC5EBAB}"/>
              </a:ext>
            </a:extLst>
          </p:cNvPr>
          <p:cNvSpPr txBox="1"/>
          <p:nvPr/>
        </p:nvSpPr>
        <p:spPr>
          <a:xfrm>
            <a:off x="144590" y="2694860"/>
            <a:ext cx="6217920" cy="2062103"/>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pPr algn="ctr"/>
            <a:r>
              <a:rPr lang="es-ES" sz="3600" dirty="0">
                <a:solidFill>
                  <a:srgbClr val="193330"/>
                </a:solidFill>
              </a:rPr>
              <a:t>MÓDULO 4.</a:t>
            </a:r>
          </a:p>
          <a:p>
            <a:pPr algn="ctr"/>
            <a:r>
              <a:rPr lang="es-ES" sz="3600" dirty="0">
                <a:solidFill>
                  <a:srgbClr val="193330"/>
                </a:solidFill>
              </a:rPr>
              <a:t>AUDITORIA DE CÓDIGO Y PRUEBAS</a:t>
            </a:r>
          </a:p>
        </p:txBody>
      </p:sp>
      <p:pic>
        <p:nvPicPr>
          <p:cNvPr id="4" name="Imagen 3" descr="Texto&#10;&#10;El contenido generado por IA puede ser incorrecto.">
            <a:extLst>
              <a:ext uri="{FF2B5EF4-FFF2-40B4-BE49-F238E27FC236}">
                <a16:creationId xmlns:a16="http://schemas.microsoft.com/office/drawing/2014/main" id="{0276D684-1936-E736-D4EC-45F8CAAE8A59}"/>
              </a:ext>
            </a:extLst>
          </p:cNvPr>
          <p:cNvPicPr>
            <a:picLocks noChangeAspect="1"/>
          </p:cNvPicPr>
          <p:nvPr/>
        </p:nvPicPr>
        <p:blipFill>
          <a:blip r:embed="rId2">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DE231611-59BC-2432-2FC1-DCE73AABCFFB}"/>
              </a:ext>
            </a:extLst>
          </p:cNvPr>
          <p:cNvPicPr>
            <a:picLocks noChangeAspect="1"/>
          </p:cNvPicPr>
          <p:nvPr/>
        </p:nvPicPr>
        <p:blipFill>
          <a:blip r:embed="rId3">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991733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93735-7EEB-358D-9533-BAAA8A01A9D9}"/>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BD0E8D0F-6EB2-23D7-AE66-5AC5B53941E7}"/>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C92E0E2A-1099-BD4F-AE3B-144122D6F4A8}"/>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¿Qué es la auditoría de código?</a:t>
            </a:r>
          </a:p>
        </p:txBody>
      </p:sp>
      <p:pic>
        <p:nvPicPr>
          <p:cNvPr id="20" name="Imagen 19" descr="Texto&#10;&#10;El contenido generado por IA puede ser incorrecto.">
            <a:extLst>
              <a:ext uri="{FF2B5EF4-FFF2-40B4-BE49-F238E27FC236}">
                <a16:creationId xmlns:a16="http://schemas.microsoft.com/office/drawing/2014/main" id="{511FB3A7-EF9B-E924-EACD-4A72BAB80193}"/>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9" name="Rectángulo 8">
            <a:extLst>
              <a:ext uri="{FF2B5EF4-FFF2-40B4-BE49-F238E27FC236}">
                <a16:creationId xmlns:a16="http://schemas.microsoft.com/office/drawing/2014/main" id="{84E5D49B-FB45-8D35-468F-6E424014369B}"/>
              </a:ext>
            </a:extLst>
          </p:cNvPr>
          <p:cNvSpPr/>
          <p:nvPr/>
        </p:nvSpPr>
        <p:spPr>
          <a:xfrm>
            <a:off x="2026011" y="2046533"/>
            <a:ext cx="8640377" cy="1088696"/>
          </a:xfrm>
          <a:prstGeom prst="rect">
            <a:avLst/>
          </a:prstGeom>
        </p:spPr>
        <p:txBody>
          <a:bodyPr wrap="square" lIns="91440" tIns="45720" rIns="91440" bIns="45720" anchor="t">
            <a:spAutoFit/>
          </a:bodyPr>
          <a:lstStyle/>
          <a:p>
            <a:pPr algn="just">
              <a:lnSpc>
                <a:spcPct val="150000"/>
              </a:lnSpc>
            </a:pPr>
            <a:r>
              <a:rPr lang="es-ES" sz="1500" dirty="0">
                <a:latin typeface="Trebuchet MS" panose="020B0603020202020204" pitchFamily="34" charset="0"/>
                <a:ea typeface="+mn-lt"/>
                <a:cs typeface="+mn-lt"/>
              </a:rPr>
              <a:t>La auditoría de código es un proceso detallado de </a:t>
            </a:r>
            <a:r>
              <a:rPr lang="es-ES" sz="1500" b="1" dirty="0">
                <a:latin typeface="Trebuchet MS" panose="020B0603020202020204" pitchFamily="34" charset="0"/>
                <a:ea typeface="+mn-lt"/>
                <a:cs typeface="+mn-lt"/>
              </a:rPr>
              <a:t>revisión del código fuente</a:t>
            </a:r>
            <a:r>
              <a:rPr lang="es-ES" sz="1500" dirty="0">
                <a:latin typeface="Trebuchet MS" panose="020B0603020202020204" pitchFamily="34" charset="0"/>
                <a:ea typeface="+mn-lt"/>
                <a:cs typeface="+mn-lt"/>
              </a:rPr>
              <a:t> para identificar errores, vulnerabilidades de seguridad y garantizar el cumplimiento de las mejores prácticas de codificación.</a:t>
            </a:r>
          </a:p>
        </p:txBody>
      </p:sp>
      <p:sp>
        <p:nvSpPr>
          <p:cNvPr id="11" name="Oval 17">
            <a:extLst>
              <a:ext uri="{FF2B5EF4-FFF2-40B4-BE49-F238E27FC236}">
                <a16:creationId xmlns:a16="http://schemas.microsoft.com/office/drawing/2014/main" id="{D4154EAC-3F69-E832-2126-1E63144E7240}"/>
              </a:ext>
            </a:extLst>
          </p:cNvPr>
          <p:cNvSpPr/>
          <p:nvPr/>
        </p:nvSpPr>
        <p:spPr>
          <a:xfrm>
            <a:off x="795204" y="2229057"/>
            <a:ext cx="903040" cy="877183"/>
          </a:xfrm>
          <a:prstGeom prst="ellipse">
            <a:avLst/>
          </a:prstGeom>
          <a:solidFill>
            <a:srgbClr val="185D7F"/>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p>
        </p:txBody>
      </p:sp>
      <p:sp>
        <p:nvSpPr>
          <p:cNvPr id="19" name="Oval 17">
            <a:extLst>
              <a:ext uri="{FF2B5EF4-FFF2-40B4-BE49-F238E27FC236}">
                <a16:creationId xmlns:a16="http://schemas.microsoft.com/office/drawing/2014/main" id="{450FB89E-2988-F939-CF42-643FB3304D89}"/>
              </a:ext>
            </a:extLst>
          </p:cNvPr>
          <p:cNvSpPr/>
          <p:nvPr/>
        </p:nvSpPr>
        <p:spPr>
          <a:xfrm>
            <a:off x="800439" y="4311372"/>
            <a:ext cx="897865" cy="856481"/>
          </a:xfrm>
          <a:prstGeom prst="ellipse">
            <a:avLst/>
          </a:prstGeom>
          <a:solidFill>
            <a:srgbClr val="185D7F"/>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p>
        </p:txBody>
      </p:sp>
      <p:pic>
        <p:nvPicPr>
          <p:cNvPr id="21" name="Imagen 20">
            <a:extLst>
              <a:ext uri="{FF2B5EF4-FFF2-40B4-BE49-F238E27FC236}">
                <a16:creationId xmlns:a16="http://schemas.microsoft.com/office/drawing/2014/main" id="{C45684AA-40B9-CA41-FDAD-8CFB6AB586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4395" y="4524747"/>
            <a:ext cx="440318" cy="440327"/>
          </a:xfrm>
          <a:prstGeom prst="rect">
            <a:avLst/>
          </a:prstGeom>
        </p:spPr>
      </p:pic>
      <p:pic>
        <p:nvPicPr>
          <p:cNvPr id="22" name="Imagen 21" descr="Icono&#10;&#10;Descripción generada automáticamente">
            <a:extLst>
              <a:ext uri="{FF2B5EF4-FFF2-40B4-BE49-F238E27FC236}">
                <a16:creationId xmlns:a16="http://schemas.microsoft.com/office/drawing/2014/main" id="{24109312-C967-8754-D651-9C9CB3470F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8293" y="2419293"/>
            <a:ext cx="497348" cy="497358"/>
          </a:xfrm>
          <a:prstGeom prst="rect">
            <a:avLst/>
          </a:prstGeom>
        </p:spPr>
      </p:pic>
      <p:sp>
        <p:nvSpPr>
          <p:cNvPr id="23" name="CuadroTexto 22">
            <a:extLst>
              <a:ext uri="{FF2B5EF4-FFF2-40B4-BE49-F238E27FC236}">
                <a16:creationId xmlns:a16="http://schemas.microsoft.com/office/drawing/2014/main" id="{FB3242DE-083E-0BB0-E08E-F702043F0DD2}"/>
              </a:ext>
            </a:extLst>
          </p:cNvPr>
          <p:cNvSpPr txBox="1"/>
          <p:nvPr/>
        </p:nvSpPr>
        <p:spPr>
          <a:xfrm>
            <a:off x="2025020" y="4080525"/>
            <a:ext cx="8084500" cy="1157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rtl="0">
              <a:lnSpc>
                <a:spcPct val="150000"/>
              </a:lnSpc>
            </a:pPr>
            <a:r>
              <a:rPr lang="es-ES" sz="1800" dirty="0">
                <a:solidFill>
                  <a:srgbClr val="595959"/>
                </a:solidFill>
                <a:latin typeface="Trebuchet MS" panose="020B0603020202020204" pitchFamily="34" charset="0"/>
                <a:ea typeface="Segoe UI"/>
                <a:cs typeface="Segoe UI"/>
              </a:rPr>
              <a:t>​</a:t>
            </a:r>
            <a:r>
              <a:rPr lang="es-ES" sz="1500" b="1" baseline="0" dirty="0">
                <a:solidFill>
                  <a:srgbClr val="0E1820"/>
                </a:solidFill>
                <a:latin typeface="Trebuchet MS" panose="020B0603020202020204" pitchFamily="34" charset="0"/>
                <a:ea typeface="Segoe UI"/>
                <a:cs typeface="Segoe UI"/>
              </a:rPr>
              <a:t>Su propósito principal es detectar y solucionar</a:t>
            </a:r>
            <a:r>
              <a:rPr lang="es-ES" sz="1500" baseline="0" dirty="0">
                <a:solidFill>
                  <a:srgbClr val="0E1820"/>
                </a:solidFill>
                <a:latin typeface="Trebuchet MS" panose="020B0603020202020204" pitchFamily="34" charset="0"/>
                <a:ea typeface="Segoe UI"/>
                <a:cs typeface="Segoe UI"/>
              </a:rPr>
              <a:t> problemas que puedan comprometer la seguridad y funcionalidad de las aplicaciones, asegurando que cumplan con los estándares de calidad y regulaciones pertinentes antes de su implementación.</a:t>
            </a:r>
            <a:r>
              <a:rPr lang="en-US" sz="1500" dirty="0">
                <a:solidFill>
                  <a:srgbClr val="595959"/>
                </a:solidFill>
                <a:latin typeface="Trebuchet MS" panose="020B0603020202020204" pitchFamily="34" charset="0"/>
                <a:ea typeface="Segoe UI"/>
                <a:cs typeface="Segoe UI"/>
              </a:rPr>
              <a:t>​</a:t>
            </a:r>
            <a:endParaRPr lang="es-ES" sz="1500" dirty="0">
              <a:latin typeface="Trebuchet MS" panose="020B0603020202020204" pitchFamily="34" charset="0"/>
              <a:cs typeface="Calibri"/>
            </a:endParaRPr>
          </a:p>
        </p:txBody>
      </p:sp>
      <p:pic>
        <p:nvPicPr>
          <p:cNvPr id="2" name="Imagen 1" descr="Interfaz de usuario gráfica&#10;&#10;El contenido generado por IA puede ser incorrecto.">
            <a:extLst>
              <a:ext uri="{FF2B5EF4-FFF2-40B4-BE49-F238E27FC236}">
                <a16:creationId xmlns:a16="http://schemas.microsoft.com/office/drawing/2014/main" id="{BFCC34AB-56E6-E344-BD83-28402F986A2C}"/>
              </a:ext>
            </a:extLst>
          </p:cNvPr>
          <p:cNvPicPr>
            <a:picLocks noChangeAspect="1"/>
          </p:cNvPicPr>
          <p:nvPr/>
        </p:nvPicPr>
        <p:blipFill>
          <a:blip r:embed="rId6">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529127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9D507-5138-4698-C26C-874324A31F56}"/>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842C0B14-E6CE-BCD8-1213-59A238F5F6A7}"/>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7BAD270A-02F9-F62D-A305-2730DA41AC6A}"/>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Repaso</a:t>
            </a:r>
          </a:p>
        </p:txBody>
      </p:sp>
      <p:pic>
        <p:nvPicPr>
          <p:cNvPr id="20" name="Imagen 19" descr="Texto&#10;&#10;El contenido generado por IA puede ser incorrecto.">
            <a:extLst>
              <a:ext uri="{FF2B5EF4-FFF2-40B4-BE49-F238E27FC236}">
                <a16:creationId xmlns:a16="http://schemas.microsoft.com/office/drawing/2014/main" id="{FC0668F0-A515-410E-58E8-B96F53D52634}"/>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2" name="AutoShape 6" descr="Checkmarx- Static Application Security Testing | Value Added Reseller">
            <a:extLst>
              <a:ext uri="{FF2B5EF4-FFF2-40B4-BE49-F238E27FC236}">
                <a16:creationId xmlns:a16="http://schemas.microsoft.com/office/drawing/2014/main" id="{E7F2A090-97AF-5439-AF75-555B7247EB17}"/>
              </a:ext>
            </a:extLst>
          </p:cNvPr>
          <p:cNvSpPr>
            <a:spLocks noChangeAspect="1" noChangeArrowheads="1"/>
          </p:cNvSpPr>
          <p:nvPr/>
        </p:nvSpPr>
        <p:spPr bwMode="auto">
          <a:xfrm>
            <a:off x="5272611" y="271930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latin typeface="Trebuchet MS" panose="020B0603020202020204" pitchFamily="34" charset="0"/>
            </a:endParaRPr>
          </a:p>
        </p:txBody>
      </p:sp>
      <p:sp>
        <p:nvSpPr>
          <p:cNvPr id="3" name="AutoShape 6" descr="Checkmarx- Static Application Security Testing | Value Added Reseller">
            <a:extLst>
              <a:ext uri="{FF2B5EF4-FFF2-40B4-BE49-F238E27FC236}">
                <a16:creationId xmlns:a16="http://schemas.microsoft.com/office/drawing/2014/main" id="{B9F3B89D-55F4-25C0-CDAE-A0F7616C6320}"/>
              </a:ext>
            </a:extLst>
          </p:cNvPr>
          <p:cNvSpPr>
            <a:spLocks noChangeAspect="1" noChangeArrowheads="1"/>
          </p:cNvSpPr>
          <p:nvPr/>
        </p:nvSpPr>
        <p:spPr bwMode="auto">
          <a:xfrm>
            <a:off x="8633214" y="271930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latin typeface="Trebuchet MS" panose="020B0603020202020204" pitchFamily="34" charset="0"/>
            </a:endParaRPr>
          </a:p>
        </p:txBody>
      </p:sp>
      <p:graphicFrame>
        <p:nvGraphicFramePr>
          <p:cNvPr id="4" name="Tabla 6">
            <a:extLst>
              <a:ext uri="{FF2B5EF4-FFF2-40B4-BE49-F238E27FC236}">
                <a16:creationId xmlns:a16="http://schemas.microsoft.com/office/drawing/2014/main" id="{EB1FFFD8-BE7A-A13A-00C5-CF0E0E85E2E3}"/>
              </a:ext>
            </a:extLst>
          </p:cNvPr>
          <p:cNvGraphicFramePr>
            <a:graphicFrameLocks noGrp="1"/>
          </p:cNvGraphicFramePr>
          <p:nvPr>
            <p:extLst>
              <p:ext uri="{D42A27DB-BD31-4B8C-83A1-F6EECF244321}">
                <p14:modId xmlns:p14="http://schemas.microsoft.com/office/powerpoint/2010/main" val="877118062"/>
              </p:ext>
            </p:extLst>
          </p:nvPr>
        </p:nvGraphicFramePr>
        <p:xfrm>
          <a:off x="725335" y="1235179"/>
          <a:ext cx="8875864" cy="4318240"/>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2537410">
                  <a:extLst>
                    <a:ext uri="{9D8B030D-6E8A-4147-A177-3AD203B41FA5}">
                      <a16:colId xmlns:a16="http://schemas.microsoft.com/office/drawing/2014/main" val="315090195"/>
                    </a:ext>
                  </a:extLst>
                </a:gridCol>
                <a:gridCol w="2109355">
                  <a:extLst>
                    <a:ext uri="{9D8B030D-6E8A-4147-A177-3AD203B41FA5}">
                      <a16:colId xmlns:a16="http://schemas.microsoft.com/office/drawing/2014/main" val="500503853"/>
                    </a:ext>
                  </a:extLst>
                </a:gridCol>
                <a:gridCol w="2098964">
                  <a:extLst>
                    <a:ext uri="{9D8B030D-6E8A-4147-A177-3AD203B41FA5}">
                      <a16:colId xmlns:a16="http://schemas.microsoft.com/office/drawing/2014/main" val="3963310215"/>
                    </a:ext>
                  </a:extLst>
                </a:gridCol>
                <a:gridCol w="2130135">
                  <a:extLst>
                    <a:ext uri="{9D8B030D-6E8A-4147-A177-3AD203B41FA5}">
                      <a16:colId xmlns:a16="http://schemas.microsoft.com/office/drawing/2014/main" val="53569628"/>
                    </a:ext>
                  </a:extLst>
                </a:gridCol>
              </a:tblGrid>
              <a:tr h="668080">
                <a:tc>
                  <a:txBody>
                    <a:bodyPr/>
                    <a:lstStyle/>
                    <a:p>
                      <a:endParaRPr lang="es-ES" sz="1600" dirty="0">
                        <a:latin typeface="Century Gothic" panose="020B0502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s-ES" sz="1600">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70873908"/>
                  </a:ext>
                </a:extLst>
              </a:tr>
              <a:tr h="452704">
                <a:tc>
                  <a:txBody>
                    <a:bodyPr/>
                    <a:lstStyle/>
                    <a:p>
                      <a:endParaRPr lang="es-ES" sz="1600">
                        <a:latin typeface="Century Gothic" panose="020B0502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 sz="1600" b="1" dirty="0" err="1">
                          <a:solidFill>
                            <a:srgbClr val="000000"/>
                          </a:solidFill>
                          <a:latin typeface="Century Gothic" panose="020B0502020202020204" pitchFamily="34" charset="0"/>
                        </a:rPr>
                        <a:t>Static</a:t>
                      </a:r>
                      <a:r>
                        <a:rPr lang="es-ES" sz="1600" b="1" dirty="0">
                          <a:solidFill>
                            <a:srgbClr val="000000"/>
                          </a:solidFill>
                          <a:latin typeface="Century Gothic" panose="020B0502020202020204" pitchFamily="34" charset="0"/>
                        </a:rPr>
                        <a:t> </a:t>
                      </a:r>
                      <a:r>
                        <a:rPr lang="es-ES" sz="1600" b="1" dirty="0" err="1">
                          <a:solidFill>
                            <a:srgbClr val="000000"/>
                          </a:solidFill>
                          <a:latin typeface="Century Gothic" panose="020B0502020202020204" pitchFamily="34" charset="0"/>
                        </a:rPr>
                        <a:t>Application</a:t>
                      </a:r>
                      <a:r>
                        <a:rPr lang="es-ES" sz="1600" b="1" dirty="0">
                          <a:solidFill>
                            <a:srgbClr val="000000"/>
                          </a:solidFill>
                          <a:latin typeface="Century Gothic" panose="020B0502020202020204" pitchFamily="34" charset="0"/>
                        </a:rPr>
                        <a:t> Security </a:t>
                      </a:r>
                      <a:r>
                        <a:rPr lang="es-ES" sz="1600" b="1" dirty="0" err="1">
                          <a:solidFill>
                            <a:srgbClr val="000000"/>
                          </a:solidFill>
                          <a:latin typeface="Century Gothic" panose="020B0502020202020204" pitchFamily="34" charset="0"/>
                        </a:rPr>
                        <a:t>Testing</a:t>
                      </a:r>
                      <a:endParaRPr lang="es-ES" sz="1600" b="1" dirty="0">
                        <a:solidFill>
                          <a:srgbClr val="000000"/>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dirty="0">
                          <a:solidFill>
                            <a:srgbClr val="000000"/>
                          </a:solidFill>
                          <a:latin typeface="Century Gothic" panose="020B0502020202020204" pitchFamily="34" charset="0"/>
                        </a:rPr>
                        <a:t>Dynamic </a:t>
                      </a:r>
                      <a:r>
                        <a:rPr lang="es-ES" sz="1600" b="1" dirty="0" err="1">
                          <a:solidFill>
                            <a:srgbClr val="000000"/>
                          </a:solidFill>
                          <a:latin typeface="Century Gothic" panose="020B0502020202020204" pitchFamily="34" charset="0"/>
                        </a:rPr>
                        <a:t>Application</a:t>
                      </a:r>
                      <a:r>
                        <a:rPr lang="es-ES" sz="1600" b="1" dirty="0">
                          <a:solidFill>
                            <a:srgbClr val="000000"/>
                          </a:solidFill>
                          <a:latin typeface="Century Gothic" panose="020B0502020202020204" pitchFamily="34" charset="0"/>
                        </a:rPr>
                        <a:t> Security </a:t>
                      </a:r>
                      <a:r>
                        <a:rPr lang="es-ES" sz="1600" b="1" dirty="0" err="1">
                          <a:solidFill>
                            <a:srgbClr val="000000"/>
                          </a:solidFill>
                          <a:latin typeface="Century Gothic" panose="020B0502020202020204" pitchFamily="34" charset="0"/>
                        </a:rPr>
                        <a:t>Testing</a:t>
                      </a:r>
                      <a:endParaRPr lang="es-ES" sz="1600" b="1" dirty="0">
                        <a:solidFill>
                          <a:srgbClr val="000000"/>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dirty="0">
                          <a:solidFill>
                            <a:srgbClr val="000000"/>
                          </a:solidFill>
                          <a:latin typeface="Century Gothic" panose="020B0502020202020204" pitchFamily="34" charset="0"/>
                        </a:rPr>
                        <a:t>Interactive </a:t>
                      </a:r>
                      <a:r>
                        <a:rPr lang="es-ES" sz="1600" b="1" dirty="0" err="1">
                          <a:solidFill>
                            <a:srgbClr val="000000"/>
                          </a:solidFill>
                          <a:latin typeface="Century Gothic" panose="020B0502020202020204" pitchFamily="34" charset="0"/>
                        </a:rPr>
                        <a:t>Application</a:t>
                      </a:r>
                      <a:r>
                        <a:rPr lang="es-ES" sz="1600" b="1" dirty="0">
                          <a:solidFill>
                            <a:srgbClr val="000000"/>
                          </a:solidFill>
                          <a:latin typeface="Century Gothic" panose="020B0502020202020204" pitchFamily="34" charset="0"/>
                        </a:rPr>
                        <a:t> Security </a:t>
                      </a:r>
                      <a:r>
                        <a:rPr lang="es-ES" sz="1600" b="1" dirty="0" err="1">
                          <a:solidFill>
                            <a:srgbClr val="000000"/>
                          </a:solidFill>
                          <a:latin typeface="Century Gothic" panose="020B0502020202020204" pitchFamily="34" charset="0"/>
                        </a:rPr>
                        <a:t>Testing</a:t>
                      </a:r>
                      <a:endParaRPr lang="es-ES" sz="1600" b="1" dirty="0">
                        <a:solidFill>
                          <a:srgbClr val="000000"/>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7960784"/>
                  </a:ext>
                </a:extLst>
              </a:tr>
              <a:tr h="668080">
                <a:tc>
                  <a:txBody>
                    <a:bodyPr/>
                    <a:lstStyle/>
                    <a:p>
                      <a:r>
                        <a:rPr lang="es-ES" sz="1600">
                          <a:solidFill>
                            <a:srgbClr val="000000"/>
                          </a:solidFill>
                          <a:latin typeface="Century Gothic" panose="020B0502020202020204" pitchFamily="34" charset="0"/>
                        </a:rPr>
                        <a:t>Analiza código fuente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 sz="1600">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dirty="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77295138"/>
                  </a:ext>
                </a:extLst>
              </a:tr>
              <a:tr h="668080">
                <a:tc>
                  <a:txBody>
                    <a:bodyPr/>
                    <a:lstStyle/>
                    <a:p>
                      <a:r>
                        <a:rPr lang="es-ES" sz="1600" dirty="0">
                          <a:solidFill>
                            <a:srgbClr val="000000"/>
                          </a:solidFill>
                          <a:latin typeface="Century Gothic" panose="020B0502020202020204" pitchFamily="34" charset="0"/>
                        </a:rPr>
                        <a:t>Ejecuta la aplicación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1600" dirty="0">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9775845"/>
                  </a:ext>
                </a:extLst>
              </a:tr>
              <a:tr h="668080">
                <a:tc>
                  <a:txBody>
                    <a:bodyPr/>
                    <a:lstStyle/>
                    <a:p>
                      <a:r>
                        <a:rPr lang="es-ES" sz="1600" dirty="0">
                          <a:solidFill>
                            <a:srgbClr val="000000"/>
                          </a:solidFill>
                          <a:latin typeface="Century Gothic" panose="020B0502020202020204" pitchFamily="34" charset="0"/>
                        </a:rPr>
                        <a:t>Informa del segmento de código donde hay vulnerabilidad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1600" dirty="0">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dirty="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876846"/>
                  </a:ext>
                </a:extLst>
              </a:tr>
              <a:tr h="668080">
                <a:tc>
                  <a:txBody>
                    <a:bodyPr/>
                    <a:lstStyle/>
                    <a:p>
                      <a:r>
                        <a:rPr lang="es-ES" sz="1600">
                          <a:solidFill>
                            <a:srgbClr val="000000"/>
                          </a:solidFill>
                          <a:latin typeface="Century Gothic" panose="020B0502020202020204" pitchFamily="34" charset="0"/>
                        </a:rPr>
                        <a:t>Falsos positivos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ES" sz="1600">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dirty="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endParaRPr lang="es-ES" sz="1600" kern="1200" dirty="0">
                        <a:solidFill>
                          <a:schemeClr val="dk1"/>
                        </a:solidFill>
                        <a:latin typeface="Century Gothic" panose="020B0502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3817066"/>
                  </a:ext>
                </a:extLst>
              </a:tr>
            </a:tbl>
          </a:graphicData>
        </a:graphic>
      </p:graphicFrame>
      <p:pic>
        <p:nvPicPr>
          <p:cNvPr id="7" name="Imagen 6" descr="Imagen que contiene Forma&#10;&#10;Descripción generada automáticamente">
            <a:extLst>
              <a:ext uri="{FF2B5EF4-FFF2-40B4-BE49-F238E27FC236}">
                <a16:creationId xmlns:a16="http://schemas.microsoft.com/office/drawing/2014/main" id="{FA129D7F-3AE1-F364-622F-B587A81E66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5226" y="2774837"/>
            <a:ext cx="477193" cy="495786"/>
          </a:xfrm>
          <a:prstGeom prst="rect">
            <a:avLst/>
          </a:prstGeom>
        </p:spPr>
      </p:pic>
      <p:sp>
        <p:nvSpPr>
          <p:cNvPr id="8" name="Flecha: hacia arriba 7">
            <a:extLst>
              <a:ext uri="{FF2B5EF4-FFF2-40B4-BE49-F238E27FC236}">
                <a16:creationId xmlns:a16="http://schemas.microsoft.com/office/drawing/2014/main" id="{5F6A236A-7CC7-556E-3379-0E474FFA3B8F}"/>
              </a:ext>
            </a:extLst>
          </p:cNvPr>
          <p:cNvSpPr/>
          <p:nvPr/>
        </p:nvSpPr>
        <p:spPr>
          <a:xfrm>
            <a:off x="4075226" y="4973119"/>
            <a:ext cx="356644" cy="423169"/>
          </a:xfrm>
          <a:prstGeom prst="upArrow">
            <a:avLst/>
          </a:prstGeom>
          <a:solidFill>
            <a:schemeClr val="accent6">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atin typeface="Trebuchet MS" panose="020B0603020202020204" pitchFamily="34" charset="0"/>
            </a:endParaRPr>
          </a:p>
        </p:txBody>
      </p:sp>
      <p:pic>
        <p:nvPicPr>
          <p:cNvPr id="10" name="Imagen 9" descr="Forma&#10;&#10;Descripción generada automáticamente">
            <a:extLst>
              <a:ext uri="{FF2B5EF4-FFF2-40B4-BE49-F238E27FC236}">
                <a16:creationId xmlns:a16="http://schemas.microsoft.com/office/drawing/2014/main" id="{F1FECB01-57CB-0A9B-0675-4FA8F43C3C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1739" y="3467846"/>
            <a:ext cx="495786" cy="495786"/>
          </a:xfrm>
          <a:prstGeom prst="rect">
            <a:avLst/>
          </a:prstGeom>
        </p:spPr>
      </p:pic>
      <p:pic>
        <p:nvPicPr>
          <p:cNvPr id="12" name="Imagen 11" descr="Imagen que contiene Forma&#10;&#10;Descripción generada automáticamente">
            <a:extLst>
              <a:ext uri="{FF2B5EF4-FFF2-40B4-BE49-F238E27FC236}">
                <a16:creationId xmlns:a16="http://schemas.microsoft.com/office/drawing/2014/main" id="{5C791D04-D23C-A382-0C64-40BCD7A4EC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1739" y="4160855"/>
            <a:ext cx="477193" cy="495786"/>
          </a:xfrm>
          <a:prstGeom prst="rect">
            <a:avLst/>
          </a:prstGeom>
        </p:spPr>
      </p:pic>
      <p:pic>
        <p:nvPicPr>
          <p:cNvPr id="13" name="Imagen 12" descr="Forma&#10;&#10;Descripción generada automáticamente">
            <a:extLst>
              <a:ext uri="{FF2B5EF4-FFF2-40B4-BE49-F238E27FC236}">
                <a16:creationId xmlns:a16="http://schemas.microsoft.com/office/drawing/2014/main" id="{FAA21ED0-9F8C-8167-7D7D-3B3B66F8E8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40983" y="2774837"/>
            <a:ext cx="495786" cy="495786"/>
          </a:xfrm>
          <a:prstGeom prst="rect">
            <a:avLst/>
          </a:prstGeom>
        </p:spPr>
      </p:pic>
      <p:pic>
        <p:nvPicPr>
          <p:cNvPr id="14" name="Imagen 13" descr="Forma&#10;&#10;Descripción generada automáticamente">
            <a:extLst>
              <a:ext uri="{FF2B5EF4-FFF2-40B4-BE49-F238E27FC236}">
                <a16:creationId xmlns:a16="http://schemas.microsoft.com/office/drawing/2014/main" id="{46A87EE9-7D4E-B9F2-CA26-F4E22DE657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40983" y="4260881"/>
            <a:ext cx="495786" cy="495786"/>
          </a:xfrm>
          <a:prstGeom prst="rect">
            <a:avLst/>
          </a:prstGeom>
        </p:spPr>
      </p:pic>
      <p:pic>
        <p:nvPicPr>
          <p:cNvPr id="15" name="Imagen 14" descr="Imagen que contiene Forma&#10;&#10;Descripción generada automáticamente">
            <a:extLst>
              <a:ext uri="{FF2B5EF4-FFF2-40B4-BE49-F238E27FC236}">
                <a16:creationId xmlns:a16="http://schemas.microsoft.com/office/drawing/2014/main" id="{3198277A-7DE7-83C3-1B2E-323A24BC11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0983" y="3480874"/>
            <a:ext cx="477193" cy="495786"/>
          </a:xfrm>
          <a:prstGeom prst="rect">
            <a:avLst/>
          </a:prstGeom>
        </p:spPr>
      </p:pic>
      <p:pic>
        <p:nvPicPr>
          <p:cNvPr id="16" name="Imagen 15" descr="Imagen que contiene Forma&#10;&#10;Descripción generada automáticamente">
            <a:extLst>
              <a:ext uri="{FF2B5EF4-FFF2-40B4-BE49-F238E27FC236}">
                <a16:creationId xmlns:a16="http://schemas.microsoft.com/office/drawing/2014/main" id="{0AED7B50-7126-01A1-10FB-2766C64D49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8421" y="2774837"/>
            <a:ext cx="477193" cy="495786"/>
          </a:xfrm>
          <a:prstGeom prst="rect">
            <a:avLst/>
          </a:prstGeom>
        </p:spPr>
      </p:pic>
      <p:pic>
        <p:nvPicPr>
          <p:cNvPr id="17" name="Imagen 16" descr="Imagen que contiene Forma&#10;&#10;Descripción generada automáticamente">
            <a:extLst>
              <a:ext uri="{FF2B5EF4-FFF2-40B4-BE49-F238E27FC236}">
                <a16:creationId xmlns:a16="http://schemas.microsoft.com/office/drawing/2014/main" id="{AA01F23A-25B3-8E01-FB3F-1427B981D8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8420" y="3448041"/>
            <a:ext cx="477193" cy="495786"/>
          </a:xfrm>
          <a:prstGeom prst="rect">
            <a:avLst/>
          </a:prstGeom>
        </p:spPr>
      </p:pic>
      <p:pic>
        <p:nvPicPr>
          <p:cNvPr id="24" name="Imagen 23" descr="Imagen que contiene Forma&#10;&#10;Descripción generada automáticamente">
            <a:extLst>
              <a:ext uri="{FF2B5EF4-FFF2-40B4-BE49-F238E27FC236}">
                <a16:creationId xmlns:a16="http://schemas.microsoft.com/office/drawing/2014/main" id="{09A50E70-4603-2811-9BC5-04AF94D8C1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8420" y="4195190"/>
            <a:ext cx="477193" cy="495786"/>
          </a:xfrm>
          <a:prstGeom prst="rect">
            <a:avLst/>
          </a:prstGeom>
        </p:spPr>
      </p:pic>
      <p:sp>
        <p:nvSpPr>
          <p:cNvPr id="25" name="Flecha: hacia arriba 24">
            <a:extLst>
              <a:ext uri="{FF2B5EF4-FFF2-40B4-BE49-F238E27FC236}">
                <a16:creationId xmlns:a16="http://schemas.microsoft.com/office/drawing/2014/main" id="{0AC5C171-1935-3AB1-CC13-8CB9E9A869EA}"/>
              </a:ext>
            </a:extLst>
          </p:cNvPr>
          <p:cNvSpPr/>
          <p:nvPr/>
        </p:nvSpPr>
        <p:spPr>
          <a:xfrm>
            <a:off x="6201257" y="4966918"/>
            <a:ext cx="356644" cy="423169"/>
          </a:xfrm>
          <a:prstGeom prst="upArrow">
            <a:avLst/>
          </a:prstGeom>
          <a:solidFill>
            <a:schemeClr val="accent6">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atin typeface="Trebuchet MS" panose="020B0603020202020204" pitchFamily="34" charset="0"/>
            </a:endParaRPr>
          </a:p>
        </p:txBody>
      </p:sp>
      <p:sp>
        <p:nvSpPr>
          <p:cNvPr id="26" name="Flecha: hacia arriba 25">
            <a:extLst>
              <a:ext uri="{FF2B5EF4-FFF2-40B4-BE49-F238E27FC236}">
                <a16:creationId xmlns:a16="http://schemas.microsoft.com/office/drawing/2014/main" id="{70418EE5-15DF-CD16-868C-D1EC573A32FB}"/>
              </a:ext>
            </a:extLst>
          </p:cNvPr>
          <p:cNvSpPr/>
          <p:nvPr/>
        </p:nvSpPr>
        <p:spPr>
          <a:xfrm flipV="1">
            <a:off x="8368694" y="4966917"/>
            <a:ext cx="356644" cy="423169"/>
          </a:xfrm>
          <a:prstGeom prst="upArrow">
            <a:avLst/>
          </a:prstGeom>
          <a:solidFill>
            <a:schemeClr val="accent6">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atin typeface="Trebuchet MS" panose="020B0603020202020204" pitchFamily="34" charset="0"/>
            </a:endParaRPr>
          </a:p>
        </p:txBody>
      </p:sp>
      <p:sp>
        <p:nvSpPr>
          <p:cNvPr id="27" name="Oval 17">
            <a:extLst>
              <a:ext uri="{FF2B5EF4-FFF2-40B4-BE49-F238E27FC236}">
                <a16:creationId xmlns:a16="http://schemas.microsoft.com/office/drawing/2014/main" id="{50E3B1EF-FB7B-62A6-613F-0D8F3C4AEEB3}"/>
              </a:ext>
            </a:extLst>
          </p:cNvPr>
          <p:cNvSpPr>
            <a:spLocks noChangeAspect="1"/>
          </p:cNvSpPr>
          <p:nvPr/>
        </p:nvSpPr>
        <p:spPr>
          <a:xfrm>
            <a:off x="3954729" y="1294506"/>
            <a:ext cx="718185" cy="718185"/>
          </a:xfrm>
          <a:prstGeom prst="ellipse">
            <a:avLst/>
          </a:prstGeom>
          <a:solidFill>
            <a:srgbClr val="355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1">
              <a:latin typeface="Trebuchet MS" panose="020B0603020202020204" pitchFamily="34" charset="0"/>
            </a:endParaRPr>
          </a:p>
        </p:txBody>
      </p:sp>
      <p:sp>
        <p:nvSpPr>
          <p:cNvPr id="28" name="Oval 17">
            <a:extLst>
              <a:ext uri="{FF2B5EF4-FFF2-40B4-BE49-F238E27FC236}">
                <a16:creationId xmlns:a16="http://schemas.microsoft.com/office/drawing/2014/main" id="{742E9203-816B-9FBE-82DA-EFBBFE2D146A}"/>
              </a:ext>
            </a:extLst>
          </p:cNvPr>
          <p:cNvSpPr>
            <a:spLocks noChangeAspect="1"/>
          </p:cNvSpPr>
          <p:nvPr/>
        </p:nvSpPr>
        <p:spPr>
          <a:xfrm>
            <a:off x="6062696" y="1248510"/>
            <a:ext cx="718185" cy="718185"/>
          </a:xfrm>
          <a:prstGeom prst="ellipse">
            <a:avLst/>
          </a:prstGeom>
          <a:solidFill>
            <a:srgbClr val="355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1">
              <a:latin typeface="Trebuchet MS" panose="020B0603020202020204" pitchFamily="34" charset="0"/>
            </a:endParaRPr>
          </a:p>
        </p:txBody>
      </p:sp>
      <p:sp>
        <p:nvSpPr>
          <p:cNvPr id="29" name="Oval 17">
            <a:extLst>
              <a:ext uri="{FF2B5EF4-FFF2-40B4-BE49-F238E27FC236}">
                <a16:creationId xmlns:a16="http://schemas.microsoft.com/office/drawing/2014/main" id="{2F15C9F9-2303-C15D-583E-C274AEA031BD}"/>
              </a:ext>
            </a:extLst>
          </p:cNvPr>
          <p:cNvSpPr>
            <a:spLocks noChangeAspect="1"/>
          </p:cNvSpPr>
          <p:nvPr/>
        </p:nvSpPr>
        <p:spPr>
          <a:xfrm>
            <a:off x="8187923" y="1241218"/>
            <a:ext cx="718185" cy="718185"/>
          </a:xfrm>
          <a:prstGeom prst="ellipse">
            <a:avLst/>
          </a:prstGeom>
          <a:solidFill>
            <a:srgbClr val="355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1">
              <a:latin typeface="Trebuchet MS" panose="020B0603020202020204" pitchFamily="34" charset="0"/>
            </a:endParaRPr>
          </a:p>
        </p:txBody>
      </p:sp>
      <p:sp>
        <p:nvSpPr>
          <p:cNvPr id="30" name="CuadroTexto 29">
            <a:extLst>
              <a:ext uri="{FF2B5EF4-FFF2-40B4-BE49-F238E27FC236}">
                <a16:creationId xmlns:a16="http://schemas.microsoft.com/office/drawing/2014/main" id="{BFAD3235-2A8E-CBC6-BA1C-403864181087}"/>
              </a:ext>
            </a:extLst>
          </p:cNvPr>
          <p:cNvSpPr txBox="1"/>
          <p:nvPr/>
        </p:nvSpPr>
        <p:spPr>
          <a:xfrm>
            <a:off x="4018921" y="1463851"/>
            <a:ext cx="1469538" cy="307777"/>
          </a:xfrm>
          <a:prstGeom prst="rect">
            <a:avLst/>
          </a:prstGeom>
          <a:noFill/>
        </p:spPr>
        <p:txBody>
          <a:bodyPr wrap="square" rtlCol="0">
            <a:spAutoFit/>
          </a:bodyPr>
          <a:lstStyle/>
          <a:p>
            <a:r>
              <a:rPr lang="es-ES" sz="1400" b="1">
                <a:solidFill>
                  <a:schemeClr val="bg1"/>
                </a:solidFill>
                <a:latin typeface="Trebuchet MS" panose="020B0603020202020204" pitchFamily="34" charset="0"/>
              </a:rPr>
              <a:t>SAST</a:t>
            </a:r>
          </a:p>
        </p:txBody>
      </p:sp>
      <p:sp>
        <p:nvSpPr>
          <p:cNvPr id="31" name="CuadroTexto 30">
            <a:extLst>
              <a:ext uri="{FF2B5EF4-FFF2-40B4-BE49-F238E27FC236}">
                <a16:creationId xmlns:a16="http://schemas.microsoft.com/office/drawing/2014/main" id="{22F8E311-CB35-1B01-517E-E144B2BC8D06}"/>
              </a:ext>
            </a:extLst>
          </p:cNvPr>
          <p:cNvSpPr txBox="1"/>
          <p:nvPr/>
        </p:nvSpPr>
        <p:spPr>
          <a:xfrm>
            <a:off x="6114631" y="1446421"/>
            <a:ext cx="1469538" cy="307777"/>
          </a:xfrm>
          <a:prstGeom prst="rect">
            <a:avLst/>
          </a:prstGeom>
          <a:noFill/>
        </p:spPr>
        <p:txBody>
          <a:bodyPr wrap="square" rtlCol="0">
            <a:spAutoFit/>
          </a:bodyPr>
          <a:lstStyle/>
          <a:p>
            <a:r>
              <a:rPr lang="es-ES" sz="1400" b="1">
                <a:solidFill>
                  <a:schemeClr val="bg1"/>
                </a:solidFill>
                <a:latin typeface="Trebuchet MS" panose="020B0603020202020204" pitchFamily="34" charset="0"/>
              </a:rPr>
              <a:t>DAST</a:t>
            </a:r>
          </a:p>
        </p:txBody>
      </p:sp>
      <p:sp>
        <p:nvSpPr>
          <p:cNvPr id="32" name="CuadroTexto 31">
            <a:extLst>
              <a:ext uri="{FF2B5EF4-FFF2-40B4-BE49-F238E27FC236}">
                <a16:creationId xmlns:a16="http://schemas.microsoft.com/office/drawing/2014/main" id="{AB7907DB-FCCB-8B4D-5711-9951F34B3504}"/>
              </a:ext>
            </a:extLst>
          </p:cNvPr>
          <p:cNvSpPr txBox="1"/>
          <p:nvPr/>
        </p:nvSpPr>
        <p:spPr>
          <a:xfrm>
            <a:off x="8268699" y="1459606"/>
            <a:ext cx="1469538" cy="307777"/>
          </a:xfrm>
          <a:prstGeom prst="rect">
            <a:avLst/>
          </a:prstGeom>
          <a:noFill/>
        </p:spPr>
        <p:txBody>
          <a:bodyPr wrap="square" rtlCol="0">
            <a:spAutoFit/>
          </a:bodyPr>
          <a:lstStyle/>
          <a:p>
            <a:r>
              <a:rPr lang="es-ES" sz="1400" b="1">
                <a:solidFill>
                  <a:schemeClr val="bg1"/>
                </a:solidFill>
                <a:latin typeface="Trebuchet MS" panose="020B0603020202020204" pitchFamily="34" charset="0"/>
              </a:rPr>
              <a:t>IAST</a:t>
            </a:r>
          </a:p>
        </p:txBody>
      </p:sp>
      <p:pic>
        <p:nvPicPr>
          <p:cNvPr id="9" name="Imagen 8" descr="Interfaz de usuario gráfica&#10;&#10;El contenido generado por IA puede ser incorrecto.">
            <a:extLst>
              <a:ext uri="{FF2B5EF4-FFF2-40B4-BE49-F238E27FC236}">
                <a16:creationId xmlns:a16="http://schemas.microsoft.com/office/drawing/2014/main" id="{AB9F4836-AFFB-0529-A468-B6DE8252AF83}"/>
              </a:ext>
            </a:extLst>
          </p:cNvPr>
          <p:cNvPicPr>
            <a:picLocks noChangeAspect="1"/>
          </p:cNvPicPr>
          <p:nvPr/>
        </p:nvPicPr>
        <p:blipFill>
          <a:blip r:embed="rId6">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920025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06D5F-C00D-03B1-12C0-C4686D2ED194}"/>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55E7A354-1FA3-8340-6E50-DE26465429E0}"/>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B1974403-177B-C87C-12F7-82AC5B38D702}"/>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¿Ventajas y desventajas de SAST?</a:t>
            </a:r>
          </a:p>
        </p:txBody>
      </p:sp>
      <p:pic>
        <p:nvPicPr>
          <p:cNvPr id="20" name="Imagen 19" descr="Texto&#10;&#10;El contenido generado por IA puede ser incorrecto.">
            <a:extLst>
              <a:ext uri="{FF2B5EF4-FFF2-40B4-BE49-F238E27FC236}">
                <a16:creationId xmlns:a16="http://schemas.microsoft.com/office/drawing/2014/main" id="{4E48FFA1-CF62-6256-93BB-D386A49768E1}"/>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graphicFrame>
        <p:nvGraphicFramePr>
          <p:cNvPr id="9" name="Tabla 8">
            <a:extLst>
              <a:ext uri="{FF2B5EF4-FFF2-40B4-BE49-F238E27FC236}">
                <a16:creationId xmlns:a16="http://schemas.microsoft.com/office/drawing/2014/main" id="{259D1F84-A8B8-6BB0-7641-376B8162D8E0}"/>
              </a:ext>
            </a:extLst>
          </p:cNvPr>
          <p:cNvGraphicFramePr>
            <a:graphicFrameLocks noGrp="1"/>
          </p:cNvGraphicFramePr>
          <p:nvPr>
            <p:extLst>
              <p:ext uri="{D42A27DB-BD31-4B8C-83A1-F6EECF244321}">
                <p14:modId xmlns:p14="http://schemas.microsoft.com/office/powerpoint/2010/main" val="992785370"/>
              </p:ext>
            </p:extLst>
          </p:nvPr>
        </p:nvGraphicFramePr>
        <p:xfrm>
          <a:off x="1428781" y="1216256"/>
          <a:ext cx="8702552" cy="4474236"/>
        </p:xfrm>
        <a:graphic>
          <a:graphicData uri="http://schemas.openxmlformats.org/drawingml/2006/table">
            <a:tbl>
              <a:tblPr firstRow="1" bandRow="1">
                <a:tableStyleId>{5C22544A-7EE6-4342-B048-85BDC9FD1C3A}</a:tableStyleId>
              </a:tblPr>
              <a:tblGrid>
                <a:gridCol w="4351276">
                  <a:extLst>
                    <a:ext uri="{9D8B030D-6E8A-4147-A177-3AD203B41FA5}">
                      <a16:colId xmlns:a16="http://schemas.microsoft.com/office/drawing/2014/main" val="2037020355"/>
                    </a:ext>
                  </a:extLst>
                </a:gridCol>
                <a:gridCol w="4351276">
                  <a:extLst>
                    <a:ext uri="{9D8B030D-6E8A-4147-A177-3AD203B41FA5}">
                      <a16:colId xmlns:a16="http://schemas.microsoft.com/office/drawing/2014/main" val="1423225556"/>
                    </a:ext>
                  </a:extLst>
                </a:gridCol>
              </a:tblGrid>
              <a:tr h="1118559">
                <a:tc>
                  <a:txBody>
                    <a:bodyPr/>
                    <a:lstStyle/>
                    <a:p>
                      <a:pPr algn="ctr"/>
                      <a:r>
                        <a:rPr lang="es-ES" sz="2000" dirty="0">
                          <a:latin typeface="Trebuchet MS" panose="020B0603020202020204" pitchFamily="34" charset="0"/>
                        </a:rPr>
                        <a:t>Ventajas</a:t>
                      </a:r>
                    </a:p>
                  </a:txBody>
                  <a:tcPr anchor="ctr"/>
                </a:tc>
                <a:tc>
                  <a:txBody>
                    <a:bodyPr/>
                    <a:lstStyle/>
                    <a:p>
                      <a:pPr algn="ctr"/>
                      <a:r>
                        <a:rPr lang="es-ES" sz="2000">
                          <a:latin typeface="Trebuchet MS" panose="020B0603020202020204" pitchFamily="34" charset="0"/>
                        </a:rPr>
                        <a:t>Desventajas</a:t>
                      </a:r>
                    </a:p>
                  </a:txBody>
                  <a:tcPr anchor="ctr"/>
                </a:tc>
                <a:extLst>
                  <a:ext uri="{0D108BD9-81ED-4DB2-BD59-A6C34878D82A}">
                    <a16:rowId xmlns:a16="http://schemas.microsoft.com/office/drawing/2014/main" val="2752499668"/>
                  </a:ext>
                </a:extLst>
              </a:tr>
              <a:tr h="1118559">
                <a:tc>
                  <a:txBody>
                    <a:bodyPr/>
                    <a:lstStyle/>
                    <a:p>
                      <a:pPr lvl="0" algn="ctr">
                        <a:buNone/>
                      </a:pPr>
                      <a:r>
                        <a:rPr lang="es-ES" sz="1500" b="0" i="0" u="none" strike="noStrike" noProof="0" dirty="0">
                          <a:solidFill>
                            <a:schemeClr val="tx1"/>
                          </a:solidFill>
                          <a:latin typeface="Trebuchet MS" panose="020B0603020202020204" pitchFamily="34" charset="0"/>
                        </a:rPr>
                        <a:t>Detecta vulnerabilidades desde las etapas tempranas del desarrollo.</a:t>
                      </a:r>
                      <a:endParaRPr lang="es-ES" sz="1500" dirty="0">
                        <a:solidFill>
                          <a:schemeClr val="tx1"/>
                        </a:solidFill>
                        <a:latin typeface="Trebuchet MS" panose="020B0603020202020204" pitchFamily="34" charset="0"/>
                      </a:endParaRPr>
                    </a:p>
                  </a:txBody>
                  <a:tcPr anchor="ctr"/>
                </a:tc>
                <a:tc>
                  <a:txBody>
                    <a:bodyPr/>
                    <a:lstStyle/>
                    <a:p>
                      <a:pPr lvl="0" algn="ctr">
                        <a:buNone/>
                      </a:pPr>
                      <a:r>
                        <a:rPr lang="es-ES" sz="1500" b="0" i="0" u="none" strike="noStrike" noProof="0" dirty="0">
                          <a:solidFill>
                            <a:schemeClr val="tx1"/>
                          </a:solidFill>
                          <a:latin typeface="Trebuchet MS" panose="020B0603020202020204" pitchFamily="34" charset="0"/>
                        </a:rPr>
                        <a:t>Puede generar un alto número de falsos positivos.</a:t>
                      </a:r>
                      <a:endParaRPr lang="es-ES" sz="15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4271271671"/>
                  </a:ext>
                </a:extLst>
              </a:tr>
              <a:tr h="1118559">
                <a:tc>
                  <a:txBody>
                    <a:bodyPr/>
                    <a:lstStyle/>
                    <a:p>
                      <a:pPr lvl="0" algn="ctr">
                        <a:buNone/>
                      </a:pPr>
                      <a:r>
                        <a:rPr lang="es-ES" sz="1500" b="0" i="0" u="none" strike="noStrike" noProof="0" dirty="0">
                          <a:solidFill>
                            <a:schemeClr val="tx1"/>
                          </a:solidFill>
                          <a:latin typeface="Trebuchet MS" panose="020B0603020202020204" pitchFamily="34" charset="0"/>
                        </a:rPr>
                        <a:t>No requiere un entorno de ejecución.</a:t>
                      </a:r>
                      <a:endParaRPr lang="es-ES" sz="1500" dirty="0">
                        <a:solidFill>
                          <a:schemeClr val="tx1"/>
                        </a:solidFill>
                        <a:latin typeface="Trebuchet MS" panose="020B0603020202020204" pitchFamily="34" charset="0"/>
                      </a:endParaRPr>
                    </a:p>
                  </a:txBody>
                  <a:tcPr anchor="ctr"/>
                </a:tc>
                <a:tc>
                  <a:txBody>
                    <a:bodyPr/>
                    <a:lstStyle/>
                    <a:p>
                      <a:pPr lvl="0" algn="ctr">
                        <a:buNone/>
                      </a:pPr>
                      <a:r>
                        <a:rPr lang="es-ES" sz="1500" b="0" i="0" u="none" strike="noStrike" noProof="0" dirty="0">
                          <a:solidFill>
                            <a:schemeClr val="tx1"/>
                          </a:solidFill>
                          <a:latin typeface="Trebuchet MS" panose="020B0603020202020204" pitchFamily="34" charset="0"/>
                        </a:rPr>
                        <a:t>Limitado a vulnerabilidades que son identificables exclusivamente por el análisis del código fuente.</a:t>
                      </a:r>
                      <a:endParaRPr lang="es-ES" sz="15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1264422689"/>
                  </a:ext>
                </a:extLst>
              </a:tr>
              <a:tr h="1118559">
                <a:tc>
                  <a:txBody>
                    <a:bodyPr/>
                    <a:lstStyle/>
                    <a:p>
                      <a:pPr lvl="0" algn="ctr">
                        <a:buNone/>
                      </a:pPr>
                      <a:r>
                        <a:rPr lang="es-ES" sz="1500" b="0" i="0" u="none" strike="noStrike" noProof="0">
                          <a:solidFill>
                            <a:schemeClr val="tx1"/>
                          </a:solidFill>
                          <a:latin typeface="Trebuchet MS" panose="020B0603020202020204" pitchFamily="34" charset="0"/>
                        </a:rPr>
                        <a:t>Ideal para detectar problemas estructurales en el código.</a:t>
                      </a:r>
                      <a:endParaRPr lang="es-ES" sz="1500">
                        <a:solidFill>
                          <a:schemeClr val="tx1"/>
                        </a:solidFill>
                        <a:latin typeface="Trebuchet MS" panose="020B0603020202020204" pitchFamily="34" charset="0"/>
                      </a:endParaRPr>
                    </a:p>
                  </a:txBody>
                  <a:tcPr anchor="ctr"/>
                </a:tc>
                <a:tc>
                  <a:txBody>
                    <a:bodyPr/>
                    <a:lstStyle/>
                    <a:p>
                      <a:pPr lvl="0" algn="ctr">
                        <a:buNone/>
                      </a:pPr>
                      <a:endParaRPr lang="es-ES" sz="15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1372289073"/>
                  </a:ext>
                </a:extLst>
              </a:tr>
            </a:tbl>
          </a:graphicData>
        </a:graphic>
      </p:graphicFrame>
      <p:pic>
        <p:nvPicPr>
          <p:cNvPr id="2" name="Imagen 1" descr="Interfaz de usuario gráfica&#10;&#10;El contenido generado por IA puede ser incorrecto.">
            <a:extLst>
              <a:ext uri="{FF2B5EF4-FFF2-40B4-BE49-F238E27FC236}">
                <a16:creationId xmlns:a16="http://schemas.microsoft.com/office/drawing/2014/main" id="{B9704DDF-1088-98AE-6C7D-042BB02DCABC}"/>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397475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06899-48BA-2D0A-E3A2-1FADD86F8759}"/>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02676036-A43B-D9B9-5011-3E092E05CA83}"/>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818F323D-E38A-97C5-19C1-141DA343D3D3}"/>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¿Ventajas y desventajas de DAST?</a:t>
            </a:r>
          </a:p>
        </p:txBody>
      </p:sp>
      <p:pic>
        <p:nvPicPr>
          <p:cNvPr id="20" name="Imagen 19" descr="Texto&#10;&#10;El contenido generado por IA puede ser incorrecto.">
            <a:extLst>
              <a:ext uri="{FF2B5EF4-FFF2-40B4-BE49-F238E27FC236}">
                <a16:creationId xmlns:a16="http://schemas.microsoft.com/office/drawing/2014/main" id="{A3CD0E24-20C0-8234-95DE-25BEAF3396F5}"/>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graphicFrame>
        <p:nvGraphicFramePr>
          <p:cNvPr id="2" name="Tabla 1">
            <a:extLst>
              <a:ext uri="{FF2B5EF4-FFF2-40B4-BE49-F238E27FC236}">
                <a16:creationId xmlns:a16="http://schemas.microsoft.com/office/drawing/2014/main" id="{47E2281F-1992-03E9-18A7-566A86EF09F2}"/>
              </a:ext>
            </a:extLst>
          </p:cNvPr>
          <p:cNvGraphicFramePr>
            <a:graphicFrameLocks noGrp="1"/>
          </p:cNvGraphicFramePr>
          <p:nvPr>
            <p:extLst>
              <p:ext uri="{D42A27DB-BD31-4B8C-83A1-F6EECF244321}">
                <p14:modId xmlns:p14="http://schemas.microsoft.com/office/powerpoint/2010/main" val="1356290697"/>
              </p:ext>
            </p:extLst>
          </p:nvPr>
        </p:nvGraphicFramePr>
        <p:xfrm>
          <a:off x="1744724" y="1290471"/>
          <a:ext cx="8702552" cy="4491420"/>
        </p:xfrm>
        <a:graphic>
          <a:graphicData uri="http://schemas.openxmlformats.org/drawingml/2006/table">
            <a:tbl>
              <a:tblPr firstRow="1" bandRow="1">
                <a:tableStyleId>{5C22544A-7EE6-4342-B048-85BDC9FD1C3A}</a:tableStyleId>
              </a:tblPr>
              <a:tblGrid>
                <a:gridCol w="4351276">
                  <a:extLst>
                    <a:ext uri="{9D8B030D-6E8A-4147-A177-3AD203B41FA5}">
                      <a16:colId xmlns:a16="http://schemas.microsoft.com/office/drawing/2014/main" val="2037020355"/>
                    </a:ext>
                  </a:extLst>
                </a:gridCol>
                <a:gridCol w="4351276">
                  <a:extLst>
                    <a:ext uri="{9D8B030D-6E8A-4147-A177-3AD203B41FA5}">
                      <a16:colId xmlns:a16="http://schemas.microsoft.com/office/drawing/2014/main" val="1423225556"/>
                    </a:ext>
                  </a:extLst>
                </a:gridCol>
              </a:tblGrid>
              <a:tr h="1122855">
                <a:tc>
                  <a:txBody>
                    <a:bodyPr/>
                    <a:lstStyle/>
                    <a:p>
                      <a:pPr algn="ctr"/>
                      <a:r>
                        <a:rPr lang="es-ES" sz="2000" dirty="0">
                          <a:latin typeface="Trebuchet MS" panose="020B0603020202020204" pitchFamily="34" charset="0"/>
                        </a:rPr>
                        <a:t>Ventajas</a:t>
                      </a:r>
                    </a:p>
                  </a:txBody>
                  <a:tcPr anchor="ctr"/>
                </a:tc>
                <a:tc>
                  <a:txBody>
                    <a:bodyPr/>
                    <a:lstStyle/>
                    <a:p>
                      <a:pPr algn="ctr"/>
                      <a:r>
                        <a:rPr lang="es-ES" sz="2000">
                          <a:latin typeface="Trebuchet MS" panose="020B0603020202020204" pitchFamily="34" charset="0"/>
                        </a:rPr>
                        <a:t>Desventajas</a:t>
                      </a:r>
                    </a:p>
                  </a:txBody>
                  <a:tcPr anchor="ctr"/>
                </a:tc>
                <a:extLst>
                  <a:ext uri="{0D108BD9-81ED-4DB2-BD59-A6C34878D82A}">
                    <a16:rowId xmlns:a16="http://schemas.microsoft.com/office/drawing/2014/main" val="2752499668"/>
                  </a:ext>
                </a:extLst>
              </a:tr>
              <a:tr h="1122855">
                <a:tc>
                  <a:txBody>
                    <a:bodyPr/>
                    <a:lstStyle/>
                    <a:p>
                      <a:pPr lvl="0" algn="ctr">
                        <a:buNone/>
                      </a:pPr>
                      <a:r>
                        <a:rPr lang="es-ES" sz="1300" b="0" i="0" u="none" strike="noStrike" noProof="0" dirty="0">
                          <a:solidFill>
                            <a:schemeClr val="tx1"/>
                          </a:solidFill>
                          <a:latin typeface="Trebuchet MS" panose="020B0603020202020204" pitchFamily="34" charset="0"/>
                        </a:rPr>
                        <a:t>Evalúa la aplicación en un estado de ejecución, lo que puede revelar vulnerabilidades que solo se manifiestan durante la operación.</a:t>
                      </a:r>
                      <a:endParaRPr lang="es-ES" sz="1300" dirty="0">
                        <a:solidFill>
                          <a:schemeClr val="tx1"/>
                        </a:solidFill>
                        <a:latin typeface="Trebuchet MS" panose="020B0603020202020204" pitchFamily="34" charset="0"/>
                      </a:endParaRPr>
                    </a:p>
                  </a:txBody>
                  <a:tcPr anchor="ctr"/>
                </a:tc>
                <a:tc>
                  <a:txBody>
                    <a:bodyPr/>
                    <a:lstStyle/>
                    <a:p>
                      <a:pPr lvl="0" algn="ctr">
                        <a:buNone/>
                      </a:pPr>
                      <a:r>
                        <a:rPr lang="es-ES" sz="1300" b="0" i="0" u="none" strike="noStrike" noProof="0" dirty="0">
                          <a:solidFill>
                            <a:schemeClr val="tx1"/>
                          </a:solidFill>
                          <a:latin typeface="Trebuchet MS" panose="020B0603020202020204" pitchFamily="34" charset="0"/>
                        </a:rPr>
                        <a:t>Generalmente requiere configuración y ajustes para manejar contextos específicos de la aplicación.</a:t>
                      </a:r>
                      <a:endParaRPr lang="es-ES" sz="13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4271271671"/>
                  </a:ext>
                </a:extLst>
              </a:tr>
              <a:tr h="1122855">
                <a:tc>
                  <a:txBody>
                    <a:bodyPr/>
                    <a:lstStyle/>
                    <a:p>
                      <a:pPr lvl="0" algn="ctr">
                        <a:buNone/>
                      </a:pPr>
                      <a:r>
                        <a:rPr lang="es-ES" sz="1300" b="0" i="0" u="none" strike="noStrike" noProof="0" dirty="0">
                          <a:solidFill>
                            <a:schemeClr val="tx1"/>
                          </a:solidFill>
                          <a:latin typeface="Trebuchet MS" panose="020B0603020202020204" pitchFamily="34" charset="0"/>
                        </a:rPr>
                        <a:t>Puede interactuar con la aplicación como lo haría un usuario o un atacante real.</a:t>
                      </a:r>
                      <a:endParaRPr lang="es-ES" sz="1300" dirty="0">
                        <a:solidFill>
                          <a:schemeClr val="tx1"/>
                        </a:solidFill>
                        <a:latin typeface="Trebuchet MS" panose="020B0603020202020204" pitchFamily="34" charset="0"/>
                      </a:endParaRPr>
                    </a:p>
                  </a:txBody>
                  <a:tcPr anchor="ctr"/>
                </a:tc>
                <a:tc>
                  <a:txBody>
                    <a:bodyPr/>
                    <a:lstStyle/>
                    <a:p>
                      <a:pPr lvl="0" algn="ctr">
                        <a:buNone/>
                      </a:pPr>
                      <a:r>
                        <a:rPr lang="es-ES" sz="1300" b="0" i="0" u="none" strike="noStrike" noProof="0" dirty="0">
                          <a:solidFill>
                            <a:schemeClr val="tx1"/>
                          </a:solidFill>
                          <a:latin typeface="Trebuchet MS" panose="020B0603020202020204" pitchFamily="34" charset="0"/>
                        </a:rPr>
                        <a:t>Más adecuado para aplicaciones que están en una etapa más avanzada del ciclo de desarrollo.</a:t>
                      </a:r>
                      <a:endParaRPr lang="es-ES" sz="1300" dirty="0">
                        <a:solidFill>
                          <a:schemeClr val="tx1"/>
                        </a:solidFill>
                        <a:latin typeface="Trebuchet MS" panose="020B0603020202020204" pitchFamily="34" charset="0"/>
                      </a:endParaRPr>
                    </a:p>
                  </a:txBody>
                  <a:tcPr anchor="ctr"/>
                </a:tc>
                <a:extLst>
                  <a:ext uri="{0D108BD9-81ED-4DB2-BD59-A6C34878D82A}">
                    <a16:rowId xmlns:a16="http://schemas.microsoft.com/office/drawing/2014/main" val="1264422689"/>
                  </a:ext>
                </a:extLst>
              </a:tr>
              <a:tr h="1122855">
                <a:tc>
                  <a:txBody>
                    <a:bodyPr/>
                    <a:lstStyle/>
                    <a:p>
                      <a:pPr lvl="0" algn="ctr">
                        <a:buNone/>
                      </a:pPr>
                      <a:r>
                        <a:rPr lang="es-ES" sz="1300" b="0" i="0" u="none" strike="noStrike" noProof="0" dirty="0">
                          <a:solidFill>
                            <a:schemeClr val="tx1"/>
                          </a:solidFill>
                          <a:latin typeface="Trebuchet MS" panose="020B0603020202020204" pitchFamily="34" charset="0"/>
                        </a:rPr>
                        <a:t>Puede probar aplicaciones que interactúan con una variedad de servicios y </a:t>
                      </a:r>
                      <a:r>
                        <a:rPr lang="es-ES" sz="1300" b="0" i="0" u="none" strike="noStrike" noProof="0" dirty="0" err="1">
                          <a:solidFill>
                            <a:schemeClr val="tx1"/>
                          </a:solidFill>
                          <a:latin typeface="Trebuchet MS" panose="020B0603020202020204" pitchFamily="34" charset="0"/>
                        </a:rPr>
                        <a:t>APIs</a:t>
                      </a:r>
                      <a:r>
                        <a:rPr lang="es-ES" sz="1300" b="0" i="0" u="none" strike="noStrike" noProof="0" dirty="0">
                          <a:solidFill>
                            <a:schemeClr val="tx1"/>
                          </a:solidFill>
                          <a:latin typeface="Trebuchet MS" panose="020B0603020202020204" pitchFamily="34" charset="0"/>
                        </a:rPr>
                        <a:t>, revelando cómo las interacciones pueden conducir a vulnerabilidades.</a:t>
                      </a:r>
                      <a:endParaRPr lang="es-ES" sz="1300" dirty="0">
                        <a:solidFill>
                          <a:schemeClr val="tx1"/>
                        </a:solidFill>
                        <a:latin typeface="Trebuchet MS" panose="020B0603020202020204" pitchFamily="34" charset="0"/>
                      </a:endParaRPr>
                    </a:p>
                  </a:txBody>
                  <a:tcPr anchor="ctr"/>
                </a:tc>
                <a:tc>
                  <a:txBody>
                    <a:bodyPr/>
                    <a:lstStyle/>
                    <a:p>
                      <a:pPr lvl="0" algn="ctr">
                        <a:buNone/>
                      </a:pPr>
                      <a:r>
                        <a:rPr lang="es-ES" sz="1300" b="0" i="0" u="none" strike="noStrike" noProof="0" dirty="0">
                          <a:solidFill>
                            <a:schemeClr val="tx1"/>
                          </a:solidFill>
                          <a:latin typeface="Trebuchet MS" panose="020B0603020202020204" pitchFamily="34" charset="0"/>
                        </a:rPr>
                        <a:t>Al simular ataques reales, puede pasar por alto vulnerabilidades que no se manifiestan a través de las vías de ataque simuladas.</a:t>
                      </a:r>
                    </a:p>
                  </a:txBody>
                  <a:tcPr anchor="ctr"/>
                </a:tc>
                <a:extLst>
                  <a:ext uri="{0D108BD9-81ED-4DB2-BD59-A6C34878D82A}">
                    <a16:rowId xmlns:a16="http://schemas.microsoft.com/office/drawing/2014/main" val="1372289073"/>
                  </a:ext>
                </a:extLst>
              </a:tr>
            </a:tbl>
          </a:graphicData>
        </a:graphic>
      </p:graphicFrame>
      <p:pic>
        <p:nvPicPr>
          <p:cNvPr id="3" name="Imagen 2" descr="Interfaz de usuario gráfica&#10;&#10;El contenido generado por IA puede ser incorrecto.">
            <a:extLst>
              <a:ext uri="{FF2B5EF4-FFF2-40B4-BE49-F238E27FC236}">
                <a16:creationId xmlns:a16="http://schemas.microsoft.com/office/drawing/2014/main" id="{5DC8D308-1FCE-4705-8BDB-E1581CEFE9C2}"/>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819410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C7160-F4F0-720E-691C-580FD857C805}"/>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7331CD48-683B-CDF2-A753-EB15B2D47A6D}"/>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187E7C9B-2E5B-560C-8F9B-FAAB8F8C5D40}"/>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3" name="CuadroTexto 2">
            <a:extLst>
              <a:ext uri="{FF2B5EF4-FFF2-40B4-BE49-F238E27FC236}">
                <a16:creationId xmlns:a16="http://schemas.microsoft.com/office/drawing/2014/main" id="{75679A82-6C38-5A9A-ACA0-67E5CDAD9F4C}"/>
              </a:ext>
            </a:extLst>
          </p:cNvPr>
          <p:cNvSpPr txBox="1"/>
          <p:nvPr/>
        </p:nvSpPr>
        <p:spPr>
          <a:xfrm>
            <a:off x="1691520" y="1400126"/>
            <a:ext cx="2758808" cy="156966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s-ES" sz="9600" i="1">
                <a:solidFill>
                  <a:srgbClr val="0070C0"/>
                </a:solidFill>
                <a:latin typeface="Brush Script MT"/>
                <a:cs typeface="Calibri"/>
              </a:rPr>
              <a:t>¿</a:t>
            </a:r>
            <a:r>
              <a:rPr lang="es-ES" sz="6000" i="1">
                <a:solidFill>
                  <a:srgbClr val="0070C0"/>
                </a:solidFill>
                <a:latin typeface="Brush Script MT"/>
                <a:cs typeface="Calibri"/>
              </a:rPr>
              <a:t>SAST</a:t>
            </a:r>
            <a:endParaRPr lang="es-ES"/>
          </a:p>
        </p:txBody>
      </p:sp>
      <p:sp>
        <p:nvSpPr>
          <p:cNvPr id="4" name="CuadroTexto 3">
            <a:extLst>
              <a:ext uri="{FF2B5EF4-FFF2-40B4-BE49-F238E27FC236}">
                <a16:creationId xmlns:a16="http://schemas.microsoft.com/office/drawing/2014/main" id="{FB0B9FAE-9C8F-C083-18DB-BB70E91D40BD}"/>
              </a:ext>
            </a:extLst>
          </p:cNvPr>
          <p:cNvSpPr txBox="1"/>
          <p:nvPr/>
        </p:nvSpPr>
        <p:spPr>
          <a:xfrm>
            <a:off x="7202671" y="1476333"/>
            <a:ext cx="3425277" cy="132343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s-ES" sz="6000" i="1">
                <a:solidFill>
                  <a:srgbClr val="FF0000"/>
                </a:solidFill>
                <a:latin typeface="Brush Script MT"/>
                <a:cs typeface="Calibri"/>
              </a:rPr>
              <a:t>DAST</a:t>
            </a:r>
            <a:r>
              <a:rPr lang="es-ES" sz="8000" i="1">
                <a:solidFill>
                  <a:srgbClr val="FF0000"/>
                </a:solidFill>
                <a:latin typeface="Brush Script MT"/>
                <a:cs typeface="Calibri"/>
              </a:rPr>
              <a:t>?</a:t>
            </a:r>
            <a:endParaRPr lang="es-ES" sz="8000"/>
          </a:p>
        </p:txBody>
      </p:sp>
      <p:pic>
        <p:nvPicPr>
          <p:cNvPr id="7" name="Imagen 6">
            <a:extLst>
              <a:ext uri="{FF2B5EF4-FFF2-40B4-BE49-F238E27FC236}">
                <a16:creationId xmlns:a16="http://schemas.microsoft.com/office/drawing/2014/main" id="{B7A28AB1-6B56-FAAC-7C71-D3A200C02E7A}"/>
              </a:ext>
            </a:extLst>
          </p:cNvPr>
          <p:cNvPicPr>
            <a:picLocks noChangeAspect="1"/>
          </p:cNvPicPr>
          <p:nvPr/>
        </p:nvPicPr>
        <p:blipFill>
          <a:blip r:embed="rId4"/>
          <a:stretch>
            <a:fillRect/>
          </a:stretch>
        </p:blipFill>
        <p:spPr>
          <a:xfrm>
            <a:off x="5084363" y="970571"/>
            <a:ext cx="1848026" cy="2466975"/>
          </a:xfrm>
          <a:prstGeom prst="rect">
            <a:avLst/>
          </a:prstGeom>
        </p:spPr>
      </p:pic>
      <p:pic>
        <p:nvPicPr>
          <p:cNvPr id="8" name="Imagen 7">
            <a:extLst>
              <a:ext uri="{FF2B5EF4-FFF2-40B4-BE49-F238E27FC236}">
                <a16:creationId xmlns:a16="http://schemas.microsoft.com/office/drawing/2014/main" id="{8F484A9D-65E2-3D13-856F-0BB1D005F570}"/>
              </a:ext>
            </a:extLst>
          </p:cNvPr>
          <p:cNvPicPr>
            <a:picLocks noChangeAspect="1"/>
          </p:cNvPicPr>
          <p:nvPr/>
        </p:nvPicPr>
        <p:blipFill>
          <a:blip r:embed="rId5"/>
          <a:stretch>
            <a:fillRect/>
          </a:stretch>
        </p:blipFill>
        <p:spPr>
          <a:xfrm>
            <a:off x="3941097" y="3471556"/>
            <a:ext cx="4126691" cy="2314404"/>
          </a:xfrm>
          <a:prstGeom prst="rect">
            <a:avLst/>
          </a:prstGeom>
          <a:ln>
            <a:noFill/>
          </a:ln>
        </p:spPr>
      </p:pic>
      <p:pic>
        <p:nvPicPr>
          <p:cNvPr id="2" name="Imagen 1" descr="Interfaz de usuario gráfica&#10;&#10;El contenido generado por IA puede ser incorrecto.">
            <a:extLst>
              <a:ext uri="{FF2B5EF4-FFF2-40B4-BE49-F238E27FC236}">
                <a16:creationId xmlns:a16="http://schemas.microsoft.com/office/drawing/2014/main" id="{3C9135F5-88FF-5FF7-D610-C2C678DCC8FD}"/>
              </a:ext>
            </a:extLst>
          </p:cNvPr>
          <p:cNvPicPr>
            <a:picLocks noChangeAspect="1"/>
          </p:cNvPicPr>
          <p:nvPr/>
        </p:nvPicPr>
        <p:blipFill>
          <a:blip r:embed="rId6">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186863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C8F16-6FCA-C493-7B4F-47D9D4C8F41E}"/>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11B876E4-8974-5A05-8C5D-8F4D94A1F647}"/>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69970A52-C987-1850-806E-A79B2C25A6DF}"/>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2" name="Imagen 1">
            <a:extLst>
              <a:ext uri="{FF2B5EF4-FFF2-40B4-BE49-F238E27FC236}">
                <a16:creationId xmlns:a16="http://schemas.microsoft.com/office/drawing/2014/main" id="{FBC58C22-F210-1B1C-DF99-E1C631A753F1}"/>
              </a:ext>
            </a:extLst>
          </p:cNvPr>
          <p:cNvPicPr>
            <a:picLocks noChangeAspect="1"/>
          </p:cNvPicPr>
          <p:nvPr/>
        </p:nvPicPr>
        <p:blipFill>
          <a:blip r:embed="rId4"/>
          <a:stretch>
            <a:fillRect/>
          </a:stretch>
        </p:blipFill>
        <p:spPr>
          <a:xfrm>
            <a:off x="1827524" y="1047917"/>
            <a:ext cx="8536951" cy="4874839"/>
          </a:xfrm>
          <a:prstGeom prst="rect">
            <a:avLst/>
          </a:prstGeom>
        </p:spPr>
      </p:pic>
      <p:sp>
        <p:nvSpPr>
          <p:cNvPr id="6" name="CuadroTexto 5">
            <a:extLst>
              <a:ext uri="{FF2B5EF4-FFF2-40B4-BE49-F238E27FC236}">
                <a16:creationId xmlns:a16="http://schemas.microsoft.com/office/drawing/2014/main" id="{C8B0EB1A-4532-986B-60C2-E15F2349222C}"/>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Herramientas DAST</a:t>
            </a:r>
          </a:p>
        </p:txBody>
      </p:sp>
      <p:pic>
        <p:nvPicPr>
          <p:cNvPr id="3" name="Imagen 2" descr="Interfaz de usuario gráfica&#10;&#10;El contenido generado por IA puede ser incorrecto.">
            <a:extLst>
              <a:ext uri="{FF2B5EF4-FFF2-40B4-BE49-F238E27FC236}">
                <a16:creationId xmlns:a16="http://schemas.microsoft.com/office/drawing/2014/main" id="{18E78C1A-A3D1-C2CF-B5E5-B38ABDA61793}"/>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360790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6D1DE-4E79-33C8-09A0-DFC0869FE24F}"/>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2060D9CF-F4F8-9A33-73A9-77645587CA23}"/>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CE1EE016-31F6-4D76-C3DA-47CE12B9641C}"/>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3" name="CuadroTexto 2">
            <a:extLst>
              <a:ext uri="{FF2B5EF4-FFF2-40B4-BE49-F238E27FC236}">
                <a16:creationId xmlns:a16="http://schemas.microsoft.com/office/drawing/2014/main" id="{04B6F5E0-E371-A678-42CE-CCDE3FDFB96B}"/>
              </a:ext>
            </a:extLst>
          </p:cNvPr>
          <p:cNvSpPr txBox="1"/>
          <p:nvPr/>
        </p:nvSpPr>
        <p:spPr>
          <a:xfrm>
            <a:off x="2714965" y="4782710"/>
            <a:ext cx="8357873"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solidFill>
                  <a:srgbClr val="595959"/>
                </a:solidFill>
                <a:latin typeface="Trebuchet MS" panose="020B0603020202020204" pitchFamily="34" charset="0"/>
              </a:rPr>
              <a:t>Característica </a:t>
            </a:r>
            <a:r>
              <a:rPr lang="es-ES" sz="1500" b="1" baseline="0" dirty="0">
                <a:solidFill>
                  <a:srgbClr val="595959"/>
                </a:solidFill>
                <a:latin typeface="Trebuchet MS" panose="020B0603020202020204" pitchFamily="34" charset="0"/>
              </a:rPr>
              <a:t>clave:</a:t>
            </a:r>
            <a:endParaRPr lang="es-ES" dirty="0">
              <a:latin typeface="Trebuchet MS" panose="020B0603020202020204" pitchFamily="34" charset="0"/>
              <a:ea typeface="+mn-lt"/>
              <a:cs typeface="+mn-lt"/>
            </a:endParaRPr>
          </a:p>
          <a:p>
            <a:r>
              <a:rPr lang="es-ES" sz="1500" dirty="0">
                <a:latin typeface="Trebuchet MS" panose="020B0603020202020204" pitchFamily="34" charset="0"/>
                <a:ea typeface="+mn-lt"/>
                <a:cs typeface="+mn-lt"/>
              </a:rPr>
              <a:t>ZAP es ampliamente reconocido por su capacidad para ser utilizado tanto en pruebas automáticas como manuales, su adaptabilidad a diversos entornos de desarrollo y su comunidad activa que contribuye constantemente con nuevas funcionalidades y actualizaciones.</a:t>
            </a:r>
            <a:endParaRPr lang="es-ES" dirty="0">
              <a:latin typeface="Trebuchet MS" panose="020B0603020202020204" pitchFamily="34" charset="0"/>
              <a:ea typeface="+mn-lt"/>
              <a:cs typeface="+mn-lt"/>
            </a:endParaRPr>
          </a:p>
        </p:txBody>
      </p:sp>
      <p:pic>
        <p:nvPicPr>
          <p:cNvPr id="4" name="Gráfico 6">
            <a:extLst>
              <a:ext uri="{FF2B5EF4-FFF2-40B4-BE49-F238E27FC236}">
                <a16:creationId xmlns:a16="http://schemas.microsoft.com/office/drawing/2014/main" id="{AFE87778-E359-8AC8-AEF8-835A40289E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3706" y="4780339"/>
            <a:ext cx="1382792" cy="990080"/>
          </a:xfrm>
          <a:prstGeom prst="rect">
            <a:avLst/>
          </a:prstGeom>
        </p:spPr>
      </p:pic>
      <p:sp>
        <p:nvSpPr>
          <p:cNvPr id="6" name="CuadroTexto 5">
            <a:extLst>
              <a:ext uri="{FF2B5EF4-FFF2-40B4-BE49-F238E27FC236}">
                <a16:creationId xmlns:a16="http://schemas.microsoft.com/office/drawing/2014/main" id="{199E9ECB-FA4B-2C36-2E77-1F95D4C2D931}"/>
              </a:ext>
            </a:extLst>
          </p:cNvPr>
          <p:cNvSpPr txBox="1"/>
          <p:nvPr/>
        </p:nvSpPr>
        <p:spPr>
          <a:xfrm>
            <a:off x="3812416" y="2795659"/>
            <a:ext cx="439517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500" err="1">
                <a:solidFill>
                  <a:srgbClr val="0070C0"/>
                </a:solidFill>
                <a:latin typeface="Matura MT Script Capitals"/>
                <a:cs typeface="Calibri"/>
              </a:rPr>
              <a:t>Zed</a:t>
            </a:r>
            <a:r>
              <a:rPr lang="es-ES" sz="2500">
                <a:solidFill>
                  <a:srgbClr val="0070C0"/>
                </a:solidFill>
                <a:latin typeface="Matura MT Script Capitals"/>
                <a:cs typeface="Calibri"/>
              </a:rPr>
              <a:t> Proxy </a:t>
            </a:r>
            <a:r>
              <a:rPr lang="es-ES" sz="2500" err="1">
                <a:solidFill>
                  <a:srgbClr val="0070C0"/>
                </a:solidFill>
                <a:latin typeface="Matura MT Script Capitals"/>
                <a:cs typeface="Calibri"/>
              </a:rPr>
              <a:t>Attack</a:t>
            </a:r>
            <a:r>
              <a:rPr lang="es-ES" sz="2500">
                <a:solidFill>
                  <a:srgbClr val="0070C0"/>
                </a:solidFill>
                <a:latin typeface="Matura MT Script Capitals"/>
                <a:cs typeface="Calibri"/>
              </a:rPr>
              <a:t> </a:t>
            </a:r>
            <a:endParaRPr lang="es-ES">
              <a:solidFill>
                <a:srgbClr val="0070C0"/>
              </a:solidFill>
            </a:endParaRPr>
          </a:p>
        </p:txBody>
      </p:sp>
      <p:pic>
        <p:nvPicPr>
          <p:cNvPr id="7" name="Imagen 6" descr="Icono&#10;&#10;Descripción generada automáticamente">
            <a:extLst>
              <a:ext uri="{FF2B5EF4-FFF2-40B4-BE49-F238E27FC236}">
                <a16:creationId xmlns:a16="http://schemas.microsoft.com/office/drawing/2014/main" id="{10A40285-BA78-D4F0-4B61-6B3B6CB9B8DA}"/>
              </a:ext>
            </a:extLst>
          </p:cNvPr>
          <p:cNvPicPr>
            <a:picLocks noChangeAspect="1"/>
          </p:cNvPicPr>
          <p:nvPr/>
        </p:nvPicPr>
        <p:blipFill>
          <a:blip r:embed="rId6"/>
          <a:stretch>
            <a:fillRect/>
          </a:stretch>
        </p:blipFill>
        <p:spPr>
          <a:xfrm>
            <a:off x="1420932" y="3394056"/>
            <a:ext cx="911466" cy="890678"/>
          </a:xfrm>
          <a:prstGeom prst="rect">
            <a:avLst/>
          </a:prstGeom>
          <a:ln>
            <a:noFill/>
          </a:ln>
        </p:spPr>
      </p:pic>
      <p:sp>
        <p:nvSpPr>
          <p:cNvPr id="8" name="CuadroTexto 7">
            <a:extLst>
              <a:ext uri="{FF2B5EF4-FFF2-40B4-BE49-F238E27FC236}">
                <a16:creationId xmlns:a16="http://schemas.microsoft.com/office/drawing/2014/main" id="{65CBC313-EF9E-88BF-05E2-A2427C8C2BB9}"/>
              </a:ext>
            </a:extLst>
          </p:cNvPr>
          <p:cNvSpPr txBox="1"/>
          <p:nvPr/>
        </p:nvSpPr>
        <p:spPr>
          <a:xfrm>
            <a:off x="2714953" y="3447081"/>
            <a:ext cx="8097324"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mn-lt"/>
                <a:cs typeface="+mn-lt"/>
              </a:rPr>
              <a:t>ZAP es una herramienta de seguridad de aplicaciones web de código abierto que ayuda a encontrar vulnerabilidades de seguridad automáticamente mientras se desarrollan y prueban las aplicaciones.</a:t>
            </a:r>
          </a:p>
        </p:txBody>
      </p:sp>
      <p:pic>
        <p:nvPicPr>
          <p:cNvPr id="9" name="Imagen 8">
            <a:extLst>
              <a:ext uri="{FF2B5EF4-FFF2-40B4-BE49-F238E27FC236}">
                <a16:creationId xmlns:a16="http://schemas.microsoft.com/office/drawing/2014/main" id="{9ED76BB8-9367-33E3-BC48-5142E54E0C85}"/>
              </a:ext>
            </a:extLst>
          </p:cNvPr>
          <p:cNvPicPr>
            <a:picLocks noChangeAspect="1"/>
          </p:cNvPicPr>
          <p:nvPr/>
        </p:nvPicPr>
        <p:blipFill>
          <a:blip r:embed="rId7"/>
          <a:stretch>
            <a:fillRect/>
          </a:stretch>
        </p:blipFill>
        <p:spPr>
          <a:xfrm>
            <a:off x="3945361" y="1219542"/>
            <a:ext cx="3743682" cy="1219200"/>
          </a:xfrm>
          <a:prstGeom prst="rect">
            <a:avLst/>
          </a:prstGeom>
          <a:ln>
            <a:noFill/>
          </a:ln>
        </p:spPr>
      </p:pic>
      <p:sp>
        <p:nvSpPr>
          <p:cNvPr id="10" name="CuadroTexto 9">
            <a:extLst>
              <a:ext uri="{FF2B5EF4-FFF2-40B4-BE49-F238E27FC236}">
                <a16:creationId xmlns:a16="http://schemas.microsoft.com/office/drawing/2014/main" id="{0C8DBE3B-3912-E9C3-6868-C353F2A58045}"/>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Zed</a:t>
            </a:r>
            <a:r>
              <a:rPr lang="es-ES" dirty="0">
                <a:solidFill>
                  <a:schemeClr val="tx1">
                    <a:lumMod val="75000"/>
                    <a:lumOff val="25000"/>
                  </a:schemeClr>
                </a:solidFill>
              </a:rPr>
              <a:t> Proxy </a:t>
            </a:r>
            <a:r>
              <a:rPr lang="es-ES" dirty="0" err="1">
                <a:solidFill>
                  <a:schemeClr val="tx1">
                    <a:lumMod val="75000"/>
                    <a:lumOff val="25000"/>
                  </a:schemeClr>
                </a:solidFill>
              </a:rPr>
              <a:t>Attack</a:t>
            </a:r>
            <a:r>
              <a:rPr lang="es-ES" dirty="0">
                <a:solidFill>
                  <a:schemeClr val="tx1">
                    <a:lumMod val="75000"/>
                    <a:lumOff val="25000"/>
                  </a:schemeClr>
                </a:solidFill>
              </a:rPr>
              <a:t>: Auditoría dinámica</a:t>
            </a:r>
          </a:p>
        </p:txBody>
      </p:sp>
      <p:pic>
        <p:nvPicPr>
          <p:cNvPr id="2" name="Imagen 1" descr="Interfaz de usuario gráfica&#10;&#10;El contenido generado por IA puede ser incorrecto.">
            <a:extLst>
              <a:ext uri="{FF2B5EF4-FFF2-40B4-BE49-F238E27FC236}">
                <a16:creationId xmlns:a16="http://schemas.microsoft.com/office/drawing/2014/main" id="{D83812EB-D5A1-B037-8010-DE5554A5ED6D}"/>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540640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CAE24-AB17-69E1-FD56-50A9E0562132}"/>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75763CA-6873-1662-657B-EF7B754C7CA0}"/>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ACA3A08D-EA01-67FB-40D7-C30B3E49AECA}"/>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F84D7291-80AE-B97C-E702-7B9880CD9F3C}"/>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ZAP: Características destacadas</a:t>
            </a:r>
          </a:p>
        </p:txBody>
      </p:sp>
      <p:sp>
        <p:nvSpPr>
          <p:cNvPr id="2" name="CuadroTexto 1">
            <a:extLst>
              <a:ext uri="{FF2B5EF4-FFF2-40B4-BE49-F238E27FC236}">
                <a16:creationId xmlns:a16="http://schemas.microsoft.com/office/drawing/2014/main" id="{FBEC8D60-1964-7B8B-92BE-5255995DFAA5}"/>
              </a:ext>
            </a:extLst>
          </p:cNvPr>
          <p:cNvSpPr txBox="1"/>
          <p:nvPr/>
        </p:nvSpPr>
        <p:spPr>
          <a:xfrm>
            <a:off x="1979419" y="1501148"/>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Proxy Interceptador:</a:t>
            </a:r>
            <a:r>
              <a:rPr lang="es-ES" sz="1500">
                <a:latin typeface="Trebuchet MS" panose="020B0603020202020204" pitchFamily="34" charset="0"/>
                <a:ea typeface="+mn-lt"/>
                <a:cs typeface="+mn-lt"/>
              </a:rPr>
              <a:t> ZAP puede interceptar y modificar el tráfico entre el navegador y la aplicación web para identificar puntos débiles.</a:t>
            </a:r>
            <a:endParaRPr lang="es-ES">
              <a:latin typeface="Trebuchet MS" panose="020B0603020202020204" pitchFamily="34" charset="0"/>
              <a:ea typeface="+mn-lt"/>
              <a:cs typeface="+mn-lt"/>
            </a:endParaRPr>
          </a:p>
        </p:txBody>
      </p:sp>
      <p:sp>
        <p:nvSpPr>
          <p:cNvPr id="11" name="CuadroTexto 10">
            <a:extLst>
              <a:ext uri="{FF2B5EF4-FFF2-40B4-BE49-F238E27FC236}">
                <a16:creationId xmlns:a16="http://schemas.microsoft.com/office/drawing/2014/main" id="{A14A2675-356C-0C40-167A-E3348041AAA4}"/>
              </a:ext>
            </a:extLst>
          </p:cNvPr>
          <p:cNvSpPr txBox="1"/>
          <p:nvPr/>
        </p:nvSpPr>
        <p:spPr>
          <a:xfrm>
            <a:off x="1979174" y="3734576"/>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Herramientas de Autenticación:</a:t>
            </a:r>
            <a:r>
              <a:rPr lang="es-ES" sz="1500">
                <a:latin typeface="Trebuchet MS" panose="020B0603020202020204" pitchFamily="34" charset="0"/>
                <a:ea typeface="+mn-lt"/>
                <a:cs typeface="+mn-lt"/>
              </a:rPr>
              <a:t> Soporta múltiples formas de autenticación para probar aplicaciones web que requieren inicio de sesión.</a:t>
            </a:r>
            <a:endParaRPr lang="es-ES">
              <a:latin typeface="Trebuchet MS" panose="020B0603020202020204" pitchFamily="34" charset="0"/>
              <a:ea typeface="+mn-lt"/>
              <a:cs typeface="+mn-lt"/>
            </a:endParaRPr>
          </a:p>
        </p:txBody>
      </p:sp>
      <p:sp>
        <p:nvSpPr>
          <p:cNvPr id="12" name="CuadroTexto 11">
            <a:extLst>
              <a:ext uri="{FF2B5EF4-FFF2-40B4-BE49-F238E27FC236}">
                <a16:creationId xmlns:a16="http://schemas.microsoft.com/office/drawing/2014/main" id="{F5672423-D24A-AA90-42F0-3634813A50E5}"/>
              </a:ext>
            </a:extLst>
          </p:cNvPr>
          <p:cNvSpPr txBox="1"/>
          <p:nvPr/>
        </p:nvSpPr>
        <p:spPr>
          <a:xfrm>
            <a:off x="1979208" y="2602352"/>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Escáner de Vulnerabilidades:</a:t>
            </a:r>
            <a:r>
              <a:rPr lang="es-ES" sz="1500">
                <a:latin typeface="Trebuchet MS" panose="020B0603020202020204" pitchFamily="34" charset="0"/>
                <a:ea typeface="+mn-lt"/>
                <a:cs typeface="+mn-lt"/>
              </a:rPr>
              <a:t> Automatiza la detección de vulnerabilidades como </a:t>
            </a:r>
            <a:r>
              <a:rPr lang="es-ES" sz="1500" err="1">
                <a:latin typeface="Trebuchet MS" panose="020B0603020202020204" pitchFamily="34" charset="0"/>
                <a:ea typeface="+mn-lt"/>
                <a:cs typeface="+mn-lt"/>
              </a:rPr>
              <a:t>cross</a:t>
            </a:r>
            <a:r>
              <a:rPr lang="es-ES" sz="1500">
                <a:latin typeface="Trebuchet MS" panose="020B0603020202020204" pitchFamily="34" charset="0"/>
                <a:ea typeface="+mn-lt"/>
                <a:cs typeface="+mn-lt"/>
              </a:rPr>
              <a:t>-site scripting (XSS) y SQL </a:t>
            </a:r>
            <a:r>
              <a:rPr lang="es-ES" sz="1500" err="1">
                <a:latin typeface="Trebuchet MS" panose="020B0603020202020204" pitchFamily="34" charset="0"/>
                <a:ea typeface="+mn-lt"/>
                <a:cs typeface="+mn-lt"/>
              </a:rPr>
              <a:t>injection</a:t>
            </a:r>
            <a:r>
              <a:rPr lang="es-ES" sz="1500">
                <a:latin typeface="Trebuchet MS" panose="020B0603020202020204" pitchFamily="34" charset="0"/>
                <a:ea typeface="+mn-lt"/>
                <a:cs typeface="+mn-lt"/>
              </a:rPr>
              <a:t>.</a:t>
            </a:r>
            <a:endParaRPr lang="es-ES">
              <a:latin typeface="Trebuchet MS" panose="020B0603020202020204" pitchFamily="34" charset="0"/>
              <a:ea typeface="+mn-lt"/>
              <a:cs typeface="+mn-lt"/>
            </a:endParaRPr>
          </a:p>
        </p:txBody>
      </p:sp>
      <p:sp>
        <p:nvSpPr>
          <p:cNvPr id="13" name="CuadroTexto 12">
            <a:extLst>
              <a:ext uri="{FF2B5EF4-FFF2-40B4-BE49-F238E27FC236}">
                <a16:creationId xmlns:a16="http://schemas.microsoft.com/office/drawing/2014/main" id="{263B428A-2137-10EC-DB04-F1F548935AE6}"/>
              </a:ext>
            </a:extLst>
          </p:cNvPr>
          <p:cNvSpPr txBox="1"/>
          <p:nvPr/>
        </p:nvSpPr>
        <p:spPr>
          <a:xfrm>
            <a:off x="1978974" y="4861627"/>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Extensiones y API:</a:t>
            </a:r>
            <a:r>
              <a:rPr lang="es-ES" sz="1500">
                <a:latin typeface="Trebuchet MS" panose="020B0603020202020204" pitchFamily="34" charset="0"/>
                <a:ea typeface="+mn-lt"/>
                <a:cs typeface="+mn-lt"/>
              </a:rPr>
              <a:t> Extensible con numerosos </a:t>
            </a:r>
            <a:r>
              <a:rPr lang="es-ES" sz="1500" err="1">
                <a:latin typeface="Trebuchet MS" panose="020B0603020202020204" pitchFamily="34" charset="0"/>
                <a:ea typeface="+mn-lt"/>
                <a:cs typeface="+mn-lt"/>
              </a:rPr>
              <a:t>plugins</a:t>
            </a:r>
            <a:r>
              <a:rPr lang="es-ES" sz="1500">
                <a:latin typeface="Trebuchet MS" panose="020B0603020202020204" pitchFamily="34" charset="0"/>
                <a:ea typeface="+mn-lt"/>
                <a:cs typeface="+mn-lt"/>
              </a:rPr>
              <a:t> y una API robusta para personalizar y automatizar pruebas.</a:t>
            </a:r>
            <a:endParaRPr lang="es-ES">
              <a:latin typeface="Trebuchet MS" panose="020B0603020202020204" pitchFamily="34" charset="0"/>
              <a:ea typeface="+mn-lt"/>
              <a:cs typeface="+mn-lt"/>
            </a:endParaRPr>
          </a:p>
        </p:txBody>
      </p:sp>
      <p:pic>
        <p:nvPicPr>
          <p:cNvPr id="14" name="Imagen 13" descr="Icono&#10;&#10;Descripción generada automáticamente">
            <a:extLst>
              <a:ext uri="{FF2B5EF4-FFF2-40B4-BE49-F238E27FC236}">
                <a16:creationId xmlns:a16="http://schemas.microsoft.com/office/drawing/2014/main" id="{C197A0E4-DC5B-8D80-350C-124D097190E5}"/>
              </a:ext>
            </a:extLst>
          </p:cNvPr>
          <p:cNvPicPr>
            <a:picLocks noChangeAspect="1"/>
          </p:cNvPicPr>
          <p:nvPr/>
        </p:nvPicPr>
        <p:blipFill>
          <a:blip r:embed="rId4"/>
          <a:stretch>
            <a:fillRect/>
          </a:stretch>
        </p:blipFill>
        <p:spPr>
          <a:xfrm>
            <a:off x="1025316" y="1417077"/>
            <a:ext cx="694080" cy="637085"/>
          </a:xfrm>
          <a:prstGeom prst="rect">
            <a:avLst/>
          </a:prstGeom>
          <a:ln>
            <a:noFill/>
          </a:ln>
        </p:spPr>
      </p:pic>
      <p:pic>
        <p:nvPicPr>
          <p:cNvPr id="15" name="Imagen 14" descr="Icono&#10;&#10;Descripción generada automáticamente">
            <a:extLst>
              <a:ext uri="{FF2B5EF4-FFF2-40B4-BE49-F238E27FC236}">
                <a16:creationId xmlns:a16="http://schemas.microsoft.com/office/drawing/2014/main" id="{C9AF482E-C84F-C7B7-024B-B9F13001C05E}"/>
              </a:ext>
            </a:extLst>
          </p:cNvPr>
          <p:cNvPicPr>
            <a:picLocks noChangeAspect="1"/>
          </p:cNvPicPr>
          <p:nvPr/>
        </p:nvPicPr>
        <p:blipFill>
          <a:blip r:embed="rId5"/>
          <a:stretch>
            <a:fillRect/>
          </a:stretch>
        </p:blipFill>
        <p:spPr>
          <a:xfrm>
            <a:off x="1090906" y="2478144"/>
            <a:ext cx="624920" cy="629430"/>
          </a:xfrm>
          <a:prstGeom prst="rect">
            <a:avLst/>
          </a:prstGeom>
          <a:ln>
            <a:noFill/>
          </a:ln>
        </p:spPr>
      </p:pic>
      <p:pic>
        <p:nvPicPr>
          <p:cNvPr id="16" name="Imagen 15" descr="Icono&#10;&#10;Descripción generada automáticamente">
            <a:extLst>
              <a:ext uri="{FF2B5EF4-FFF2-40B4-BE49-F238E27FC236}">
                <a16:creationId xmlns:a16="http://schemas.microsoft.com/office/drawing/2014/main" id="{530014C3-86D9-B878-EB43-9B5E0D9AC0E8}"/>
              </a:ext>
            </a:extLst>
          </p:cNvPr>
          <p:cNvPicPr>
            <a:picLocks noChangeAspect="1"/>
          </p:cNvPicPr>
          <p:nvPr/>
        </p:nvPicPr>
        <p:blipFill>
          <a:blip r:embed="rId6"/>
          <a:stretch>
            <a:fillRect/>
          </a:stretch>
        </p:blipFill>
        <p:spPr>
          <a:xfrm>
            <a:off x="1066626" y="3702126"/>
            <a:ext cx="616440" cy="621558"/>
          </a:xfrm>
          <a:prstGeom prst="rect">
            <a:avLst/>
          </a:prstGeom>
          <a:ln>
            <a:noFill/>
          </a:ln>
        </p:spPr>
      </p:pic>
      <p:pic>
        <p:nvPicPr>
          <p:cNvPr id="17" name="Imagen 16" descr="Imagen que contiene Diagrama&#10;&#10;Descripción generada automáticamente">
            <a:extLst>
              <a:ext uri="{FF2B5EF4-FFF2-40B4-BE49-F238E27FC236}">
                <a16:creationId xmlns:a16="http://schemas.microsoft.com/office/drawing/2014/main" id="{D97C1E6B-923D-8816-62BC-4CCDE5998856}"/>
              </a:ext>
            </a:extLst>
          </p:cNvPr>
          <p:cNvPicPr>
            <a:picLocks noChangeAspect="1"/>
          </p:cNvPicPr>
          <p:nvPr/>
        </p:nvPicPr>
        <p:blipFill>
          <a:blip r:embed="rId7"/>
          <a:stretch>
            <a:fillRect/>
          </a:stretch>
        </p:blipFill>
        <p:spPr>
          <a:xfrm>
            <a:off x="994297" y="4741367"/>
            <a:ext cx="818301" cy="792346"/>
          </a:xfrm>
          <a:prstGeom prst="rect">
            <a:avLst/>
          </a:prstGeom>
          <a:ln>
            <a:noFill/>
          </a:ln>
        </p:spPr>
      </p:pic>
      <p:pic>
        <p:nvPicPr>
          <p:cNvPr id="3" name="Imagen 2" descr="Interfaz de usuario gráfica&#10;&#10;El contenido generado por IA puede ser incorrecto.">
            <a:extLst>
              <a:ext uri="{FF2B5EF4-FFF2-40B4-BE49-F238E27FC236}">
                <a16:creationId xmlns:a16="http://schemas.microsoft.com/office/drawing/2014/main" id="{EC7DFFD1-C752-5BA2-598C-792F087C1235}"/>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967478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4931D-A455-A111-A0DA-FD08A8E69BE4}"/>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B3190A8E-80D1-8877-5CD7-BC1E9CF106F8}"/>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E446EA9F-8696-B5EA-A6E8-A86A3404BCF2}"/>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F9E6632E-E31F-2170-2BC3-E3B481BDAD73}"/>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Herramientas SAST</a:t>
            </a:r>
          </a:p>
        </p:txBody>
      </p:sp>
      <p:pic>
        <p:nvPicPr>
          <p:cNvPr id="3" name="Imagen 2">
            <a:extLst>
              <a:ext uri="{FF2B5EF4-FFF2-40B4-BE49-F238E27FC236}">
                <a16:creationId xmlns:a16="http://schemas.microsoft.com/office/drawing/2014/main" id="{8C220CB0-EF26-84D2-43B8-015E5890BC73}"/>
              </a:ext>
            </a:extLst>
          </p:cNvPr>
          <p:cNvPicPr>
            <a:picLocks noChangeAspect="1"/>
          </p:cNvPicPr>
          <p:nvPr/>
        </p:nvPicPr>
        <p:blipFill>
          <a:blip r:embed="rId4"/>
          <a:srcRect t="6523"/>
          <a:stretch>
            <a:fillRect/>
          </a:stretch>
        </p:blipFill>
        <p:spPr>
          <a:xfrm>
            <a:off x="1417909" y="959822"/>
            <a:ext cx="9356181" cy="4943533"/>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8C5CD70B-5109-3F59-7391-91FEF5C8B419}"/>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786527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217F3-8790-740B-D10F-8960A9C4D995}"/>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AD011273-1615-2303-8603-EE3E17A60EC3}"/>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8" name="Imagen 7" descr="Logotipo, nombre de la empresa&#10;&#10;Descripción generada automáticamente">
            <a:extLst>
              <a:ext uri="{FF2B5EF4-FFF2-40B4-BE49-F238E27FC236}">
                <a16:creationId xmlns:a16="http://schemas.microsoft.com/office/drawing/2014/main" id="{67918774-AFDD-85FC-D20E-36227F0128F2}"/>
              </a:ext>
            </a:extLst>
          </p:cNvPr>
          <p:cNvPicPr>
            <a:picLocks noChangeAspect="1"/>
          </p:cNvPicPr>
          <p:nvPr/>
        </p:nvPicPr>
        <p:blipFill>
          <a:blip r:embed="rId3"/>
          <a:stretch>
            <a:fillRect/>
          </a:stretch>
        </p:blipFill>
        <p:spPr>
          <a:xfrm>
            <a:off x="2397441" y="1117178"/>
            <a:ext cx="5600866" cy="2132331"/>
          </a:xfrm>
          <a:prstGeom prst="rect">
            <a:avLst/>
          </a:prstGeom>
          <a:ln>
            <a:noFill/>
          </a:ln>
        </p:spPr>
      </p:pic>
      <p:pic>
        <p:nvPicPr>
          <p:cNvPr id="20" name="Imagen 19" descr="Texto&#10;&#10;El contenido generado por IA puede ser incorrecto.">
            <a:extLst>
              <a:ext uri="{FF2B5EF4-FFF2-40B4-BE49-F238E27FC236}">
                <a16:creationId xmlns:a16="http://schemas.microsoft.com/office/drawing/2014/main" id="{F85C1C80-CEDB-DB54-21EE-605E60AA0947}"/>
              </a:ext>
            </a:extLst>
          </p:cNvPr>
          <p:cNvPicPr>
            <a:picLocks noChangeAspect="1"/>
          </p:cNvPicPr>
          <p:nvPr/>
        </p:nvPicPr>
        <p:blipFill>
          <a:blip r:embed="rId4">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B05C8A1E-C21E-AF78-6F89-CFD9CD368DD4}"/>
              </a:ext>
            </a:extLst>
          </p:cNvPr>
          <p:cNvSpPr txBox="1"/>
          <p:nvPr/>
        </p:nvSpPr>
        <p:spPr>
          <a:xfrm>
            <a:off x="429768" y="251936"/>
            <a:ext cx="9884664"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SonarQube: Optimizando la calidad y seguridad en .NET</a:t>
            </a:r>
          </a:p>
        </p:txBody>
      </p:sp>
      <p:sp>
        <p:nvSpPr>
          <p:cNvPr id="2" name="CuadroTexto 1">
            <a:extLst>
              <a:ext uri="{FF2B5EF4-FFF2-40B4-BE49-F238E27FC236}">
                <a16:creationId xmlns:a16="http://schemas.microsoft.com/office/drawing/2014/main" id="{F89C0FD6-8167-221F-44B2-6929EE85E078}"/>
              </a:ext>
            </a:extLst>
          </p:cNvPr>
          <p:cNvSpPr txBox="1"/>
          <p:nvPr/>
        </p:nvSpPr>
        <p:spPr>
          <a:xfrm>
            <a:off x="1820017" y="3249509"/>
            <a:ext cx="752290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ea typeface="+mn-lt"/>
                <a:cs typeface="+mn-lt"/>
              </a:rPr>
              <a:t>SonarQube es una plataforma que evalúa automáticamente el código fuente en busca de bugs, vulnerabilidades, y malas prácticas de programación. </a:t>
            </a:r>
            <a:endParaRPr lang="es-ES" sz="1500">
              <a:latin typeface="Trebuchet MS" panose="020B0603020202020204" pitchFamily="34" charset="0"/>
              <a:cs typeface="Calibri"/>
            </a:endParaRPr>
          </a:p>
        </p:txBody>
      </p:sp>
      <p:sp>
        <p:nvSpPr>
          <p:cNvPr id="4" name="CuadroTexto 3">
            <a:extLst>
              <a:ext uri="{FF2B5EF4-FFF2-40B4-BE49-F238E27FC236}">
                <a16:creationId xmlns:a16="http://schemas.microsoft.com/office/drawing/2014/main" id="{91881616-23A7-CC03-4B59-FBF5A8079622}"/>
              </a:ext>
            </a:extLst>
          </p:cNvPr>
          <p:cNvSpPr txBox="1"/>
          <p:nvPr/>
        </p:nvSpPr>
        <p:spPr>
          <a:xfrm>
            <a:off x="1890205" y="4451782"/>
            <a:ext cx="8357873"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solidFill>
                  <a:srgbClr val="595959"/>
                </a:solidFill>
                <a:latin typeface="Trebuchet MS" panose="020B0603020202020204" pitchFamily="34" charset="0"/>
              </a:rPr>
              <a:t>Característica </a:t>
            </a:r>
            <a:r>
              <a:rPr lang="es-ES" sz="1500" b="1" baseline="0">
                <a:solidFill>
                  <a:srgbClr val="595959"/>
                </a:solidFill>
                <a:latin typeface="Trebuchet MS" panose="020B0603020202020204" pitchFamily="34" charset="0"/>
              </a:rPr>
              <a:t>clave:</a:t>
            </a:r>
            <a:r>
              <a:rPr lang="es-ES" sz="1500" b="1">
                <a:solidFill>
                  <a:srgbClr val="595959"/>
                </a:solidFill>
                <a:latin typeface="Trebuchet MS" panose="020B0603020202020204" pitchFamily="34" charset="0"/>
              </a:rPr>
              <a:t> </a:t>
            </a:r>
            <a:endParaRPr lang="es-ES">
              <a:solidFill>
                <a:srgbClr val="595959"/>
              </a:solidFill>
              <a:latin typeface="Trebuchet MS" panose="020B0603020202020204" pitchFamily="34" charset="0"/>
              <a:cs typeface="Calibri"/>
            </a:endParaRPr>
          </a:p>
          <a:p>
            <a:r>
              <a:rPr lang="es-ES" sz="1500">
                <a:solidFill>
                  <a:srgbClr val="595959"/>
                </a:solidFill>
                <a:latin typeface="Trebuchet MS" panose="020B0603020202020204" pitchFamily="34" charset="0"/>
              </a:rPr>
              <a:t>Ofrece</a:t>
            </a:r>
            <a:r>
              <a:rPr lang="es-ES" sz="1500" baseline="0">
                <a:solidFill>
                  <a:srgbClr val="595959"/>
                </a:solidFill>
                <a:latin typeface="Trebuchet MS" panose="020B0603020202020204" pitchFamily="34" charset="0"/>
              </a:rPr>
              <a:t> un análisis multidimensional del código, lo que implica no solo una revisión de seguridad, sino también un enfoque en la mantenibilidad y eficiencia del código. Esto se traduce en aplicaciones más seguras, limpias y optimizadas, fundamentales en el desarrollo moderno.</a:t>
            </a:r>
            <a:r>
              <a:rPr lang="es-ES" sz="1500">
                <a:latin typeface="Trebuchet MS" panose="020B0603020202020204" pitchFamily="34" charset="0"/>
                <a:ea typeface="Century Gothic"/>
                <a:cs typeface="Century Gothic"/>
              </a:rPr>
              <a:t>​</a:t>
            </a:r>
            <a:endParaRPr lang="es-ES">
              <a:latin typeface="Trebuchet MS" panose="020B0603020202020204" pitchFamily="34" charset="0"/>
              <a:cs typeface="Calibri"/>
            </a:endParaRPr>
          </a:p>
        </p:txBody>
      </p:sp>
      <p:pic>
        <p:nvPicPr>
          <p:cNvPr id="6" name="Gráfico 6">
            <a:extLst>
              <a:ext uri="{FF2B5EF4-FFF2-40B4-BE49-F238E27FC236}">
                <a16:creationId xmlns:a16="http://schemas.microsoft.com/office/drawing/2014/main" id="{6ED4290E-EFDC-7DB2-C989-5563CA68B0F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6560" y="4639044"/>
            <a:ext cx="1382792" cy="990080"/>
          </a:xfrm>
          <a:prstGeom prst="rect">
            <a:avLst/>
          </a:prstGeom>
        </p:spPr>
      </p:pic>
      <p:pic>
        <p:nvPicPr>
          <p:cNvPr id="7" name="Imagen 6" descr="Icono&#10;&#10;Descripción generada automáticamente">
            <a:extLst>
              <a:ext uri="{FF2B5EF4-FFF2-40B4-BE49-F238E27FC236}">
                <a16:creationId xmlns:a16="http://schemas.microsoft.com/office/drawing/2014/main" id="{48262809-AFD6-8CBD-1CDB-38A0AD20B853}"/>
              </a:ext>
            </a:extLst>
          </p:cNvPr>
          <p:cNvPicPr>
            <a:picLocks noChangeAspect="1"/>
          </p:cNvPicPr>
          <p:nvPr/>
        </p:nvPicPr>
        <p:blipFill>
          <a:blip r:embed="rId7"/>
          <a:stretch>
            <a:fillRect/>
          </a:stretch>
        </p:blipFill>
        <p:spPr>
          <a:xfrm>
            <a:off x="497934" y="3042335"/>
            <a:ext cx="968403" cy="973485"/>
          </a:xfrm>
          <a:prstGeom prst="rect">
            <a:avLst/>
          </a:prstGeom>
          <a:ln>
            <a:noFill/>
          </a:ln>
        </p:spPr>
      </p:pic>
      <p:pic>
        <p:nvPicPr>
          <p:cNvPr id="3" name="Imagen 2" descr="Interfaz de usuario gráfica&#10;&#10;El contenido generado por IA puede ser incorrecto.">
            <a:extLst>
              <a:ext uri="{FF2B5EF4-FFF2-40B4-BE49-F238E27FC236}">
                <a16:creationId xmlns:a16="http://schemas.microsoft.com/office/drawing/2014/main" id="{EBBC32A1-5547-F0E4-5D7F-9C3D4A923E1F}"/>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064924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5A0CD-CCBD-65B6-D2B2-BBC02438DD19}"/>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41A5A644-8CD4-8EC5-6290-99B4C50FB042}"/>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03F31C39-0763-D8BD-5DEC-E23C1FE90D38}"/>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85F7FF53-B9CB-DBBC-F86F-011572944EBD}"/>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SonarQube: Características destacadas</a:t>
            </a:r>
          </a:p>
        </p:txBody>
      </p:sp>
      <p:pic>
        <p:nvPicPr>
          <p:cNvPr id="3" name="Imagen 2" descr="Icono&#10;&#10;Descripción generada automáticamente">
            <a:extLst>
              <a:ext uri="{FF2B5EF4-FFF2-40B4-BE49-F238E27FC236}">
                <a16:creationId xmlns:a16="http://schemas.microsoft.com/office/drawing/2014/main" id="{C881B2CE-9695-13C8-0272-0AE857A2AB7F}"/>
              </a:ext>
            </a:extLst>
          </p:cNvPr>
          <p:cNvPicPr>
            <a:picLocks noChangeAspect="1"/>
          </p:cNvPicPr>
          <p:nvPr/>
        </p:nvPicPr>
        <p:blipFill>
          <a:blip r:embed="rId4"/>
          <a:stretch>
            <a:fillRect/>
          </a:stretch>
        </p:blipFill>
        <p:spPr>
          <a:xfrm>
            <a:off x="802683" y="1189461"/>
            <a:ext cx="1035802" cy="687294"/>
          </a:xfrm>
          <a:prstGeom prst="rect">
            <a:avLst/>
          </a:prstGeom>
          <a:ln>
            <a:noFill/>
          </a:ln>
        </p:spPr>
      </p:pic>
      <p:pic>
        <p:nvPicPr>
          <p:cNvPr id="9" name="Imagen 8" descr="Icono&#10;&#10;Descripción generada automáticamente">
            <a:extLst>
              <a:ext uri="{FF2B5EF4-FFF2-40B4-BE49-F238E27FC236}">
                <a16:creationId xmlns:a16="http://schemas.microsoft.com/office/drawing/2014/main" id="{ED84A5BB-4FF0-DA83-95B3-5C5508F1CC3D}"/>
              </a:ext>
            </a:extLst>
          </p:cNvPr>
          <p:cNvPicPr>
            <a:picLocks noChangeAspect="1"/>
          </p:cNvPicPr>
          <p:nvPr/>
        </p:nvPicPr>
        <p:blipFill>
          <a:blip r:embed="rId5"/>
          <a:stretch>
            <a:fillRect/>
          </a:stretch>
        </p:blipFill>
        <p:spPr>
          <a:xfrm>
            <a:off x="779628" y="3547931"/>
            <a:ext cx="1032514" cy="487745"/>
          </a:xfrm>
          <a:prstGeom prst="rect">
            <a:avLst/>
          </a:prstGeom>
        </p:spPr>
      </p:pic>
      <p:pic>
        <p:nvPicPr>
          <p:cNvPr id="11" name="Imagen 10" descr="Icono&#10;&#10;Descripción generada automáticamente">
            <a:extLst>
              <a:ext uri="{FF2B5EF4-FFF2-40B4-BE49-F238E27FC236}">
                <a16:creationId xmlns:a16="http://schemas.microsoft.com/office/drawing/2014/main" id="{919B3064-EF83-1EB6-8442-E69C8E766054}"/>
              </a:ext>
            </a:extLst>
          </p:cNvPr>
          <p:cNvPicPr>
            <a:picLocks noChangeAspect="1"/>
          </p:cNvPicPr>
          <p:nvPr/>
        </p:nvPicPr>
        <p:blipFill>
          <a:blip r:embed="rId6"/>
          <a:stretch>
            <a:fillRect/>
          </a:stretch>
        </p:blipFill>
        <p:spPr>
          <a:xfrm>
            <a:off x="802989" y="4530866"/>
            <a:ext cx="958049" cy="957958"/>
          </a:xfrm>
          <a:prstGeom prst="rect">
            <a:avLst/>
          </a:prstGeom>
          <a:ln>
            <a:noFill/>
          </a:ln>
        </p:spPr>
      </p:pic>
      <p:pic>
        <p:nvPicPr>
          <p:cNvPr id="12" name="Imagen 11" descr="Icono&#10;&#10;Descripción generada automáticamente">
            <a:extLst>
              <a:ext uri="{FF2B5EF4-FFF2-40B4-BE49-F238E27FC236}">
                <a16:creationId xmlns:a16="http://schemas.microsoft.com/office/drawing/2014/main" id="{15E05467-81E2-E59E-7369-2827CFE9CDF6}"/>
              </a:ext>
            </a:extLst>
          </p:cNvPr>
          <p:cNvPicPr>
            <a:picLocks noChangeAspect="1"/>
          </p:cNvPicPr>
          <p:nvPr/>
        </p:nvPicPr>
        <p:blipFill>
          <a:blip r:embed="rId7"/>
          <a:stretch>
            <a:fillRect/>
          </a:stretch>
        </p:blipFill>
        <p:spPr>
          <a:xfrm>
            <a:off x="780219" y="2389174"/>
            <a:ext cx="930468" cy="510889"/>
          </a:xfrm>
          <a:prstGeom prst="rect">
            <a:avLst/>
          </a:prstGeom>
          <a:ln>
            <a:noFill/>
          </a:ln>
        </p:spPr>
      </p:pic>
      <p:sp>
        <p:nvSpPr>
          <p:cNvPr id="13" name="CuadroTexto 12">
            <a:extLst>
              <a:ext uri="{FF2B5EF4-FFF2-40B4-BE49-F238E27FC236}">
                <a16:creationId xmlns:a16="http://schemas.microsoft.com/office/drawing/2014/main" id="{8A571E41-E56B-437A-D16A-ED20C1B616EF}"/>
              </a:ext>
            </a:extLst>
          </p:cNvPr>
          <p:cNvSpPr txBox="1"/>
          <p:nvPr/>
        </p:nvSpPr>
        <p:spPr>
          <a:xfrm>
            <a:off x="1917373" y="1083847"/>
            <a:ext cx="712541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Análisis estático: </a:t>
            </a:r>
            <a:r>
              <a:rPr lang="es-ES" sz="1500">
                <a:latin typeface="Trebuchet MS" panose="020B0603020202020204" pitchFamily="34" charset="0"/>
                <a:ea typeface="+mn-lt"/>
                <a:cs typeface="+mn-lt"/>
              </a:rPr>
              <a:t>realiza un escaneo del código fuente, identificando patrones que puedan resultar en errores o vulnerabilidades sin necesidad de ejecutar el programa.</a:t>
            </a:r>
            <a:endParaRPr lang="es-ES" sz="1500">
              <a:latin typeface="Trebuchet MS" panose="020B0603020202020204" pitchFamily="34" charset="0"/>
            </a:endParaRPr>
          </a:p>
        </p:txBody>
      </p:sp>
      <p:sp>
        <p:nvSpPr>
          <p:cNvPr id="14" name="CuadroTexto 13">
            <a:extLst>
              <a:ext uri="{FF2B5EF4-FFF2-40B4-BE49-F238E27FC236}">
                <a16:creationId xmlns:a16="http://schemas.microsoft.com/office/drawing/2014/main" id="{162DA4BD-E9F0-61BE-A293-FAC3BE2CBB49}"/>
              </a:ext>
            </a:extLst>
          </p:cNvPr>
          <p:cNvSpPr txBox="1"/>
          <p:nvPr/>
        </p:nvSpPr>
        <p:spPr>
          <a:xfrm>
            <a:off x="1917128" y="3487884"/>
            <a:ext cx="712541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mn-lt"/>
                <a:cs typeface="+mn-lt"/>
              </a:rPr>
              <a:t>SonarQube se integra de manera fluida con </a:t>
            </a:r>
            <a:r>
              <a:rPr lang="es-ES" sz="1500" b="1" dirty="0">
                <a:latin typeface="Trebuchet MS" panose="020B0603020202020204" pitchFamily="34" charset="0"/>
                <a:ea typeface="+mn-lt"/>
                <a:cs typeface="+mn-lt"/>
              </a:rPr>
              <a:t>herramientas de CI/CD</a:t>
            </a:r>
            <a:r>
              <a:rPr lang="es-ES" sz="1500" dirty="0">
                <a:latin typeface="Trebuchet MS" panose="020B0603020202020204" pitchFamily="34" charset="0"/>
                <a:ea typeface="+mn-lt"/>
                <a:cs typeface="+mn-lt"/>
              </a:rPr>
              <a:t> como Azure DevOps y Jenkins, permitiendo una evaluación continua del código en el ciclo de desarrollo.</a:t>
            </a:r>
            <a:endParaRPr lang="es-ES" dirty="0">
              <a:latin typeface="Trebuchet MS" panose="020B0603020202020204" pitchFamily="34" charset="0"/>
              <a:ea typeface="+mn-lt"/>
              <a:cs typeface="+mn-lt"/>
            </a:endParaRPr>
          </a:p>
        </p:txBody>
      </p:sp>
      <p:sp>
        <p:nvSpPr>
          <p:cNvPr id="15" name="CuadroTexto 14">
            <a:extLst>
              <a:ext uri="{FF2B5EF4-FFF2-40B4-BE49-F238E27FC236}">
                <a16:creationId xmlns:a16="http://schemas.microsoft.com/office/drawing/2014/main" id="{1A65986D-62F5-458E-2F39-0E7E6BD4FEC8}"/>
              </a:ext>
            </a:extLst>
          </p:cNvPr>
          <p:cNvSpPr txBox="1"/>
          <p:nvPr/>
        </p:nvSpPr>
        <p:spPr>
          <a:xfrm>
            <a:off x="1917162" y="2252261"/>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Detección de bugs y vulnerabilidades:</a:t>
            </a:r>
            <a:r>
              <a:rPr lang="es-ES" sz="1500">
                <a:latin typeface="Trebuchet MS" panose="020B0603020202020204" pitchFamily="34" charset="0"/>
                <a:ea typeface="+mn-lt"/>
                <a:cs typeface="+mn-lt"/>
              </a:rPr>
              <a:t> La plataforma detecta problemas de seguridad y bugs, ofreciendo recomendaciones específicas para su corrección.</a:t>
            </a:r>
            <a:endParaRPr lang="es-ES">
              <a:latin typeface="Trebuchet MS" panose="020B0603020202020204" pitchFamily="34" charset="0"/>
              <a:ea typeface="+mn-lt"/>
              <a:cs typeface="+mn-lt"/>
            </a:endParaRPr>
          </a:p>
        </p:txBody>
      </p:sp>
      <p:sp>
        <p:nvSpPr>
          <p:cNvPr id="16" name="CuadroTexto 15">
            <a:extLst>
              <a:ext uri="{FF2B5EF4-FFF2-40B4-BE49-F238E27FC236}">
                <a16:creationId xmlns:a16="http://schemas.microsoft.com/office/drawing/2014/main" id="{ECCA6860-CB4A-763D-03C2-95530859667A}"/>
              </a:ext>
            </a:extLst>
          </p:cNvPr>
          <p:cNvSpPr txBox="1"/>
          <p:nvPr/>
        </p:nvSpPr>
        <p:spPr>
          <a:xfrm>
            <a:off x="1916928" y="4702825"/>
            <a:ext cx="712541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mn-lt"/>
                <a:cs typeface="+mn-lt"/>
              </a:rPr>
              <a:t>"</a:t>
            </a:r>
            <a:r>
              <a:rPr lang="es-ES" sz="1500" dirty="0" err="1">
                <a:latin typeface="Trebuchet MS" panose="020B0603020202020204" pitchFamily="34" charset="0"/>
                <a:ea typeface="+mn-lt"/>
                <a:cs typeface="+mn-lt"/>
              </a:rPr>
              <a:t>Code</a:t>
            </a:r>
            <a:r>
              <a:rPr lang="es-ES" sz="1500" dirty="0">
                <a:latin typeface="Trebuchet MS" panose="020B0603020202020204" pitchFamily="34" charset="0"/>
                <a:ea typeface="+mn-lt"/>
                <a:cs typeface="+mn-lt"/>
              </a:rPr>
              <a:t> </a:t>
            </a:r>
            <a:r>
              <a:rPr lang="es-ES" sz="1500" dirty="0" err="1">
                <a:latin typeface="Trebuchet MS" panose="020B0603020202020204" pitchFamily="34" charset="0"/>
                <a:ea typeface="+mn-lt"/>
                <a:cs typeface="+mn-lt"/>
              </a:rPr>
              <a:t>Smells</a:t>
            </a:r>
            <a:r>
              <a:rPr lang="es-ES" sz="1500" dirty="0">
                <a:latin typeface="Trebuchet MS" panose="020B0603020202020204" pitchFamily="34" charset="0"/>
                <a:ea typeface="+mn-lt"/>
                <a:cs typeface="+mn-lt"/>
              </a:rPr>
              <a:t>" y su impacto:</a:t>
            </a:r>
            <a:r>
              <a:rPr lang="es-ES" sz="1500" b="1" dirty="0">
                <a:latin typeface="Trebuchet MS" panose="020B0603020202020204" pitchFamily="34" charset="0"/>
                <a:ea typeface="+mn-lt"/>
                <a:cs typeface="+mn-lt"/>
              </a:rPr>
              <a:t> Los "</a:t>
            </a:r>
            <a:r>
              <a:rPr lang="es-ES" sz="1500" b="1" dirty="0" err="1">
                <a:latin typeface="Trebuchet MS" panose="020B0603020202020204" pitchFamily="34" charset="0"/>
                <a:ea typeface="+mn-lt"/>
                <a:cs typeface="+mn-lt"/>
              </a:rPr>
              <a:t>code</a:t>
            </a:r>
            <a:r>
              <a:rPr lang="es-ES" sz="1500" b="1" dirty="0">
                <a:latin typeface="Trebuchet MS" panose="020B0603020202020204" pitchFamily="34" charset="0"/>
                <a:ea typeface="+mn-lt"/>
                <a:cs typeface="+mn-lt"/>
              </a:rPr>
              <a:t> </a:t>
            </a:r>
            <a:r>
              <a:rPr lang="es-ES" sz="1500" b="1" dirty="0" err="1">
                <a:latin typeface="Trebuchet MS" panose="020B0603020202020204" pitchFamily="34" charset="0"/>
                <a:ea typeface="+mn-lt"/>
                <a:cs typeface="+mn-lt"/>
              </a:rPr>
              <a:t>smells</a:t>
            </a:r>
            <a:r>
              <a:rPr lang="es-ES" sz="1500" b="1" dirty="0">
                <a:latin typeface="Trebuchet MS" panose="020B0603020202020204" pitchFamily="34" charset="0"/>
                <a:ea typeface="+mn-lt"/>
                <a:cs typeface="+mn-lt"/>
              </a:rPr>
              <a:t>" </a:t>
            </a:r>
            <a:r>
              <a:rPr lang="es-ES" sz="1500" dirty="0">
                <a:latin typeface="Trebuchet MS" panose="020B0603020202020204" pitchFamily="34" charset="0"/>
                <a:ea typeface="+mn-lt"/>
                <a:cs typeface="+mn-lt"/>
              </a:rPr>
              <a:t>son patrones en el código que, aunque no incorrectos, </a:t>
            </a:r>
            <a:r>
              <a:rPr lang="es-ES" sz="1500" b="1" dirty="0">
                <a:latin typeface="Trebuchet MS" panose="020B0603020202020204" pitchFamily="34" charset="0"/>
                <a:ea typeface="+mn-lt"/>
                <a:cs typeface="+mn-lt"/>
              </a:rPr>
              <a:t>sugieren deficiencias</a:t>
            </a:r>
            <a:r>
              <a:rPr lang="es-ES" sz="1500" dirty="0">
                <a:latin typeface="Trebuchet MS" panose="020B0603020202020204" pitchFamily="34" charset="0"/>
                <a:ea typeface="+mn-lt"/>
                <a:cs typeface="+mn-lt"/>
              </a:rPr>
              <a:t> en la calidad del código que pueden afectar su mantenibilidad a largo plazo.</a:t>
            </a:r>
            <a:endParaRPr lang="es-ES" dirty="0">
              <a:latin typeface="Trebuchet MS" panose="020B0603020202020204" pitchFamily="34" charset="0"/>
              <a:ea typeface="+mn-lt"/>
              <a:cs typeface="+mn-lt"/>
            </a:endParaRPr>
          </a:p>
        </p:txBody>
      </p:sp>
      <p:pic>
        <p:nvPicPr>
          <p:cNvPr id="2" name="Imagen 1" descr="Interfaz de usuario gráfica&#10;&#10;El contenido generado por IA puede ser incorrecto.">
            <a:extLst>
              <a:ext uri="{FF2B5EF4-FFF2-40B4-BE49-F238E27FC236}">
                <a16:creationId xmlns:a16="http://schemas.microsoft.com/office/drawing/2014/main" id="{9F213A19-EA8C-A7EB-5813-3B2F00C0E71A}"/>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075321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2B172-025E-3643-1E4A-AE6D587E47AC}"/>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8588DE0C-C8D4-0747-7549-CA208FD917C8}"/>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BBB4E596-0F78-02FA-F5A0-727865F84FB8}"/>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D019AC99-6617-F604-1A98-DAE48283A187}"/>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SonarQube: Instalación</a:t>
            </a:r>
          </a:p>
        </p:txBody>
      </p:sp>
      <p:sp>
        <p:nvSpPr>
          <p:cNvPr id="2" name="CuadroTexto 1">
            <a:extLst>
              <a:ext uri="{FF2B5EF4-FFF2-40B4-BE49-F238E27FC236}">
                <a16:creationId xmlns:a16="http://schemas.microsoft.com/office/drawing/2014/main" id="{0BC9AA3C-BE01-5431-1F5A-77F21DED07C0}"/>
              </a:ext>
            </a:extLst>
          </p:cNvPr>
          <p:cNvSpPr txBox="1"/>
          <p:nvPr/>
        </p:nvSpPr>
        <p:spPr>
          <a:xfrm>
            <a:off x="1865668" y="2257821"/>
            <a:ext cx="830552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Trebuchet MS" panose="020B0603020202020204" pitchFamily="34" charset="0"/>
                <a:ea typeface="+mn-lt"/>
                <a:cs typeface="+mn-lt"/>
              </a:rPr>
              <a:t>Descarga de: </a:t>
            </a:r>
            <a:endParaRPr lang="es-ES" dirty="0">
              <a:latin typeface="Trebuchet MS" panose="020B0603020202020204" pitchFamily="34" charset="0"/>
              <a:ea typeface="+mn-lt"/>
              <a:cs typeface="+mn-lt"/>
            </a:endParaRPr>
          </a:p>
          <a:p>
            <a:r>
              <a:rPr lang="es-ES" sz="1500" dirty="0">
                <a:latin typeface="Trebuchet MS" panose="020B0603020202020204" pitchFamily="34" charset="0"/>
                <a:ea typeface="+mn-lt"/>
                <a:cs typeface="+mn-lt"/>
              </a:rPr>
              <a:t>https://www.sonarsource.com/open-source-editions/sonarqube-community-edition/</a:t>
            </a:r>
            <a:endParaRPr lang="es-ES" dirty="0">
              <a:latin typeface="Trebuchet MS" panose="020B0603020202020204" pitchFamily="34" charset="0"/>
            </a:endParaRPr>
          </a:p>
        </p:txBody>
      </p:sp>
      <p:sp>
        <p:nvSpPr>
          <p:cNvPr id="4" name="CuadroTexto 3">
            <a:extLst>
              <a:ext uri="{FF2B5EF4-FFF2-40B4-BE49-F238E27FC236}">
                <a16:creationId xmlns:a16="http://schemas.microsoft.com/office/drawing/2014/main" id="{484A5C8A-E4DE-75C4-1C24-3C0F4E6116AD}"/>
              </a:ext>
            </a:extLst>
          </p:cNvPr>
          <p:cNvSpPr txBox="1"/>
          <p:nvPr/>
        </p:nvSpPr>
        <p:spPr>
          <a:xfrm>
            <a:off x="1911958" y="1006690"/>
            <a:ext cx="712541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Trebuchet MS" panose="020B0603020202020204" pitchFamily="34" charset="0"/>
                <a:ea typeface="+mn-lt"/>
                <a:cs typeface="+mn-lt"/>
              </a:rPr>
              <a:t>Las dependencias</a:t>
            </a:r>
            <a:r>
              <a:rPr lang="es-ES" sz="1500" dirty="0">
                <a:latin typeface="Trebuchet MS" panose="020B0603020202020204" pitchFamily="34" charset="0"/>
                <a:ea typeface="+mn-lt"/>
                <a:cs typeface="+mn-lt"/>
              </a:rPr>
              <a:t> de SonarQube son Java 17 y como BBDD default H2 , aunque para producción se recomienda una de uso más extendido como MySQL, PostgreSQL, Microsoft SQL...</a:t>
            </a:r>
          </a:p>
          <a:p>
            <a:r>
              <a:rPr lang="es-ES" sz="1500" dirty="0">
                <a:latin typeface="Trebuchet MS" panose="020B0603020202020204" pitchFamily="34" charset="0"/>
                <a:ea typeface="+mn-lt"/>
                <a:cs typeface="+mn-lt"/>
                <a:hlinkClick r:id="rId4"/>
              </a:rPr>
              <a:t>https://www.h2database.com/html/quickstart.html</a:t>
            </a:r>
            <a:endParaRPr lang="es-ES" dirty="0">
              <a:latin typeface="Trebuchet MS" panose="020B0603020202020204" pitchFamily="34" charset="0"/>
            </a:endParaRPr>
          </a:p>
        </p:txBody>
      </p:sp>
      <p:sp>
        <p:nvSpPr>
          <p:cNvPr id="6" name="CuadroTexto 5">
            <a:extLst>
              <a:ext uri="{FF2B5EF4-FFF2-40B4-BE49-F238E27FC236}">
                <a16:creationId xmlns:a16="http://schemas.microsoft.com/office/drawing/2014/main" id="{C7119D84-90BE-21F2-2286-49FFCF3579DC}"/>
              </a:ext>
            </a:extLst>
          </p:cNvPr>
          <p:cNvSpPr txBox="1"/>
          <p:nvPr/>
        </p:nvSpPr>
        <p:spPr>
          <a:xfrm>
            <a:off x="1927503" y="3302155"/>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Extrae</a:t>
            </a:r>
            <a:r>
              <a:rPr lang="es-ES" sz="1500">
                <a:latin typeface="Trebuchet MS" panose="020B0603020202020204" pitchFamily="34" charset="0"/>
                <a:ea typeface="+mn-lt"/>
                <a:cs typeface="+mn-lt"/>
              </a:rPr>
              <a:t> el archivo descargado. Dentro del directorio </a:t>
            </a:r>
            <a:r>
              <a:rPr lang="es-ES" sz="1500" err="1">
                <a:latin typeface="Trebuchet MS" panose="020B0603020202020204" pitchFamily="34" charset="0"/>
                <a:ea typeface="+mn-lt"/>
                <a:cs typeface="+mn-lt"/>
              </a:rPr>
              <a:t>extraido</a:t>
            </a:r>
            <a:r>
              <a:rPr lang="es-ES" sz="1500">
                <a:latin typeface="Trebuchet MS" panose="020B0603020202020204" pitchFamily="34" charset="0"/>
                <a:ea typeface="+mn-lt"/>
                <a:cs typeface="+mn-lt"/>
              </a:rPr>
              <a:t>, navega a su directorio </a:t>
            </a:r>
            <a:r>
              <a:rPr lang="es-ES" sz="1500" err="1">
                <a:latin typeface="Trebuchet MS" panose="020B0603020202020204" pitchFamily="34" charset="0"/>
                <a:ea typeface="+mn-lt"/>
                <a:cs typeface="+mn-lt"/>
              </a:rPr>
              <a:t>bin</a:t>
            </a:r>
            <a:r>
              <a:rPr lang="es-ES" sz="1500">
                <a:latin typeface="Trebuchet MS" panose="020B0603020202020204" pitchFamily="34" charset="0"/>
                <a:ea typeface="+mn-lt"/>
                <a:cs typeface="+mn-lt"/>
              </a:rPr>
              <a:t>, elige tu SO  y arquitectura, y ejecuta StartSonar.bat</a:t>
            </a:r>
            <a:endParaRPr lang="es-ES">
              <a:latin typeface="Trebuchet MS" panose="020B0603020202020204" pitchFamily="34" charset="0"/>
              <a:ea typeface="Calibri"/>
              <a:cs typeface="Calibri"/>
            </a:endParaRPr>
          </a:p>
        </p:txBody>
      </p:sp>
      <p:pic>
        <p:nvPicPr>
          <p:cNvPr id="7" name="Imagen 6" descr="Icono&#10;&#10;Descripción generada automáticamente">
            <a:extLst>
              <a:ext uri="{FF2B5EF4-FFF2-40B4-BE49-F238E27FC236}">
                <a16:creationId xmlns:a16="http://schemas.microsoft.com/office/drawing/2014/main" id="{E73E8957-E664-5308-FD8C-B39B2C2C76EF}"/>
              </a:ext>
            </a:extLst>
          </p:cNvPr>
          <p:cNvPicPr>
            <a:picLocks noChangeAspect="1"/>
          </p:cNvPicPr>
          <p:nvPr/>
        </p:nvPicPr>
        <p:blipFill>
          <a:blip r:embed="rId5"/>
          <a:stretch>
            <a:fillRect/>
          </a:stretch>
        </p:blipFill>
        <p:spPr>
          <a:xfrm>
            <a:off x="999461" y="2194408"/>
            <a:ext cx="678552" cy="683662"/>
          </a:xfrm>
          <a:prstGeom prst="rect">
            <a:avLst/>
          </a:prstGeom>
        </p:spPr>
      </p:pic>
      <p:pic>
        <p:nvPicPr>
          <p:cNvPr id="8" name="Imagen 7" descr="Imagen que contiene Icono&#10;&#10;Descripción generada automáticamente">
            <a:extLst>
              <a:ext uri="{FF2B5EF4-FFF2-40B4-BE49-F238E27FC236}">
                <a16:creationId xmlns:a16="http://schemas.microsoft.com/office/drawing/2014/main" id="{ADC5D9D5-CA5A-BF86-1A3E-01EF2109605D}"/>
              </a:ext>
            </a:extLst>
          </p:cNvPr>
          <p:cNvPicPr>
            <a:picLocks noChangeAspect="1"/>
          </p:cNvPicPr>
          <p:nvPr/>
        </p:nvPicPr>
        <p:blipFill>
          <a:blip r:embed="rId6"/>
          <a:stretch>
            <a:fillRect/>
          </a:stretch>
        </p:blipFill>
        <p:spPr>
          <a:xfrm>
            <a:off x="994330" y="3207690"/>
            <a:ext cx="678553" cy="735418"/>
          </a:xfrm>
          <a:prstGeom prst="rect">
            <a:avLst/>
          </a:prstGeom>
          <a:ln>
            <a:noFill/>
          </a:ln>
        </p:spPr>
      </p:pic>
      <p:pic>
        <p:nvPicPr>
          <p:cNvPr id="17" name="Imagen 16" descr="Icono&#10;&#10;Descripción generada automáticamente">
            <a:extLst>
              <a:ext uri="{FF2B5EF4-FFF2-40B4-BE49-F238E27FC236}">
                <a16:creationId xmlns:a16="http://schemas.microsoft.com/office/drawing/2014/main" id="{2CD35E56-8EDF-D133-7868-D80C586285EB}"/>
              </a:ext>
            </a:extLst>
          </p:cNvPr>
          <p:cNvPicPr>
            <a:picLocks noChangeAspect="1"/>
          </p:cNvPicPr>
          <p:nvPr/>
        </p:nvPicPr>
        <p:blipFill>
          <a:blip r:embed="rId7"/>
          <a:stretch>
            <a:fillRect/>
          </a:stretch>
        </p:blipFill>
        <p:spPr>
          <a:xfrm>
            <a:off x="999458" y="1139730"/>
            <a:ext cx="740662" cy="750944"/>
          </a:xfrm>
          <a:prstGeom prst="rect">
            <a:avLst/>
          </a:prstGeom>
          <a:ln>
            <a:noFill/>
          </a:ln>
        </p:spPr>
      </p:pic>
      <p:pic>
        <p:nvPicPr>
          <p:cNvPr id="19" name="Imagen 18" descr="Imagen que contiene tarjeta de presentación, estacionaria, dibujo&#10;&#10;Descripción generada automáticamente">
            <a:extLst>
              <a:ext uri="{FF2B5EF4-FFF2-40B4-BE49-F238E27FC236}">
                <a16:creationId xmlns:a16="http://schemas.microsoft.com/office/drawing/2014/main" id="{26DF37F2-ED3E-3002-F583-DF0AD98F0F0C}"/>
              </a:ext>
            </a:extLst>
          </p:cNvPr>
          <p:cNvPicPr>
            <a:picLocks noChangeAspect="1"/>
          </p:cNvPicPr>
          <p:nvPr/>
        </p:nvPicPr>
        <p:blipFill>
          <a:blip r:embed="rId8"/>
          <a:stretch>
            <a:fillRect/>
          </a:stretch>
        </p:blipFill>
        <p:spPr>
          <a:xfrm>
            <a:off x="958125" y="4339968"/>
            <a:ext cx="668199" cy="668136"/>
          </a:xfrm>
          <a:prstGeom prst="rect">
            <a:avLst/>
          </a:prstGeom>
          <a:ln>
            <a:noFill/>
          </a:ln>
        </p:spPr>
      </p:pic>
      <p:sp>
        <p:nvSpPr>
          <p:cNvPr id="21" name="CuadroTexto 20">
            <a:extLst>
              <a:ext uri="{FF2B5EF4-FFF2-40B4-BE49-F238E27FC236}">
                <a16:creationId xmlns:a16="http://schemas.microsoft.com/office/drawing/2014/main" id="{0CA354C5-A245-BD1D-6B41-F257103122E4}"/>
              </a:ext>
            </a:extLst>
          </p:cNvPr>
          <p:cNvSpPr txBox="1"/>
          <p:nvPr/>
        </p:nvSpPr>
        <p:spPr>
          <a:xfrm>
            <a:off x="1910766" y="4373526"/>
            <a:ext cx="745431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rPr>
              <a:t>Navega a </a:t>
            </a:r>
            <a:r>
              <a:rPr lang="es-ES" sz="1500">
                <a:latin typeface="Trebuchet MS" panose="020B0603020202020204" pitchFamily="34" charset="0"/>
                <a:hlinkClick r:id="rId9"/>
              </a:rPr>
              <a:t>http://localhost:9000</a:t>
            </a:r>
            <a:r>
              <a:rPr lang="es-ES" sz="1500">
                <a:latin typeface="Trebuchet MS" panose="020B0603020202020204" pitchFamily="34" charset="0"/>
              </a:rPr>
              <a:t> y utiliza las credenciales </a:t>
            </a:r>
            <a:r>
              <a:rPr lang="es-ES" sz="1500" err="1">
                <a:latin typeface="Trebuchet MS" panose="020B0603020202020204" pitchFamily="34" charset="0"/>
              </a:rPr>
              <a:t>admin</a:t>
            </a:r>
            <a:r>
              <a:rPr lang="es-ES" sz="1500">
                <a:latin typeface="Trebuchet MS" panose="020B0603020202020204" pitchFamily="34" charset="0"/>
              </a:rPr>
              <a:t>/</a:t>
            </a:r>
            <a:r>
              <a:rPr lang="es-ES" sz="1500" err="1">
                <a:latin typeface="Trebuchet MS" panose="020B0603020202020204" pitchFamily="34" charset="0"/>
              </a:rPr>
              <a:t>admin</a:t>
            </a:r>
          </a:p>
        </p:txBody>
      </p:sp>
      <p:pic>
        <p:nvPicPr>
          <p:cNvPr id="22" name="Imagen 21" descr="Icono&#10;&#10;Descripción generada automáticamente">
            <a:extLst>
              <a:ext uri="{FF2B5EF4-FFF2-40B4-BE49-F238E27FC236}">
                <a16:creationId xmlns:a16="http://schemas.microsoft.com/office/drawing/2014/main" id="{4DDCE7D5-E1CD-1222-F40C-67CA7B9C8247}"/>
              </a:ext>
            </a:extLst>
          </p:cNvPr>
          <p:cNvPicPr>
            <a:picLocks noChangeAspect="1"/>
          </p:cNvPicPr>
          <p:nvPr/>
        </p:nvPicPr>
        <p:blipFill>
          <a:blip r:embed="rId10"/>
          <a:stretch>
            <a:fillRect/>
          </a:stretch>
        </p:blipFill>
        <p:spPr>
          <a:xfrm>
            <a:off x="989143" y="5306757"/>
            <a:ext cx="673376" cy="662961"/>
          </a:xfrm>
          <a:prstGeom prst="rect">
            <a:avLst/>
          </a:prstGeom>
          <a:ln>
            <a:noFill/>
          </a:ln>
        </p:spPr>
      </p:pic>
      <p:sp>
        <p:nvSpPr>
          <p:cNvPr id="23" name="CuadroTexto 22">
            <a:extLst>
              <a:ext uri="{FF2B5EF4-FFF2-40B4-BE49-F238E27FC236}">
                <a16:creationId xmlns:a16="http://schemas.microsoft.com/office/drawing/2014/main" id="{CC4B1380-0134-2B58-A001-480E3D16C2C4}"/>
              </a:ext>
            </a:extLst>
          </p:cNvPr>
          <p:cNvSpPr txBox="1"/>
          <p:nvPr/>
        </p:nvSpPr>
        <p:spPr>
          <a:xfrm>
            <a:off x="1915739" y="5402349"/>
            <a:ext cx="745431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rPr>
              <a:t>Descarga </a:t>
            </a:r>
            <a:r>
              <a:rPr lang="es-ES" sz="1500" err="1">
                <a:latin typeface="Trebuchet MS" panose="020B0603020202020204" pitchFamily="34" charset="0"/>
              </a:rPr>
              <a:t>SonnarScanner</a:t>
            </a:r>
            <a:r>
              <a:rPr lang="es-ES" sz="1500">
                <a:latin typeface="Trebuchet MS" panose="020B0603020202020204" pitchFamily="34" charset="0"/>
              </a:rPr>
              <a:t> para .NET con </a:t>
            </a:r>
          </a:p>
          <a:p>
            <a:r>
              <a:rPr lang="es-ES" sz="1500" err="1">
                <a:latin typeface="Trebuchet MS" panose="020B0603020202020204" pitchFamily="34" charset="0"/>
                <a:ea typeface="+mn-lt"/>
                <a:cs typeface="+mn-lt"/>
              </a:rPr>
              <a:t>dotnet</a:t>
            </a:r>
            <a:r>
              <a:rPr lang="es-ES" sz="1500">
                <a:latin typeface="Trebuchet MS" panose="020B0603020202020204" pitchFamily="34" charset="0"/>
                <a:ea typeface="+mn-lt"/>
                <a:cs typeface="+mn-lt"/>
              </a:rPr>
              <a:t> </a:t>
            </a:r>
            <a:r>
              <a:rPr lang="es-ES" sz="1500" err="1">
                <a:latin typeface="Trebuchet MS" panose="020B0603020202020204" pitchFamily="34" charset="0"/>
                <a:ea typeface="+mn-lt"/>
                <a:cs typeface="+mn-lt"/>
              </a:rPr>
              <a:t>tool</a:t>
            </a:r>
            <a:r>
              <a:rPr lang="es-ES" sz="1500">
                <a:latin typeface="Trebuchet MS" panose="020B0603020202020204" pitchFamily="34" charset="0"/>
                <a:ea typeface="+mn-lt"/>
                <a:cs typeface="+mn-lt"/>
              </a:rPr>
              <a:t> </a:t>
            </a:r>
            <a:r>
              <a:rPr lang="es-ES" sz="1500" err="1">
                <a:latin typeface="Trebuchet MS" panose="020B0603020202020204" pitchFamily="34" charset="0"/>
                <a:ea typeface="+mn-lt"/>
                <a:cs typeface="+mn-lt"/>
              </a:rPr>
              <a:t>install</a:t>
            </a:r>
            <a:r>
              <a:rPr lang="es-ES" sz="1500">
                <a:latin typeface="Trebuchet MS" panose="020B0603020202020204" pitchFamily="34" charset="0"/>
                <a:ea typeface="+mn-lt"/>
                <a:cs typeface="+mn-lt"/>
              </a:rPr>
              <a:t> --global </a:t>
            </a:r>
            <a:r>
              <a:rPr lang="es-ES" sz="1500" err="1">
                <a:latin typeface="Trebuchet MS" panose="020B0603020202020204" pitchFamily="34" charset="0"/>
                <a:ea typeface="+mn-lt"/>
                <a:cs typeface="+mn-lt"/>
              </a:rPr>
              <a:t>dotnet-sonarscanner</a:t>
            </a:r>
            <a:r>
              <a:rPr lang="es-ES" sz="1500">
                <a:latin typeface="Trebuchet MS" panose="020B0603020202020204" pitchFamily="34" charset="0"/>
                <a:ea typeface="+mn-lt"/>
                <a:cs typeface="+mn-lt"/>
              </a:rPr>
              <a:t> --</a:t>
            </a:r>
            <a:r>
              <a:rPr lang="es-ES" sz="1500" err="1">
                <a:latin typeface="Trebuchet MS" panose="020B0603020202020204" pitchFamily="34" charset="0"/>
                <a:ea typeface="+mn-lt"/>
                <a:cs typeface="+mn-lt"/>
              </a:rPr>
              <a:t>version</a:t>
            </a:r>
            <a:r>
              <a:rPr lang="es-ES" sz="1500">
                <a:latin typeface="Trebuchet MS" panose="020B0603020202020204" pitchFamily="34" charset="0"/>
                <a:ea typeface="+mn-lt"/>
                <a:cs typeface="+mn-lt"/>
              </a:rPr>
              <a:t> 6.2.0</a:t>
            </a:r>
            <a:endParaRPr lang="es-ES">
              <a:latin typeface="Trebuchet MS" panose="020B0603020202020204" pitchFamily="34" charset="0"/>
            </a:endParaRPr>
          </a:p>
        </p:txBody>
      </p:sp>
      <p:pic>
        <p:nvPicPr>
          <p:cNvPr id="3" name="Imagen 2" descr="Interfaz de usuario gráfica&#10;&#10;El contenido generado por IA puede ser incorrecto.">
            <a:extLst>
              <a:ext uri="{FF2B5EF4-FFF2-40B4-BE49-F238E27FC236}">
                <a16:creationId xmlns:a16="http://schemas.microsoft.com/office/drawing/2014/main" id="{DF16BB46-3A46-B93D-1F60-1148BC699DC8}"/>
              </a:ext>
            </a:extLst>
          </p:cNvPr>
          <p:cNvPicPr>
            <a:picLocks noChangeAspect="1"/>
          </p:cNvPicPr>
          <p:nvPr/>
        </p:nvPicPr>
        <p:blipFill>
          <a:blip r:embed="rId11">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0204433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6F34-B1C2-9F0C-0F72-954A2DE5B633}"/>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41EFF49C-4EE0-5175-3B4B-FC5B4AE618B5}"/>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F75F0B22-69D6-BB1C-9004-1F2CC1DB7D0C}"/>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1048E919-A4CB-E104-3A06-2594C5043D20}"/>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SonarQube: Uso</a:t>
            </a:r>
          </a:p>
        </p:txBody>
      </p:sp>
      <p:sp>
        <p:nvSpPr>
          <p:cNvPr id="3" name="CuadroTexto 2">
            <a:extLst>
              <a:ext uri="{FF2B5EF4-FFF2-40B4-BE49-F238E27FC236}">
                <a16:creationId xmlns:a16="http://schemas.microsoft.com/office/drawing/2014/main" id="{A931908C-C27D-465D-4426-33AE930C1F8E}"/>
              </a:ext>
            </a:extLst>
          </p:cNvPr>
          <p:cNvSpPr txBox="1"/>
          <p:nvPr/>
        </p:nvSpPr>
        <p:spPr>
          <a:xfrm>
            <a:off x="2301096" y="2273998"/>
            <a:ext cx="7035598"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latin typeface="Trebuchet MS" panose="020B0603020202020204" pitchFamily="34" charset="0"/>
                <a:ea typeface="+mn-lt"/>
                <a:cs typeface="+mn-lt"/>
              </a:rPr>
              <a:t>Abre una sesión de </a:t>
            </a:r>
            <a:r>
              <a:rPr lang="es-ES" sz="1600" dirty="0" err="1">
                <a:latin typeface="Trebuchet MS" panose="020B0603020202020204" pitchFamily="34" charset="0"/>
                <a:ea typeface="+mn-lt"/>
                <a:cs typeface="+mn-lt"/>
              </a:rPr>
              <a:t>powershell</a:t>
            </a:r>
            <a:r>
              <a:rPr lang="es-ES" sz="1600" dirty="0">
                <a:latin typeface="Trebuchet MS" panose="020B0603020202020204" pitchFamily="34" charset="0"/>
                <a:ea typeface="+mn-lt"/>
                <a:cs typeface="+mn-lt"/>
              </a:rPr>
              <a:t>, navega hasta la carpeta donde se encuentra tu proyecto y ejecuta los comandos que te indica la interfaz de SonarQube</a:t>
            </a:r>
          </a:p>
          <a:p>
            <a:endParaRPr lang="es-ES" dirty="0">
              <a:latin typeface="Trebuchet MS" panose="020B0603020202020204" pitchFamily="34" charset="0"/>
              <a:ea typeface="Calibri"/>
              <a:cs typeface="Calibri"/>
            </a:endParaRPr>
          </a:p>
        </p:txBody>
      </p:sp>
      <p:pic>
        <p:nvPicPr>
          <p:cNvPr id="9" name="Imagen 8" descr="Icono&#10;&#10;Descripción generada automáticamente">
            <a:extLst>
              <a:ext uri="{FF2B5EF4-FFF2-40B4-BE49-F238E27FC236}">
                <a16:creationId xmlns:a16="http://schemas.microsoft.com/office/drawing/2014/main" id="{DBD64D3E-CC34-C0DF-E4F5-58B142925420}"/>
              </a:ext>
            </a:extLst>
          </p:cNvPr>
          <p:cNvPicPr>
            <a:picLocks noChangeAspect="1"/>
          </p:cNvPicPr>
          <p:nvPr/>
        </p:nvPicPr>
        <p:blipFill>
          <a:blip r:embed="rId4"/>
          <a:stretch>
            <a:fillRect/>
          </a:stretch>
        </p:blipFill>
        <p:spPr>
          <a:xfrm>
            <a:off x="1055383" y="1146383"/>
            <a:ext cx="816813" cy="742114"/>
          </a:xfrm>
          <a:prstGeom prst="rect">
            <a:avLst/>
          </a:prstGeom>
          <a:ln>
            <a:noFill/>
          </a:ln>
        </p:spPr>
      </p:pic>
      <p:pic>
        <p:nvPicPr>
          <p:cNvPr id="11" name="Imagen 10" descr="Icono&#10;&#10;Descripción generada automáticamente">
            <a:extLst>
              <a:ext uri="{FF2B5EF4-FFF2-40B4-BE49-F238E27FC236}">
                <a16:creationId xmlns:a16="http://schemas.microsoft.com/office/drawing/2014/main" id="{339BF307-BE87-FAA4-D8A0-8882BA4345A7}"/>
              </a:ext>
            </a:extLst>
          </p:cNvPr>
          <p:cNvPicPr>
            <a:picLocks noChangeAspect="1"/>
          </p:cNvPicPr>
          <p:nvPr/>
        </p:nvPicPr>
        <p:blipFill>
          <a:blip r:embed="rId5"/>
          <a:stretch>
            <a:fillRect/>
          </a:stretch>
        </p:blipFill>
        <p:spPr>
          <a:xfrm>
            <a:off x="1011116" y="2257220"/>
            <a:ext cx="885231" cy="885410"/>
          </a:xfrm>
          <a:prstGeom prst="rect">
            <a:avLst/>
          </a:prstGeom>
          <a:ln>
            <a:noFill/>
          </a:ln>
        </p:spPr>
      </p:pic>
      <p:sp>
        <p:nvSpPr>
          <p:cNvPr id="12" name="CuadroTexto 11">
            <a:extLst>
              <a:ext uri="{FF2B5EF4-FFF2-40B4-BE49-F238E27FC236}">
                <a16:creationId xmlns:a16="http://schemas.microsoft.com/office/drawing/2014/main" id="{6A1904AB-939F-3974-C575-2F28E48B0C70}"/>
              </a:ext>
            </a:extLst>
          </p:cNvPr>
          <p:cNvSpPr txBox="1"/>
          <p:nvPr/>
        </p:nvSpPr>
        <p:spPr>
          <a:xfrm>
            <a:off x="2312509" y="1240867"/>
            <a:ext cx="70256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latin typeface="Trebuchet MS" panose="020B0603020202020204" pitchFamily="34" charset="0"/>
                <a:ea typeface="+mn-lt"/>
                <a:cs typeface="+mn-lt"/>
              </a:rPr>
              <a:t>Crea un proyecto local, nómbralo, elige "Use Global </a:t>
            </a:r>
            <a:r>
              <a:rPr lang="es-ES" sz="1600" dirty="0" err="1">
                <a:latin typeface="Trebuchet MS" panose="020B0603020202020204" pitchFamily="34" charset="0"/>
                <a:ea typeface="+mn-lt"/>
                <a:cs typeface="+mn-lt"/>
              </a:rPr>
              <a:t>Settings</a:t>
            </a:r>
            <a:r>
              <a:rPr lang="es-ES" sz="1600" dirty="0">
                <a:latin typeface="Trebuchet MS" panose="020B0603020202020204" pitchFamily="34" charset="0"/>
                <a:ea typeface="+mn-lt"/>
                <a:cs typeface="+mn-lt"/>
              </a:rPr>
              <a:t>". </a:t>
            </a:r>
          </a:p>
          <a:p>
            <a:r>
              <a:rPr lang="es-ES" sz="1600" dirty="0">
                <a:latin typeface="Trebuchet MS" panose="020B0603020202020204" pitchFamily="34" charset="0"/>
                <a:ea typeface="+mn-lt"/>
                <a:cs typeface="+mn-lt"/>
              </a:rPr>
              <a:t>Una vez creado elige de nuevo </a:t>
            </a:r>
            <a:r>
              <a:rPr lang="es-ES" sz="1600" dirty="0" err="1">
                <a:latin typeface="Trebuchet MS" panose="020B0603020202020204" pitchFamily="34" charset="0"/>
                <a:ea typeface="+mn-lt"/>
                <a:cs typeface="+mn-lt"/>
              </a:rPr>
              <a:t>Locally</a:t>
            </a:r>
            <a:r>
              <a:rPr lang="es-ES" sz="1600" dirty="0">
                <a:latin typeface="Trebuchet MS" panose="020B0603020202020204" pitchFamily="34" charset="0"/>
                <a:ea typeface="+mn-lt"/>
                <a:cs typeface="+mn-lt"/>
              </a:rPr>
              <a:t> para analizar y genera el token.</a:t>
            </a:r>
          </a:p>
        </p:txBody>
      </p:sp>
      <p:pic>
        <p:nvPicPr>
          <p:cNvPr id="13" name="Imagen 12" descr="Icono&#10;&#10;Descripción generada automáticamente">
            <a:extLst>
              <a:ext uri="{FF2B5EF4-FFF2-40B4-BE49-F238E27FC236}">
                <a16:creationId xmlns:a16="http://schemas.microsoft.com/office/drawing/2014/main" id="{5D0ADD22-E372-D864-3D45-B60A9020EE26}"/>
              </a:ext>
            </a:extLst>
          </p:cNvPr>
          <p:cNvPicPr>
            <a:picLocks noChangeAspect="1"/>
          </p:cNvPicPr>
          <p:nvPr/>
        </p:nvPicPr>
        <p:blipFill>
          <a:blip r:embed="rId6"/>
          <a:stretch>
            <a:fillRect/>
          </a:stretch>
        </p:blipFill>
        <p:spPr>
          <a:xfrm>
            <a:off x="1033427" y="5166187"/>
            <a:ext cx="828653" cy="802697"/>
          </a:xfrm>
          <a:prstGeom prst="rect">
            <a:avLst/>
          </a:prstGeom>
          <a:ln>
            <a:noFill/>
          </a:ln>
        </p:spPr>
      </p:pic>
      <p:sp>
        <p:nvSpPr>
          <p:cNvPr id="14" name="CuadroTexto 13">
            <a:extLst>
              <a:ext uri="{FF2B5EF4-FFF2-40B4-BE49-F238E27FC236}">
                <a16:creationId xmlns:a16="http://schemas.microsoft.com/office/drawing/2014/main" id="{434D0641-7CAC-CC43-1AA1-C30D772F41FD}"/>
              </a:ext>
            </a:extLst>
          </p:cNvPr>
          <p:cNvSpPr txBox="1"/>
          <p:nvPr/>
        </p:nvSpPr>
        <p:spPr>
          <a:xfrm>
            <a:off x="2289953" y="5368442"/>
            <a:ext cx="7035598"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latin typeface="Trebuchet MS" panose="020B0603020202020204" pitchFamily="34" charset="0"/>
                <a:ea typeface="+mn-lt"/>
                <a:cs typeface="+mn-lt"/>
              </a:rPr>
              <a:t>Comprueba los resultados del análisis.</a:t>
            </a:r>
            <a:endParaRPr lang="es-ES" sz="1600" dirty="0">
              <a:latin typeface="Trebuchet MS" panose="020B0603020202020204" pitchFamily="34" charset="0"/>
            </a:endParaRPr>
          </a:p>
          <a:p>
            <a:endParaRPr lang="es-ES" dirty="0">
              <a:latin typeface="Trebuchet MS" panose="020B0603020202020204" pitchFamily="34" charset="0"/>
              <a:ea typeface="Calibri"/>
              <a:cs typeface="Calibri"/>
            </a:endParaRPr>
          </a:p>
        </p:txBody>
      </p:sp>
      <p:pic>
        <p:nvPicPr>
          <p:cNvPr id="15" name="Imagen 14">
            <a:extLst>
              <a:ext uri="{FF2B5EF4-FFF2-40B4-BE49-F238E27FC236}">
                <a16:creationId xmlns:a16="http://schemas.microsoft.com/office/drawing/2014/main" id="{438376B2-3E45-0FF5-645B-8E65E8BA8DE0}"/>
              </a:ext>
            </a:extLst>
          </p:cNvPr>
          <p:cNvPicPr>
            <a:picLocks noChangeAspect="1"/>
          </p:cNvPicPr>
          <p:nvPr/>
        </p:nvPicPr>
        <p:blipFill>
          <a:blip r:embed="rId7"/>
          <a:stretch>
            <a:fillRect/>
          </a:stretch>
        </p:blipFill>
        <p:spPr>
          <a:xfrm>
            <a:off x="1065946" y="3655131"/>
            <a:ext cx="840323" cy="880420"/>
          </a:xfrm>
          <a:prstGeom prst="rect">
            <a:avLst/>
          </a:prstGeom>
          <a:ln>
            <a:noFill/>
          </a:ln>
        </p:spPr>
      </p:pic>
      <p:sp>
        <p:nvSpPr>
          <p:cNvPr id="16" name="CuadroTexto 15">
            <a:extLst>
              <a:ext uri="{FF2B5EF4-FFF2-40B4-BE49-F238E27FC236}">
                <a16:creationId xmlns:a16="http://schemas.microsoft.com/office/drawing/2014/main" id="{CB9E7BCA-31F1-E815-E957-8A04601FB446}"/>
              </a:ext>
            </a:extLst>
          </p:cNvPr>
          <p:cNvSpPr txBox="1"/>
          <p:nvPr/>
        </p:nvSpPr>
        <p:spPr>
          <a:xfrm>
            <a:off x="2311485" y="3478608"/>
            <a:ext cx="703559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latin typeface="Trebuchet MS" panose="020B0603020202020204" pitchFamily="34" charset="0"/>
                <a:ea typeface="+mn-lt"/>
                <a:cs typeface="+mn-lt"/>
              </a:rPr>
              <a:t>Si no dispones de un proyecto, ejecuta </a:t>
            </a:r>
          </a:p>
          <a:p>
            <a:r>
              <a:rPr lang="es-ES" sz="1600" dirty="0">
                <a:latin typeface="Trebuchet MS" panose="020B0603020202020204" pitchFamily="34" charset="0"/>
                <a:ea typeface="+mn-lt"/>
                <a:cs typeface="+mn-lt"/>
              </a:rPr>
              <a:t> </a:t>
            </a:r>
            <a:r>
              <a:rPr lang="es-ES" sz="1600" dirty="0" err="1">
                <a:latin typeface="Trebuchet MS" panose="020B0603020202020204" pitchFamily="34" charset="0"/>
                <a:ea typeface="+mn-lt"/>
                <a:cs typeface="+mn-lt"/>
              </a:rPr>
              <a:t>dotnet</a:t>
            </a:r>
            <a:r>
              <a:rPr lang="es-ES" sz="1600" dirty="0">
                <a:latin typeface="Trebuchet MS" panose="020B0603020202020204" pitchFamily="34" charset="0"/>
                <a:ea typeface="+mn-lt"/>
                <a:cs typeface="+mn-lt"/>
              </a:rPr>
              <a:t> new </a:t>
            </a:r>
            <a:r>
              <a:rPr lang="es-ES" sz="1600" dirty="0" err="1">
                <a:latin typeface="Trebuchet MS" panose="020B0603020202020204" pitchFamily="34" charset="0"/>
                <a:ea typeface="+mn-lt"/>
                <a:cs typeface="+mn-lt"/>
              </a:rPr>
              <a:t>console</a:t>
            </a:r>
            <a:r>
              <a:rPr lang="es-ES" sz="1600" dirty="0">
                <a:latin typeface="Trebuchet MS" panose="020B0603020202020204" pitchFamily="34" charset="0"/>
                <a:ea typeface="+mn-lt"/>
                <a:cs typeface="+mn-lt"/>
              </a:rPr>
              <a:t> -n </a:t>
            </a:r>
            <a:r>
              <a:rPr lang="es-ES" sz="1600" dirty="0" err="1">
                <a:latin typeface="Trebuchet MS" panose="020B0603020202020204" pitchFamily="34" charset="0"/>
                <a:ea typeface="+mn-lt"/>
                <a:cs typeface="+mn-lt"/>
              </a:rPr>
              <a:t>MyDemoProject</a:t>
            </a:r>
            <a:endParaRPr lang="es-ES" sz="1600" dirty="0">
              <a:latin typeface="Trebuchet MS" panose="020B0603020202020204" pitchFamily="34" charset="0"/>
            </a:endParaRPr>
          </a:p>
          <a:p>
            <a:r>
              <a:rPr lang="es-ES" sz="1600" dirty="0">
                <a:latin typeface="Trebuchet MS" panose="020B0603020202020204" pitchFamily="34" charset="0"/>
                <a:ea typeface="+mn-lt"/>
                <a:cs typeface="+mn-lt"/>
              </a:rPr>
              <a:t> cd </a:t>
            </a:r>
            <a:r>
              <a:rPr lang="es-ES" sz="1600" dirty="0" err="1">
                <a:latin typeface="Trebuchet MS" panose="020B0603020202020204" pitchFamily="34" charset="0"/>
                <a:ea typeface="+mn-lt"/>
                <a:cs typeface="+mn-lt"/>
              </a:rPr>
              <a:t>MyDemoProject</a:t>
            </a:r>
            <a:endParaRPr lang="es-ES" sz="1600" dirty="0">
              <a:latin typeface="Trebuchet MS" panose="020B0603020202020204" pitchFamily="34" charset="0"/>
            </a:endParaRPr>
          </a:p>
          <a:p>
            <a:r>
              <a:rPr lang="es-ES" sz="1600" dirty="0">
                <a:latin typeface="Trebuchet MS" panose="020B0603020202020204" pitchFamily="34" charset="0"/>
                <a:ea typeface="Calibri"/>
                <a:cs typeface="Calibri"/>
              </a:rPr>
              <a:t> </a:t>
            </a:r>
            <a:r>
              <a:rPr lang="es-ES" sz="1600" dirty="0" err="1">
                <a:latin typeface="Trebuchet MS" panose="020B0603020202020204" pitchFamily="34" charset="0"/>
                <a:ea typeface="Calibri"/>
                <a:cs typeface="Calibri"/>
              </a:rPr>
              <a:t>pwd</a:t>
            </a:r>
            <a:endParaRPr lang="es-ES" sz="1600" dirty="0">
              <a:latin typeface="Trebuchet MS" panose="020B0603020202020204" pitchFamily="34" charset="0"/>
              <a:ea typeface="Calibri"/>
              <a:cs typeface="Calibri"/>
            </a:endParaRPr>
          </a:p>
          <a:p>
            <a:r>
              <a:rPr lang="es-ES" sz="1600" dirty="0">
                <a:latin typeface="Trebuchet MS" panose="020B0603020202020204" pitchFamily="34" charset="0"/>
                <a:ea typeface="Calibri"/>
                <a:cs typeface="Calibri"/>
              </a:rPr>
              <a:t>Luego abre con tu editor el archivo ubicado en la ruta que te indica la consola</a:t>
            </a:r>
          </a:p>
        </p:txBody>
      </p:sp>
      <p:pic>
        <p:nvPicPr>
          <p:cNvPr id="2" name="Imagen 1" descr="Interfaz de usuario gráfica&#10;&#10;El contenido generado por IA puede ser incorrecto.">
            <a:extLst>
              <a:ext uri="{FF2B5EF4-FFF2-40B4-BE49-F238E27FC236}">
                <a16:creationId xmlns:a16="http://schemas.microsoft.com/office/drawing/2014/main" id="{08B9355B-202F-FC53-4B10-ADCB2B9D8E09}"/>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556472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7B8C1-13DE-DF00-32CA-3BA1CF4A2429}"/>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D7676F73-20E3-4164-8E85-0F1843A54662}"/>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93DA18FE-D7CE-D663-4756-7AF6FDDFA482}"/>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21FE75E1-043D-8ED4-0778-CDA0E3071348}"/>
              </a:ext>
            </a:extLst>
          </p:cNvPr>
          <p:cNvSpPr txBox="1"/>
          <p:nvPr/>
        </p:nvSpPr>
        <p:spPr>
          <a:xfrm>
            <a:off x="429768" y="251936"/>
            <a:ext cx="9884664"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SonarQube: Prueba</a:t>
            </a:r>
          </a:p>
        </p:txBody>
      </p:sp>
      <p:pic>
        <p:nvPicPr>
          <p:cNvPr id="2" name="Imagen 1" descr="Texto&#10;&#10;Descripción generada automáticamente">
            <a:extLst>
              <a:ext uri="{FF2B5EF4-FFF2-40B4-BE49-F238E27FC236}">
                <a16:creationId xmlns:a16="http://schemas.microsoft.com/office/drawing/2014/main" id="{792A6332-0ACE-EC75-BA4E-E02D86CBB0BA}"/>
              </a:ext>
            </a:extLst>
          </p:cNvPr>
          <p:cNvPicPr>
            <a:picLocks noChangeAspect="1"/>
          </p:cNvPicPr>
          <p:nvPr/>
        </p:nvPicPr>
        <p:blipFill>
          <a:blip r:embed="rId4"/>
          <a:stretch>
            <a:fillRect/>
          </a:stretch>
        </p:blipFill>
        <p:spPr>
          <a:xfrm>
            <a:off x="3026111" y="959822"/>
            <a:ext cx="6139777" cy="5110174"/>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8BF65B32-B18E-8C0D-329C-89E4B93CB948}"/>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583133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A6C20-B66D-302B-1C06-05EAE9EB890F}"/>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4D4FF1B1-EAC8-5526-AE8C-C6A56F78232B}"/>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2748BC51-C587-6B80-65DB-7EAD2E993238}"/>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CEF3EE67-06F5-0A12-5AA7-6ECE9F7CC0B0}"/>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Snyk</a:t>
            </a:r>
            <a:r>
              <a:rPr lang="es-ES" dirty="0">
                <a:solidFill>
                  <a:schemeClr val="tx1">
                    <a:lumMod val="75000"/>
                    <a:lumOff val="25000"/>
                  </a:schemeClr>
                </a:solidFill>
              </a:rPr>
              <a:t>: Reforzando la seguridad en .NET</a:t>
            </a:r>
          </a:p>
        </p:txBody>
      </p:sp>
      <p:sp>
        <p:nvSpPr>
          <p:cNvPr id="3" name="CuadroTexto 2">
            <a:extLst>
              <a:ext uri="{FF2B5EF4-FFF2-40B4-BE49-F238E27FC236}">
                <a16:creationId xmlns:a16="http://schemas.microsoft.com/office/drawing/2014/main" id="{9CB22234-8F84-CB2F-A4E0-AE6852BC7D1D}"/>
              </a:ext>
            </a:extLst>
          </p:cNvPr>
          <p:cNvSpPr txBox="1"/>
          <p:nvPr/>
        </p:nvSpPr>
        <p:spPr>
          <a:xfrm>
            <a:off x="1954549" y="2612789"/>
            <a:ext cx="867202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latin typeface="Trebuchet MS" panose="020B0603020202020204" pitchFamily="34" charset="0"/>
                <a:ea typeface="+mn-lt"/>
                <a:cs typeface="+mn-lt"/>
              </a:rPr>
              <a:t>Es una plataforma avanzada de seguridad de código fuente que ayuda a detectar y resolver vulnerabilidades de seguridad en dependencias de software.</a:t>
            </a:r>
          </a:p>
        </p:txBody>
      </p:sp>
      <p:sp>
        <p:nvSpPr>
          <p:cNvPr id="4" name="CuadroTexto 3">
            <a:extLst>
              <a:ext uri="{FF2B5EF4-FFF2-40B4-BE49-F238E27FC236}">
                <a16:creationId xmlns:a16="http://schemas.microsoft.com/office/drawing/2014/main" id="{1CB224E8-96C3-5DCC-24B8-BE9581A17CD5}"/>
              </a:ext>
            </a:extLst>
          </p:cNvPr>
          <p:cNvSpPr txBox="1"/>
          <p:nvPr/>
        </p:nvSpPr>
        <p:spPr>
          <a:xfrm>
            <a:off x="1952351" y="4073976"/>
            <a:ext cx="898357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b="1">
                <a:solidFill>
                  <a:srgbClr val="595959"/>
                </a:solidFill>
                <a:latin typeface="Trebuchet MS" panose="020B0603020202020204" pitchFamily="34" charset="0"/>
              </a:rPr>
              <a:t>Característica </a:t>
            </a:r>
            <a:r>
              <a:rPr lang="es-ES" sz="1600" b="1" baseline="0">
                <a:solidFill>
                  <a:srgbClr val="595959"/>
                </a:solidFill>
                <a:latin typeface="Trebuchet MS" panose="020B0603020202020204" pitchFamily="34" charset="0"/>
              </a:rPr>
              <a:t>clave:</a:t>
            </a:r>
            <a:r>
              <a:rPr lang="es-ES" sz="1600" b="1">
                <a:solidFill>
                  <a:srgbClr val="595959"/>
                </a:solidFill>
                <a:latin typeface="Trebuchet MS" panose="020B0603020202020204" pitchFamily="34" charset="0"/>
              </a:rPr>
              <a:t> </a:t>
            </a:r>
            <a:endParaRPr lang="es-ES" sz="2000">
              <a:solidFill>
                <a:srgbClr val="595959"/>
              </a:solidFill>
              <a:latin typeface="Trebuchet MS" panose="020B0603020202020204" pitchFamily="34" charset="0"/>
              <a:cs typeface="Calibri"/>
            </a:endParaRPr>
          </a:p>
          <a:p>
            <a:r>
              <a:rPr lang="es-ES" sz="1600" err="1">
                <a:latin typeface="Trebuchet MS" panose="020B0603020202020204" pitchFamily="34" charset="0"/>
                <a:ea typeface="+mn-lt"/>
                <a:cs typeface="+mn-lt"/>
              </a:rPr>
              <a:t>Snyk</a:t>
            </a:r>
            <a:r>
              <a:rPr lang="es-ES" sz="1600">
                <a:latin typeface="Trebuchet MS" panose="020B0603020202020204" pitchFamily="34" charset="0"/>
                <a:ea typeface="+mn-lt"/>
                <a:cs typeface="+mn-lt"/>
              </a:rPr>
              <a:t> no solo se centra en encontrar vulnerabilidades, sino también en ofrecer soluciones y mitigaciones automáticas. Esto ayuda a los equipos a ahorrar tiempo y mejorar la </a:t>
            </a:r>
            <a:r>
              <a:rPr lang="es-ES" sz="1600" baseline="0">
                <a:latin typeface="Trebuchet MS" panose="020B0603020202020204" pitchFamily="34" charset="0"/>
                <a:ea typeface="+mn-lt"/>
                <a:cs typeface="+mn-lt"/>
              </a:rPr>
              <a:t>seguridad</a:t>
            </a:r>
            <a:r>
              <a:rPr lang="es-ES" sz="1600">
                <a:latin typeface="Trebuchet MS" panose="020B0603020202020204" pitchFamily="34" charset="0"/>
                <a:ea typeface="+mn-lt"/>
                <a:cs typeface="+mn-lt"/>
              </a:rPr>
              <a:t> sin sacrificar </a:t>
            </a:r>
            <a:r>
              <a:rPr lang="es-ES" sz="1600" baseline="0">
                <a:latin typeface="Trebuchet MS" panose="020B0603020202020204" pitchFamily="34" charset="0"/>
                <a:ea typeface="+mn-lt"/>
                <a:cs typeface="+mn-lt"/>
              </a:rPr>
              <a:t>la </a:t>
            </a:r>
            <a:r>
              <a:rPr lang="es-ES" sz="1600">
                <a:latin typeface="Trebuchet MS" panose="020B0603020202020204" pitchFamily="34" charset="0"/>
                <a:ea typeface="+mn-lt"/>
                <a:cs typeface="+mn-lt"/>
              </a:rPr>
              <a:t>eficiencia del desarrollo</a:t>
            </a:r>
            <a:r>
              <a:rPr lang="es-ES" sz="1600" baseline="0">
                <a:latin typeface="Trebuchet MS" panose="020B0603020202020204" pitchFamily="34" charset="0"/>
                <a:ea typeface="+mn-lt"/>
                <a:cs typeface="+mn-lt"/>
              </a:rPr>
              <a:t>.</a:t>
            </a:r>
            <a:endParaRPr lang="es-ES" sz="2000">
              <a:latin typeface="Trebuchet MS" panose="020B0603020202020204" pitchFamily="34" charset="0"/>
              <a:ea typeface="+mn-lt"/>
              <a:cs typeface="+mn-lt"/>
            </a:endParaRPr>
          </a:p>
        </p:txBody>
      </p:sp>
      <p:pic>
        <p:nvPicPr>
          <p:cNvPr id="6" name="Gráfico 6">
            <a:extLst>
              <a:ext uri="{FF2B5EF4-FFF2-40B4-BE49-F238E27FC236}">
                <a16:creationId xmlns:a16="http://schemas.microsoft.com/office/drawing/2014/main" id="{D550D3BC-A104-BB9D-BD41-359894F027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8706" y="4156464"/>
            <a:ext cx="1382792" cy="990080"/>
          </a:xfrm>
          <a:prstGeom prst="rect">
            <a:avLst/>
          </a:prstGeom>
        </p:spPr>
      </p:pic>
      <p:sp>
        <p:nvSpPr>
          <p:cNvPr id="7" name="CuadroTexto 6">
            <a:extLst>
              <a:ext uri="{FF2B5EF4-FFF2-40B4-BE49-F238E27FC236}">
                <a16:creationId xmlns:a16="http://schemas.microsoft.com/office/drawing/2014/main" id="{EEB0C7EE-DB44-4005-999D-4F2F903BF132}"/>
              </a:ext>
            </a:extLst>
          </p:cNvPr>
          <p:cNvSpPr txBox="1"/>
          <p:nvPr/>
        </p:nvSpPr>
        <p:spPr>
          <a:xfrm>
            <a:off x="2041562" y="1617757"/>
            <a:ext cx="6734683" cy="5693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3100" err="1">
                <a:solidFill>
                  <a:srgbClr val="0070C0"/>
                </a:solidFill>
                <a:latin typeface="Trebuchet MS" panose="020B0603020202020204" pitchFamily="34" charset="0"/>
                <a:cs typeface="Calibri"/>
              </a:rPr>
              <a:t>Developer</a:t>
            </a:r>
            <a:r>
              <a:rPr lang="es-ES" sz="3100">
                <a:solidFill>
                  <a:srgbClr val="0070C0"/>
                </a:solidFill>
                <a:latin typeface="Trebuchet MS" panose="020B0603020202020204" pitchFamily="34" charset="0"/>
                <a:cs typeface="Calibri"/>
              </a:rPr>
              <a:t> </a:t>
            </a:r>
            <a:r>
              <a:rPr lang="es-ES" sz="3100" err="1">
                <a:solidFill>
                  <a:srgbClr val="0070C0"/>
                </a:solidFill>
                <a:latin typeface="Trebuchet MS" panose="020B0603020202020204" pitchFamily="34" charset="0"/>
                <a:cs typeface="Calibri"/>
              </a:rPr>
              <a:t>loved</a:t>
            </a:r>
            <a:r>
              <a:rPr lang="es-ES" sz="3100">
                <a:solidFill>
                  <a:srgbClr val="0070C0"/>
                </a:solidFill>
                <a:latin typeface="Trebuchet MS" panose="020B0603020202020204" pitchFamily="34" charset="0"/>
                <a:cs typeface="Calibri"/>
              </a:rPr>
              <a:t>, </a:t>
            </a:r>
            <a:r>
              <a:rPr lang="es-ES" sz="3100" err="1">
                <a:solidFill>
                  <a:srgbClr val="0070C0"/>
                </a:solidFill>
                <a:latin typeface="Trebuchet MS" panose="020B0603020202020204" pitchFamily="34" charset="0"/>
                <a:cs typeface="Calibri"/>
              </a:rPr>
              <a:t>security</a:t>
            </a:r>
            <a:r>
              <a:rPr lang="es-ES" sz="3100">
                <a:solidFill>
                  <a:srgbClr val="0070C0"/>
                </a:solidFill>
                <a:latin typeface="Trebuchet MS" panose="020B0603020202020204" pitchFamily="34" charset="0"/>
                <a:cs typeface="Calibri"/>
              </a:rPr>
              <a:t> </a:t>
            </a:r>
            <a:r>
              <a:rPr lang="es-ES" sz="3100" err="1">
                <a:solidFill>
                  <a:srgbClr val="0070C0"/>
                </a:solidFill>
                <a:latin typeface="Trebuchet MS" panose="020B0603020202020204" pitchFamily="34" charset="0"/>
                <a:cs typeface="Calibri"/>
              </a:rPr>
              <a:t>trusted</a:t>
            </a:r>
            <a:endParaRPr lang="es-ES" sz="3100">
              <a:solidFill>
                <a:srgbClr val="0070C0"/>
              </a:solidFill>
              <a:latin typeface="Trebuchet MS" panose="020B0603020202020204" pitchFamily="34" charset="0"/>
              <a:cs typeface="Calibri"/>
            </a:endParaRPr>
          </a:p>
        </p:txBody>
      </p:sp>
      <p:pic>
        <p:nvPicPr>
          <p:cNvPr id="8" name="Imagen 7" descr="Icono&#10;&#10;Descripción generada automáticamente">
            <a:extLst>
              <a:ext uri="{FF2B5EF4-FFF2-40B4-BE49-F238E27FC236}">
                <a16:creationId xmlns:a16="http://schemas.microsoft.com/office/drawing/2014/main" id="{9DE70768-E88F-E1F4-DCDD-068670E6E2F0}"/>
              </a:ext>
            </a:extLst>
          </p:cNvPr>
          <p:cNvPicPr>
            <a:picLocks noChangeAspect="1"/>
          </p:cNvPicPr>
          <p:nvPr/>
        </p:nvPicPr>
        <p:blipFill>
          <a:blip r:embed="rId6"/>
          <a:stretch>
            <a:fillRect/>
          </a:stretch>
        </p:blipFill>
        <p:spPr>
          <a:xfrm>
            <a:off x="585932" y="2612414"/>
            <a:ext cx="911466" cy="890678"/>
          </a:xfrm>
          <a:prstGeom prst="rect">
            <a:avLst/>
          </a:prstGeom>
          <a:ln>
            <a:noFill/>
          </a:ln>
        </p:spPr>
      </p:pic>
      <p:pic>
        <p:nvPicPr>
          <p:cNvPr id="2" name="Imagen 1" descr="Interfaz de usuario gráfica&#10;&#10;El contenido generado por IA puede ser incorrecto.">
            <a:extLst>
              <a:ext uri="{FF2B5EF4-FFF2-40B4-BE49-F238E27FC236}">
                <a16:creationId xmlns:a16="http://schemas.microsoft.com/office/drawing/2014/main" id="{AFEA148D-EACF-E530-6095-CD97A70A22AA}"/>
              </a:ext>
            </a:extLst>
          </p:cNvPr>
          <p:cNvPicPr>
            <a:picLocks noChangeAspect="1"/>
          </p:cNvPicPr>
          <p:nvPr/>
        </p:nvPicPr>
        <p:blipFill>
          <a:blip r:embed="rId7">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355139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0417D-1345-B61B-21DA-5410557E4C7F}"/>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ED356644-6715-9F2C-ACD2-75BD29153395}"/>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2F8A664F-9B1A-0F60-4332-FBBA23751FB6}"/>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89F0AA0E-75C9-3256-E1AD-2FC99C930FBE}"/>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Snyk</a:t>
            </a:r>
            <a:r>
              <a:rPr lang="es-ES" dirty="0">
                <a:solidFill>
                  <a:schemeClr val="tx1">
                    <a:lumMod val="75000"/>
                    <a:lumOff val="25000"/>
                  </a:schemeClr>
                </a:solidFill>
              </a:rPr>
              <a:t>: Características destacadas</a:t>
            </a:r>
          </a:p>
        </p:txBody>
      </p:sp>
      <p:pic>
        <p:nvPicPr>
          <p:cNvPr id="2" name="Imagen 1" descr="Icono&#10;&#10;Descripción generada automáticamente">
            <a:extLst>
              <a:ext uri="{FF2B5EF4-FFF2-40B4-BE49-F238E27FC236}">
                <a16:creationId xmlns:a16="http://schemas.microsoft.com/office/drawing/2014/main" id="{0F067B3B-0AD8-3DF5-4682-14844042FE1A}"/>
              </a:ext>
            </a:extLst>
          </p:cNvPr>
          <p:cNvPicPr>
            <a:picLocks noChangeAspect="1"/>
          </p:cNvPicPr>
          <p:nvPr/>
        </p:nvPicPr>
        <p:blipFill>
          <a:blip r:embed="rId4"/>
          <a:stretch>
            <a:fillRect/>
          </a:stretch>
        </p:blipFill>
        <p:spPr>
          <a:xfrm>
            <a:off x="1761222" y="1577751"/>
            <a:ext cx="1035802" cy="687294"/>
          </a:xfrm>
          <a:prstGeom prst="rect">
            <a:avLst/>
          </a:prstGeom>
          <a:ln>
            <a:noFill/>
          </a:ln>
        </p:spPr>
      </p:pic>
      <p:pic>
        <p:nvPicPr>
          <p:cNvPr id="9" name="Imagen 8" descr="Icono&#10;&#10;Descripción generada automáticamente">
            <a:extLst>
              <a:ext uri="{FF2B5EF4-FFF2-40B4-BE49-F238E27FC236}">
                <a16:creationId xmlns:a16="http://schemas.microsoft.com/office/drawing/2014/main" id="{E31B7D74-5E08-A8A7-595D-6782E94E2F8F}"/>
              </a:ext>
            </a:extLst>
          </p:cNvPr>
          <p:cNvPicPr>
            <a:picLocks noChangeAspect="1"/>
          </p:cNvPicPr>
          <p:nvPr/>
        </p:nvPicPr>
        <p:blipFill>
          <a:blip r:embed="rId5"/>
          <a:stretch>
            <a:fillRect/>
          </a:stretch>
        </p:blipFill>
        <p:spPr>
          <a:xfrm>
            <a:off x="1800213" y="3889692"/>
            <a:ext cx="1032514" cy="487745"/>
          </a:xfrm>
          <a:prstGeom prst="rect">
            <a:avLst/>
          </a:prstGeom>
        </p:spPr>
      </p:pic>
      <p:sp>
        <p:nvSpPr>
          <p:cNvPr id="11" name="CuadroTexto 10">
            <a:extLst>
              <a:ext uri="{FF2B5EF4-FFF2-40B4-BE49-F238E27FC236}">
                <a16:creationId xmlns:a16="http://schemas.microsoft.com/office/drawing/2014/main" id="{FAE6762C-DFD5-824C-0568-B8AFEC839504}"/>
              </a:ext>
            </a:extLst>
          </p:cNvPr>
          <p:cNvSpPr txBox="1"/>
          <p:nvPr/>
        </p:nvSpPr>
        <p:spPr>
          <a:xfrm>
            <a:off x="2875912" y="1523837"/>
            <a:ext cx="712541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Análisis detallado de código: </a:t>
            </a:r>
            <a:r>
              <a:rPr lang="es-ES" sz="1500" err="1">
                <a:latin typeface="Trebuchet MS" panose="020B0603020202020204" pitchFamily="34" charset="0"/>
                <a:ea typeface="+mn-lt"/>
                <a:cs typeface="+mn-lt"/>
              </a:rPr>
              <a:t>Snyk</a:t>
            </a:r>
            <a:r>
              <a:rPr lang="es-ES" sz="1500">
                <a:latin typeface="Trebuchet MS" panose="020B0603020202020204" pitchFamily="34" charset="0"/>
                <a:ea typeface="+mn-lt"/>
                <a:cs typeface="+mn-lt"/>
              </a:rPr>
              <a:t> examina las bibliotecas de terceros en busca de vulnerabilidades conocidas, utilizando bases de datos actualizadas de vulnerabilidades.</a:t>
            </a:r>
            <a:endParaRPr lang="es-ES">
              <a:latin typeface="Trebuchet MS" panose="020B0603020202020204" pitchFamily="34" charset="0"/>
              <a:ea typeface="+mn-lt"/>
              <a:cs typeface="+mn-lt"/>
            </a:endParaRPr>
          </a:p>
        </p:txBody>
      </p:sp>
      <p:sp>
        <p:nvSpPr>
          <p:cNvPr id="12" name="CuadroTexto 11">
            <a:extLst>
              <a:ext uri="{FF2B5EF4-FFF2-40B4-BE49-F238E27FC236}">
                <a16:creationId xmlns:a16="http://schemas.microsoft.com/office/drawing/2014/main" id="{4832C77C-0291-E89C-510E-8C205A24861E}"/>
              </a:ext>
            </a:extLst>
          </p:cNvPr>
          <p:cNvSpPr txBox="1"/>
          <p:nvPr/>
        </p:nvSpPr>
        <p:spPr>
          <a:xfrm>
            <a:off x="2937713" y="3829645"/>
            <a:ext cx="712541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Integración con el IDE y CI/CD: </a:t>
            </a:r>
            <a:r>
              <a:rPr lang="es-ES" sz="1500" err="1">
                <a:latin typeface="Trebuchet MS" panose="020B0603020202020204" pitchFamily="34" charset="0"/>
                <a:ea typeface="+mn-lt"/>
                <a:cs typeface="+mn-lt"/>
              </a:rPr>
              <a:t>Snyk</a:t>
            </a:r>
            <a:r>
              <a:rPr lang="es-ES" sz="1500">
                <a:latin typeface="Trebuchet MS" panose="020B0603020202020204" pitchFamily="34" charset="0"/>
                <a:ea typeface="+mn-lt"/>
                <a:cs typeface="+mn-lt"/>
              </a:rPr>
              <a:t> se integra con herramientas como Visual Studio, Jenkins y GitHub, permitiendo una incorporación natural en el ciclo de vida del desarrollo de software.</a:t>
            </a:r>
            <a:endParaRPr lang="es-ES">
              <a:latin typeface="Trebuchet MS" panose="020B0603020202020204" pitchFamily="34" charset="0"/>
              <a:ea typeface="+mn-lt"/>
              <a:cs typeface="+mn-lt"/>
            </a:endParaRPr>
          </a:p>
        </p:txBody>
      </p:sp>
      <p:sp>
        <p:nvSpPr>
          <p:cNvPr id="13" name="CuadroTexto 12">
            <a:extLst>
              <a:ext uri="{FF2B5EF4-FFF2-40B4-BE49-F238E27FC236}">
                <a16:creationId xmlns:a16="http://schemas.microsoft.com/office/drawing/2014/main" id="{06676F0B-E304-ABD7-E7F4-532D177A0F9E}"/>
              </a:ext>
            </a:extLst>
          </p:cNvPr>
          <p:cNvSpPr txBox="1"/>
          <p:nvPr/>
        </p:nvSpPr>
        <p:spPr>
          <a:xfrm>
            <a:off x="2870531" y="2816330"/>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mn-lt"/>
                <a:cs typeface="+mn-lt"/>
              </a:rPr>
              <a:t>Ofrece </a:t>
            </a:r>
            <a:r>
              <a:rPr lang="es-ES" sz="1500" b="1" dirty="0">
                <a:latin typeface="Trebuchet MS" panose="020B0603020202020204" pitchFamily="34" charset="0"/>
                <a:ea typeface="+mn-lt"/>
                <a:cs typeface="+mn-lt"/>
              </a:rPr>
              <a:t>correcciones automáticas</a:t>
            </a:r>
            <a:r>
              <a:rPr lang="es-ES" sz="1500" dirty="0">
                <a:latin typeface="Trebuchet MS" panose="020B0603020202020204" pitchFamily="34" charset="0"/>
                <a:ea typeface="+mn-lt"/>
                <a:cs typeface="+mn-lt"/>
              </a:rPr>
              <a:t> y recomendaciones de mitigación para vulnerabilidades identificadas, facilitando su resolución.</a:t>
            </a:r>
            <a:endParaRPr lang="es-ES" dirty="0">
              <a:latin typeface="Trebuchet MS" panose="020B0603020202020204" pitchFamily="34" charset="0"/>
              <a:ea typeface="+mn-lt"/>
              <a:cs typeface="+mn-lt"/>
            </a:endParaRPr>
          </a:p>
        </p:txBody>
      </p:sp>
      <p:sp>
        <p:nvSpPr>
          <p:cNvPr id="14" name="CuadroTexto 13">
            <a:extLst>
              <a:ext uri="{FF2B5EF4-FFF2-40B4-BE49-F238E27FC236}">
                <a16:creationId xmlns:a16="http://schemas.microsoft.com/office/drawing/2014/main" id="{F4607CBE-E8FA-87DC-40BA-F231817A15EB}"/>
              </a:ext>
            </a:extLst>
          </p:cNvPr>
          <p:cNvSpPr txBox="1"/>
          <p:nvPr/>
        </p:nvSpPr>
        <p:spPr>
          <a:xfrm>
            <a:off x="2875467" y="4967036"/>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Monitorización continua:</a:t>
            </a:r>
            <a:r>
              <a:rPr lang="es-ES" sz="1500">
                <a:latin typeface="Trebuchet MS" panose="020B0603020202020204" pitchFamily="34" charset="0"/>
                <a:ea typeface="+mn-lt"/>
                <a:cs typeface="+mn-lt"/>
              </a:rPr>
              <a:t> Vigila las dependencias de proyectos .NET para detectar nuevas vulnerabilidades a medida que se descubren.</a:t>
            </a:r>
            <a:endParaRPr lang="es-ES">
              <a:latin typeface="Trebuchet MS" panose="020B0603020202020204" pitchFamily="34" charset="0"/>
              <a:ea typeface="+mn-lt"/>
              <a:cs typeface="+mn-lt"/>
            </a:endParaRPr>
          </a:p>
        </p:txBody>
      </p:sp>
      <p:pic>
        <p:nvPicPr>
          <p:cNvPr id="15" name="Imagen 14" descr="Icono&#10;&#10;Descripción generada automáticamente">
            <a:extLst>
              <a:ext uri="{FF2B5EF4-FFF2-40B4-BE49-F238E27FC236}">
                <a16:creationId xmlns:a16="http://schemas.microsoft.com/office/drawing/2014/main" id="{4F9240B6-128C-81D2-92C8-C5B99392ADC9}"/>
              </a:ext>
            </a:extLst>
          </p:cNvPr>
          <p:cNvPicPr>
            <a:picLocks noChangeAspect="1"/>
          </p:cNvPicPr>
          <p:nvPr/>
        </p:nvPicPr>
        <p:blipFill>
          <a:blip r:embed="rId6"/>
          <a:stretch>
            <a:fillRect/>
          </a:stretch>
        </p:blipFill>
        <p:spPr>
          <a:xfrm>
            <a:off x="1870109" y="2721918"/>
            <a:ext cx="807948" cy="745768"/>
          </a:xfrm>
          <a:prstGeom prst="rect">
            <a:avLst/>
          </a:prstGeom>
          <a:ln>
            <a:noFill/>
          </a:ln>
        </p:spPr>
      </p:pic>
      <p:pic>
        <p:nvPicPr>
          <p:cNvPr id="16" name="Imagen 15" descr="Icono&#10;&#10;Descripción generada automáticamente">
            <a:extLst>
              <a:ext uri="{FF2B5EF4-FFF2-40B4-BE49-F238E27FC236}">
                <a16:creationId xmlns:a16="http://schemas.microsoft.com/office/drawing/2014/main" id="{82EE2578-CB71-FF00-B8BD-BFBE5DFAAF43}"/>
              </a:ext>
            </a:extLst>
          </p:cNvPr>
          <p:cNvPicPr>
            <a:picLocks noChangeAspect="1"/>
          </p:cNvPicPr>
          <p:nvPr/>
        </p:nvPicPr>
        <p:blipFill>
          <a:blip r:embed="rId7"/>
          <a:stretch>
            <a:fillRect/>
          </a:stretch>
        </p:blipFill>
        <p:spPr>
          <a:xfrm>
            <a:off x="1994195" y="4851946"/>
            <a:ext cx="637143" cy="668136"/>
          </a:xfrm>
          <a:prstGeom prst="rect">
            <a:avLst/>
          </a:prstGeom>
          <a:ln>
            <a:noFill/>
          </a:ln>
        </p:spPr>
      </p:pic>
      <p:pic>
        <p:nvPicPr>
          <p:cNvPr id="3" name="Imagen 2" descr="Interfaz de usuario gráfica&#10;&#10;El contenido generado por IA puede ser incorrecto.">
            <a:extLst>
              <a:ext uri="{FF2B5EF4-FFF2-40B4-BE49-F238E27FC236}">
                <a16:creationId xmlns:a16="http://schemas.microsoft.com/office/drawing/2014/main" id="{3744693C-F64E-10AE-5B9A-DB9F8F7FA937}"/>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1864562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D2181-496A-3BF1-9D92-35005D2F66B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7FDEBB8B-EFD5-4550-626A-6CCCF944DB8B}"/>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22D80C69-4C92-D9A1-D5CC-C8AFD9BAA7BA}"/>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4A72F24E-FAD7-B42E-B380-C319B838E9F1}"/>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Snyk</a:t>
            </a:r>
            <a:r>
              <a:rPr lang="es-ES" dirty="0">
                <a:solidFill>
                  <a:schemeClr val="tx1">
                    <a:lumMod val="75000"/>
                    <a:lumOff val="25000"/>
                  </a:schemeClr>
                </a:solidFill>
              </a:rPr>
              <a:t>: Instalación</a:t>
            </a:r>
          </a:p>
        </p:txBody>
      </p:sp>
      <p:sp>
        <p:nvSpPr>
          <p:cNvPr id="3" name="CuadroTexto 2">
            <a:extLst>
              <a:ext uri="{FF2B5EF4-FFF2-40B4-BE49-F238E27FC236}">
                <a16:creationId xmlns:a16="http://schemas.microsoft.com/office/drawing/2014/main" id="{A23D21F1-444A-C4E7-FD54-839F14E9C937}"/>
              </a:ext>
            </a:extLst>
          </p:cNvPr>
          <p:cNvSpPr txBox="1"/>
          <p:nvPr/>
        </p:nvSpPr>
        <p:spPr>
          <a:xfrm>
            <a:off x="2332324" y="2222126"/>
            <a:ext cx="830552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ea typeface="+mn-lt"/>
                <a:cs typeface="+mn-lt"/>
              </a:rPr>
              <a:t>Navega a </a:t>
            </a:r>
            <a:r>
              <a:rPr lang="es-ES" sz="1500">
                <a:latin typeface="Trebuchet MS" panose="020B0603020202020204" pitchFamily="34" charset="0"/>
                <a:ea typeface="+mn-lt"/>
                <a:cs typeface="+mn-lt"/>
                <a:hlinkClick r:id="rId4"/>
              </a:rPr>
              <a:t>https://snyk.io/</a:t>
            </a:r>
            <a:r>
              <a:rPr lang="es-ES" sz="1500">
                <a:latin typeface="Trebuchet MS" panose="020B0603020202020204" pitchFamily="34" charset="0"/>
                <a:ea typeface="+mn-lt"/>
                <a:cs typeface="+mn-lt"/>
              </a:rPr>
              <a:t> , baja hasta </a:t>
            </a:r>
            <a:r>
              <a:rPr lang="es-ES" sz="1500" err="1">
                <a:latin typeface="Trebuchet MS" panose="020B0603020202020204" pitchFamily="34" charset="0"/>
                <a:ea typeface="+mn-lt"/>
                <a:cs typeface="+mn-lt"/>
              </a:rPr>
              <a:t>Start</a:t>
            </a:r>
            <a:r>
              <a:rPr lang="es-ES" sz="1500">
                <a:latin typeface="Trebuchet MS" panose="020B0603020202020204" pitchFamily="34" charset="0"/>
                <a:ea typeface="+mn-lt"/>
                <a:cs typeface="+mn-lt"/>
              </a:rPr>
              <a:t> free </a:t>
            </a:r>
            <a:r>
              <a:rPr lang="es-ES" sz="1500" err="1">
                <a:latin typeface="Trebuchet MS" panose="020B0603020202020204" pitchFamily="34" charset="0"/>
                <a:ea typeface="+mn-lt"/>
                <a:cs typeface="+mn-lt"/>
              </a:rPr>
              <a:t>with</a:t>
            </a:r>
            <a:r>
              <a:rPr lang="es-ES" sz="1500">
                <a:latin typeface="Trebuchet MS" panose="020B0603020202020204" pitchFamily="34" charset="0"/>
                <a:ea typeface="+mn-lt"/>
                <a:cs typeface="+mn-lt"/>
              </a:rPr>
              <a:t> Google, </a:t>
            </a:r>
            <a:r>
              <a:rPr lang="es-ES" sz="1500" err="1">
                <a:latin typeface="Trebuchet MS" panose="020B0603020202020204" pitchFamily="34" charset="0"/>
                <a:ea typeface="+mn-lt"/>
                <a:cs typeface="+mn-lt"/>
              </a:rPr>
              <a:t>logeate</a:t>
            </a:r>
            <a:r>
              <a:rPr lang="es-ES" sz="1500">
                <a:latin typeface="Trebuchet MS" panose="020B0603020202020204" pitchFamily="34" charset="0"/>
                <a:ea typeface="+mn-lt"/>
                <a:cs typeface="+mn-lt"/>
              </a:rPr>
              <a:t> y dale a continuar hasta que llegues al </a:t>
            </a:r>
            <a:r>
              <a:rPr lang="es-ES" sz="1500" err="1">
                <a:latin typeface="Trebuchet MS" panose="020B0603020202020204" pitchFamily="34" charset="0"/>
                <a:ea typeface="+mn-lt"/>
                <a:cs typeface="+mn-lt"/>
              </a:rPr>
              <a:t>dashboard</a:t>
            </a:r>
            <a:endParaRPr lang="es-ES" sz="1500" err="1">
              <a:latin typeface="Trebuchet MS" panose="020B0603020202020204" pitchFamily="34" charset="0"/>
              <a:ea typeface="Calibri"/>
              <a:cs typeface="Calibri"/>
            </a:endParaRPr>
          </a:p>
        </p:txBody>
      </p:sp>
      <p:sp>
        <p:nvSpPr>
          <p:cNvPr id="4" name="CuadroTexto 3">
            <a:extLst>
              <a:ext uri="{FF2B5EF4-FFF2-40B4-BE49-F238E27FC236}">
                <a16:creationId xmlns:a16="http://schemas.microsoft.com/office/drawing/2014/main" id="{90D0EF03-C64B-CF2B-6AFB-88AB7A718F7C}"/>
              </a:ext>
            </a:extLst>
          </p:cNvPr>
          <p:cNvSpPr txBox="1"/>
          <p:nvPr/>
        </p:nvSpPr>
        <p:spPr>
          <a:xfrm>
            <a:off x="2378614" y="1203644"/>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err="1">
                <a:latin typeface="Trebuchet MS" panose="020B0603020202020204" pitchFamily="34" charset="0"/>
                <a:ea typeface="+mn-lt"/>
                <a:cs typeface="+mn-lt"/>
              </a:rPr>
              <a:t>Snyk</a:t>
            </a:r>
            <a:r>
              <a:rPr lang="es-ES" sz="1500">
                <a:latin typeface="Trebuchet MS" panose="020B0603020202020204" pitchFamily="34" charset="0"/>
                <a:ea typeface="+mn-lt"/>
                <a:cs typeface="+mn-lt"/>
              </a:rPr>
              <a:t> requiere registro para el token. Hay diferentes métodos, nosotros recomendamos una cuenta de </a:t>
            </a:r>
            <a:r>
              <a:rPr lang="es-ES" sz="1500" err="1">
                <a:latin typeface="Trebuchet MS" panose="020B0603020202020204" pitchFamily="34" charset="0"/>
                <a:ea typeface="+mn-lt"/>
                <a:cs typeface="+mn-lt"/>
              </a:rPr>
              <a:t>google</a:t>
            </a:r>
            <a:r>
              <a:rPr lang="es-ES" sz="1500">
                <a:latin typeface="Trebuchet MS" panose="020B0603020202020204" pitchFamily="34" charset="0"/>
                <a:ea typeface="+mn-lt"/>
                <a:cs typeface="+mn-lt"/>
              </a:rPr>
              <a:t> de uso específico.</a:t>
            </a:r>
            <a:endParaRPr lang="es-ES" sz="1500">
              <a:latin typeface="Trebuchet MS" panose="020B0603020202020204" pitchFamily="34" charset="0"/>
              <a:ea typeface="Calibri"/>
              <a:cs typeface="Calibri"/>
            </a:endParaRPr>
          </a:p>
        </p:txBody>
      </p:sp>
      <p:sp>
        <p:nvSpPr>
          <p:cNvPr id="6" name="CuadroTexto 5">
            <a:extLst>
              <a:ext uri="{FF2B5EF4-FFF2-40B4-BE49-F238E27FC236}">
                <a16:creationId xmlns:a16="http://schemas.microsoft.com/office/drawing/2014/main" id="{EACA80B4-1E24-2BAD-CEF6-EAA22A65482C}"/>
              </a:ext>
            </a:extLst>
          </p:cNvPr>
          <p:cNvSpPr txBox="1"/>
          <p:nvPr/>
        </p:nvSpPr>
        <p:spPr>
          <a:xfrm>
            <a:off x="2383818" y="3323330"/>
            <a:ext cx="7125416"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ea typeface="Calibri"/>
                <a:cs typeface="Calibri"/>
              </a:rPr>
              <a:t>En el </a:t>
            </a:r>
            <a:r>
              <a:rPr lang="es-ES" sz="1500" err="1">
                <a:latin typeface="Trebuchet MS" panose="020B0603020202020204" pitchFamily="34" charset="0"/>
                <a:ea typeface="Calibri"/>
                <a:cs typeface="Calibri"/>
              </a:rPr>
              <a:t>dashboard</a:t>
            </a:r>
            <a:r>
              <a:rPr lang="es-ES" sz="1500">
                <a:latin typeface="Trebuchet MS" panose="020B0603020202020204" pitchFamily="34" charset="0"/>
                <a:ea typeface="Calibri"/>
                <a:cs typeface="Calibri"/>
              </a:rPr>
              <a:t> ve a </a:t>
            </a:r>
            <a:r>
              <a:rPr lang="es-ES" sz="1500" err="1">
                <a:latin typeface="Trebuchet MS" panose="020B0603020202020204" pitchFamily="34" charset="0"/>
                <a:ea typeface="Calibri"/>
                <a:cs typeface="Calibri"/>
              </a:rPr>
              <a:t>settings</a:t>
            </a:r>
            <a:r>
              <a:rPr lang="es-ES" sz="1500">
                <a:latin typeface="Trebuchet MS" panose="020B0603020202020204" pitchFamily="34" charset="0"/>
                <a:ea typeface="Calibri"/>
                <a:cs typeface="Calibri"/>
              </a:rPr>
              <a:t> &gt; </a:t>
            </a:r>
            <a:r>
              <a:rPr lang="es-ES" sz="1500" err="1">
                <a:latin typeface="Trebuchet MS" panose="020B0603020202020204" pitchFamily="34" charset="0"/>
                <a:ea typeface="Calibri"/>
                <a:cs typeface="Calibri"/>
              </a:rPr>
              <a:t>Snyk</a:t>
            </a:r>
            <a:r>
              <a:rPr lang="es-ES" sz="1500">
                <a:latin typeface="Trebuchet MS" panose="020B0603020202020204" pitchFamily="34" charset="0"/>
                <a:ea typeface="Calibri"/>
                <a:cs typeface="Calibri"/>
              </a:rPr>
              <a:t> </a:t>
            </a:r>
            <a:r>
              <a:rPr lang="es-ES" sz="1500" err="1">
                <a:latin typeface="Trebuchet MS" panose="020B0603020202020204" pitchFamily="34" charset="0"/>
                <a:ea typeface="Calibri"/>
                <a:cs typeface="Calibri"/>
              </a:rPr>
              <a:t>Code</a:t>
            </a:r>
            <a:r>
              <a:rPr lang="es-ES" sz="1500">
                <a:latin typeface="Trebuchet MS" panose="020B0603020202020204" pitchFamily="34" charset="0"/>
                <a:ea typeface="Calibri"/>
                <a:cs typeface="Calibri"/>
              </a:rPr>
              <a:t> &gt; </a:t>
            </a:r>
            <a:r>
              <a:rPr lang="es-ES" sz="1500" err="1">
                <a:latin typeface="Trebuchet MS" panose="020B0603020202020204" pitchFamily="34" charset="0"/>
                <a:ea typeface="Calibri"/>
                <a:cs typeface="Calibri"/>
              </a:rPr>
              <a:t>Enable</a:t>
            </a:r>
            <a:r>
              <a:rPr lang="es-ES" sz="1500">
                <a:latin typeface="Trebuchet MS" panose="020B0603020202020204" pitchFamily="34" charset="0"/>
                <a:ea typeface="Calibri"/>
                <a:cs typeface="Calibri"/>
              </a:rPr>
              <a:t> </a:t>
            </a:r>
            <a:r>
              <a:rPr lang="es-ES" sz="1500" err="1">
                <a:latin typeface="Trebuchet MS" panose="020B0603020202020204" pitchFamily="34" charset="0"/>
                <a:ea typeface="Calibri"/>
                <a:cs typeface="Calibri"/>
              </a:rPr>
              <a:t>Snyk</a:t>
            </a:r>
            <a:r>
              <a:rPr lang="es-ES" sz="1500">
                <a:latin typeface="Trebuchet MS" panose="020B0603020202020204" pitchFamily="34" charset="0"/>
                <a:ea typeface="Calibri"/>
                <a:cs typeface="Calibri"/>
              </a:rPr>
              <a:t> </a:t>
            </a:r>
            <a:r>
              <a:rPr lang="es-ES" sz="1500" err="1">
                <a:latin typeface="Trebuchet MS" panose="020B0603020202020204" pitchFamily="34" charset="0"/>
                <a:ea typeface="Calibri"/>
                <a:cs typeface="Calibri"/>
              </a:rPr>
              <a:t>Code</a:t>
            </a:r>
          </a:p>
        </p:txBody>
      </p:sp>
      <p:pic>
        <p:nvPicPr>
          <p:cNvPr id="7" name="Imagen 6" descr="Icono&#10;&#10;Descripción generada automáticamente">
            <a:extLst>
              <a:ext uri="{FF2B5EF4-FFF2-40B4-BE49-F238E27FC236}">
                <a16:creationId xmlns:a16="http://schemas.microsoft.com/office/drawing/2014/main" id="{4925E986-E428-EDDA-BA19-3FB0836E7579}"/>
              </a:ext>
            </a:extLst>
          </p:cNvPr>
          <p:cNvPicPr>
            <a:picLocks noChangeAspect="1"/>
          </p:cNvPicPr>
          <p:nvPr/>
        </p:nvPicPr>
        <p:blipFill>
          <a:blip r:embed="rId5"/>
          <a:stretch>
            <a:fillRect/>
          </a:stretch>
        </p:blipFill>
        <p:spPr>
          <a:xfrm>
            <a:off x="1466117" y="2158713"/>
            <a:ext cx="678552" cy="683662"/>
          </a:xfrm>
          <a:prstGeom prst="rect">
            <a:avLst/>
          </a:prstGeom>
        </p:spPr>
      </p:pic>
      <p:pic>
        <p:nvPicPr>
          <p:cNvPr id="8" name="Imagen 7" descr="Imagen que contiene Icono&#10;&#10;Descripción generada automáticamente">
            <a:extLst>
              <a:ext uri="{FF2B5EF4-FFF2-40B4-BE49-F238E27FC236}">
                <a16:creationId xmlns:a16="http://schemas.microsoft.com/office/drawing/2014/main" id="{3E9F846D-1659-DBEB-5863-1C6B32CDE253}"/>
              </a:ext>
            </a:extLst>
          </p:cNvPr>
          <p:cNvPicPr>
            <a:picLocks noChangeAspect="1"/>
          </p:cNvPicPr>
          <p:nvPr/>
        </p:nvPicPr>
        <p:blipFill>
          <a:blip r:embed="rId6"/>
          <a:stretch>
            <a:fillRect/>
          </a:stretch>
        </p:blipFill>
        <p:spPr>
          <a:xfrm>
            <a:off x="1450645" y="4247349"/>
            <a:ext cx="678553" cy="735418"/>
          </a:xfrm>
          <a:prstGeom prst="rect">
            <a:avLst/>
          </a:prstGeom>
          <a:ln>
            <a:noFill/>
          </a:ln>
        </p:spPr>
      </p:pic>
      <p:pic>
        <p:nvPicPr>
          <p:cNvPr id="17" name="Imagen 16" descr="Icono&#10;&#10;Descripción generada automáticamente">
            <a:extLst>
              <a:ext uri="{FF2B5EF4-FFF2-40B4-BE49-F238E27FC236}">
                <a16:creationId xmlns:a16="http://schemas.microsoft.com/office/drawing/2014/main" id="{D3833EFD-3675-1531-629D-B71D87D2D219}"/>
              </a:ext>
            </a:extLst>
          </p:cNvPr>
          <p:cNvPicPr>
            <a:picLocks noChangeAspect="1"/>
          </p:cNvPicPr>
          <p:nvPr/>
        </p:nvPicPr>
        <p:blipFill>
          <a:blip r:embed="rId7"/>
          <a:stretch>
            <a:fillRect/>
          </a:stretch>
        </p:blipFill>
        <p:spPr>
          <a:xfrm>
            <a:off x="1466114" y="1104035"/>
            <a:ext cx="740662" cy="750944"/>
          </a:xfrm>
          <a:prstGeom prst="rect">
            <a:avLst/>
          </a:prstGeom>
          <a:ln>
            <a:noFill/>
          </a:ln>
        </p:spPr>
      </p:pic>
      <p:pic>
        <p:nvPicPr>
          <p:cNvPr id="19" name="Imagen 18" descr="Imagen que contiene tarjeta de presentación, estacionaria, dibujo&#10;&#10;Descripción generada automáticamente">
            <a:extLst>
              <a:ext uri="{FF2B5EF4-FFF2-40B4-BE49-F238E27FC236}">
                <a16:creationId xmlns:a16="http://schemas.microsoft.com/office/drawing/2014/main" id="{3E5DE6BB-5FDF-C589-7289-145B45070088}"/>
              </a:ext>
            </a:extLst>
          </p:cNvPr>
          <p:cNvPicPr>
            <a:picLocks noChangeAspect="1"/>
          </p:cNvPicPr>
          <p:nvPr/>
        </p:nvPicPr>
        <p:blipFill>
          <a:blip r:embed="rId8"/>
          <a:stretch>
            <a:fillRect/>
          </a:stretch>
        </p:blipFill>
        <p:spPr>
          <a:xfrm>
            <a:off x="1507514" y="3239259"/>
            <a:ext cx="569858" cy="574979"/>
          </a:xfrm>
          <a:prstGeom prst="rect">
            <a:avLst/>
          </a:prstGeom>
          <a:ln>
            <a:noFill/>
          </a:ln>
        </p:spPr>
      </p:pic>
      <p:sp>
        <p:nvSpPr>
          <p:cNvPr id="21" name="CuadroTexto 20">
            <a:extLst>
              <a:ext uri="{FF2B5EF4-FFF2-40B4-BE49-F238E27FC236}">
                <a16:creationId xmlns:a16="http://schemas.microsoft.com/office/drawing/2014/main" id="{0C30B044-CBFE-DAEE-9B5B-6BE4533CD595}"/>
              </a:ext>
            </a:extLst>
          </p:cNvPr>
          <p:cNvSpPr txBox="1"/>
          <p:nvPr/>
        </p:nvSpPr>
        <p:spPr>
          <a:xfrm>
            <a:off x="2377422" y="4337831"/>
            <a:ext cx="745431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rPr>
              <a:t>Descarga de </a:t>
            </a:r>
            <a:r>
              <a:rPr lang="es-ES" sz="1500" err="1">
                <a:latin typeface="Trebuchet MS" panose="020B0603020202020204" pitchFamily="34" charset="0"/>
              </a:rPr>
              <a:t>Integrations</a:t>
            </a:r>
            <a:r>
              <a:rPr lang="es-ES" sz="1500">
                <a:latin typeface="Trebuchet MS" panose="020B0603020202020204" pitchFamily="34" charset="0"/>
              </a:rPr>
              <a:t> &gt; IDE </a:t>
            </a:r>
            <a:r>
              <a:rPr lang="es-ES" sz="1500" err="1">
                <a:latin typeface="Trebuchet MS" panose="020B0603020202020204" pitchFamily="34" charset="0"/>
              </a:rPr>
              <a:t>plugins</a:t>
            </a:r>
            <a:r>
              <a:rPr lang="es-ES" sz="1500">
                <a:latin typeface="Trebuchet MS" panose="020B0603020202020204" pitchFamily="34" charset="0"/>
              </a:rPr>
              <a:t> &gt; Visual Studio/ Visual Studio 22 e instálalo.</a:t>
            </a:r>
          </a:p>
        </p:txBody>
      </p:sp>
      <p:sp>
        <p:nvSpPr>
          <p:cNvPr id="22" name="CuadroTexto 21">
            <a:extLst>
              <a:ext uri="{FF2B5EF4-FFF2-40B4-BE49-F238E27FC236}">
                <a16:creationId xmlns:a16="http://schemas.microsoft.com/office/drawing/2014/main" id="{2A1D3F61-DA5D-B35C-E5DF-573851EF2F85}"/>
              </a:ext>
            </a:extLst>
          </p:cNvPr>
          <p:cNvSpPr txBox="1"/>
          <p:nvPr/>
        </p:nvSpPr>
        <p:spPr>
          <a:xfrm>
            <a:off x="2382395" y="5366654"/>
            <a:ext cx="745431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rPr>
              <a:t>Verás </a:t>
            </a:r>
            <a:r>
              <a:rPr lang="es-ES" sz="1500" err="1">
                <a:latin typeface="Trebuchet MS" panose="020B0603020202020204" pitchFamily="34" charset="0"/>
              </a:rPr>
              <a:t>Snyk</a:t>
            </a:r>
            <a:r>
              <a:rPr lang="es-ES" sz="1500">
                <a:latin typeface="Trebuchet MS" panose="020B0603020202020204" pitchFamily="34" charset="0"/>
              </a:rPr>
              <a:t> en la pestaña de "</a:t>
            </a:r>
            <a:r>
              <a:rPr lang="es-ES" sz="1500" err="1">
                <a:latin typeface="Trebuchet MS" panose="020B0603020202020204" pitchFamily="34" charset="0"/>
              </a:rPr>
              <a:t>Extensions</a:t>
            </a:r>
            <a:r>
              <a:rPr lang="es-ES" sz="1500">
                <a:latin typeface="Trebuchet MS" panose="020B0603020202020204" pitchFamily="34" charset="0"/>
              </a:rPr>
              <a:t>" en tu IDE</a:t>
            </a:r>
          </a:p>
        </p:txBody>
      </p:sp>
      <p:pic>
        <p:nvPicPr>
          <p:cNvPr id="2" name="Imagen 1" descr="Interfaz de usuario gráfica&#10;&#10;El contenido generado por IA puede ser incorrecto.">
            <a:extLst>
              <a:ext uri="{FF2B5EF4-FFF2-40B4-BE49-F238E27FC236}">
                <a16:creationId xmlns:a16="http://schemas.microsoft.com/office/drawing/2014/main" id="{57BD84CA-398F-F683-10B9-4054ECB25B59}"/>
              </a:ext>
            </a:extLst>
          </p:cNvPr>
          <p:cNvPicPr>
            <a:picLocks noChangeAspect="1"/>
          </p:cNvPicPr>
          <p:nvPr/>
        </p:nvPicPr>
        <p:blipFill>
          <a:blip r:embed="rId9">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565349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0F6A7-5752-E506-1047-5C758AE6352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84DB9928-F681-FFAC-A62A-E5D006008E6C}"/>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76FD5C40-7A4A-77DB-E3C9-382335AE1F35}"/>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17250C38-3E82-B181-710E-F6666521D62E}"/>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Snyk</a:t>
            </a:r>
            <a:r>
              <a:rPr lang="es-ES" dirty="0">
                <a:solidFill>
                  <a:schemeClr val="tx1">
                    <a:lumMod val="75000"/>
                    <a:lumOff val="25000"/>
                  </a:schemeClr>
                </a:solidFill>
              </a:rPr>
              <a:t>: Prueba</a:t>
            </a:r>
          </a:p>
        </p:txBody>
      </p:sp>
      <p:pic>
        <p:nvPicPr>
          <p:cNvPr id="2" name="Imagen 1" descr="Texto&#10;&#10;Descripción generada automáticamente">
            <a:extLst>
              <a:ext uri="{FF2B5EF4-FFF2-40B4-BE49-F238E27FC236}">
                <a16:creationId xmlns:a16="http://schemas.microsoft.com/office/drawing/2014/main" id="{560E79E6-419D-91BD-41B5-D1209EC15E51}"/>
              </a:ext>
            </a:extLst>
          </p:cNvPr>
          <p:cNvPicPr>
            <a:picLocks noChangeAspect="1"/>
          </p:cNvPicPr>
          <p:nvPr/>
        </p:nvPicPr>
        <p:blipFill>
          <a:blip r:embed="rId4"/>
          <a:stretch>
            <a:fillRect/>
          </a:stretch>
        </p:blipFill>
        <p:spPr>
          <a:xfrm>
            <a:off x="2435343" y="901064"/>
            <a:ext cx="7321314" cy="5110005"/>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77D1AF8E-35DA-D65F-5E35-6A694FCAD417}"/>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187262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74B38-5602-B037-45CC-ABF78CCE4253}"/>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EA61EB6-7D0D-5584-3256-9A3834282FC9}"/>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81EB86AF-1E47-535F-6F80-7B639D49E6C7}"/>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94DAFCDB-0396-7050-6B43-DFDBDEC6C650}"/>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Security </a:t>
            </a:r>
            <a:r>
              <a:rPr lang="es-ES" dirty="0" err="1">
                <a:solidFill>
                  <a:schemeClr val="tx1">
                    <a:lumMod val="75000"/>
                    <a:lumOff val="25000"/>
                  </a:schemeClr>
                </a:solidFill>
              </a:rPr>
              <a:t>Code</a:t>
            </a:r>
            <a:r>
              <a:rPr lang="es-ES" dirty="0">
                <a:solidFill>
                  <a:schemeClr val="tx1">
                    <a:lumMod val="75000"/>
                    <a:lumOff val="25000"/>
                  </a:schemeClr>
                </a:solidFill>
              </a:rPr>
              <a:t> </a:t>
            </a:r>
            <a:r>
              <a:rPr lang="es-ES" dirty="0" err="1">
                <a:solidFill>
                  <a:schemeClr val="tx1">
                    <a:lumMod val="75000"/>
                    <a:lumOff val="25000"/>
                  </a:schemeClr>
                </a:solidFill>
              </a:rPr>
              <a:t>Scan</a:t>
            </a:r>
            <a:r>
              <a:rPr lang="es-ES" dirty="0">
                <a:solidFill>
                  <a:schemeClr val="tx1">
                    <a:lumMod val="75000"/>
                    <a:lumOff val="25000"/>
                  </a:schemeClr>
                </a:solidFill>
              </a:rPr>
              <a:t>: Reforzando la seguridad en .NET</a:t>
            </a:r>
          </a:p>
        </p:txBody>
      </p:sp>
      <p:sp>
        <p:nvSpPr>
          <p:cNvPr id="3" name="CuadroTexto 2">
            <a:extLst>
              <a:ext uri="{FF2B5EF4-FFF2-40B4-BE49-F238E27FC236}">
                <a16:creationId xmlns:a16="http://schemas.microsoft.com/office/drawing/2014/main" id="{9DA40D2C-9E22-FBCD-9550-D4145BEA5EC0}"/>
              </a:ext>
            </a:extLst>
          </p:cNvPr>
          <p:cNvSpPr txBox="1"/>
          <p:nvPr/>
        </p:nvSpPr>
        <p:spPr>
          <a:xfrm>
            <a:off x="2318203" y="3259577"/>
            <a:ext cx="8428061"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mn-lt"/>
                <a:cs typeface="+mn-lt"/>
              </a:rPr>
              <a:t> Es una herramienta de análisis de seguridad estático (SAST) para proyectos .NET, que permite identificar vulnerabilidades de seguridad y malas prácticas de codificación directamente en el código fuente. </a:t>
            </a:r>
          </a:p>
        </p:txBody>
      </p:sp>
      <p:sp>
        <p:nvSpPr>
          <p:cNvPr id="4" name="CuadroTexto 3">
            <a:extLst>
              <a:ext uri="{FF2B5EF4-FFF2-40B4-BE49-F238E27FC236}">
                <a16:creationId xmlns:a16="http://schemas.microsoft.com/office/drawing/2014/main" id="{9F2CF4E1-BEF7-7855-233B-6B7FECE7476E}"/>
              </a:ext>
            </a:extLst>
          </p:cNvPr>
          <p:cNvSpPr txBox="1"/>
          <p:nvPr/>
        </p:nvSpPr>
        <p:spPr>
          <a:xfrm>
            <a:off x="2388392" y="4604616"/>
            <a:ext cx="8357873"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solidFill>
                  <a:srgbClr val="595959"/>
                </a:solidFill>
                <a:latin typeface="Trebuchet MS" panose="020B0603020202020204" pitchFamily="34" charset="0"/>
              </a:rPr>
              <a:t>Característica </a:t>
            </a:r>
            <a:r>
              <a:rPr lang="es-ES" sz="1500" b="1" baseline="0">
                <a:solidFill>
                  <a:srgbClr val="595959"/>
                </a:solidFill>
                <a:latin typeface="Trebuchet MS" panose="020B0603020202020204" pitchFamily="34" charset="0"/>
              </a:rPr>
              <a:t>clave:</a:t>
            </a:r>
            <a:r>
              <a:rPr lang="es-ES" sz="1500" b="1">
                <a:solidFill>
                  <a:srgbClr val="595959"/>
                </a:solidFill>
                <a:latin typeface="Trebuchet MS" panose="020B0603020202020204" pitchFamily="34" charset="0"/>
              </a:rPr>
              <a:t> </a:t>
            </a:r>
            <a:endParaRPr lang="es-ES">
              <a:solidFill>
                <a:srgbClr val="595959"/>
              </a:solidFill>
              <a:latin typeface="Trebuchet MS" panose="020B0603020202020204" pitchFamily="34" charset="0"/>
              <a:cs typeface="Calibri"/>
            </a:endParaRPr>
          </a:p>
          <a:p>
            <a:r>
              <a:rPr lang="es-ES" sz="1500">
                <a:latin typeface="Trebuchet MS" panose="020B0603020202020204" pitchFamily="34" charset="0"/>
                <a:ea typeface="+mn-lt"/>
                <a:cs typeface="+mn-lt"/>
              </a:rPr>
              <a:t>Esta herramienta destaca por su capacidad de integración directa con el entorno de desarrollo Visual Studio, así como su compatibilidad con proyectos .NET Core y Framework. Ofrece</a:t>
            </a:r>
            <a:r>
              <a:rPr lang="es-ES" sz="1500" baseline="0">
                <a:latin typeface="Trebuchet MS" panose="020B0603020202020204" pitchFamily="34" charset="0"/>
                <a:ea typeface="+mn-lt"/>
                <a:cs typeface="+mn-lt"/>
              </a:rPr>
              <a:t> una </a:t>
            </a:r>
            <a:r>
              <a:rPr lang="es-ES" sz="1500">
                <a:latin typeface="Trebuchet MS" panose="020B0603020202020204" pitchFamily="34" charset="0"/>
                <a:ea typeface="+mn-lt"/>
                <a:cs typeface="+mn-lt"/>
              </a:rPr>
              <a:t>amplia gama de reglas </a:t>
            </a:r>
            <a:r>
              <a:rPr lang="es-ES" sz="1500" baseline="0">
                <a:latin typeface="Trebuchet MS" panose="020B0603020202020204" pitchFamily="34" charset="0"/>
                <a:ea typeface="+mn-lt"/>
                <a:cs typeface="+mn-lt"/>
              </a:rPr>
              <a:t>de</a:t>
            </a:r>
            <a:r>
              <a:rPr lang="es-ES" sz="1500">
                <a:latin typeface="Trebuchet MS" panose="020B0603020202020204" pitchFamily="34" charset="0"/>
                <a:ea typeface="+mn-lt"/>
                <a:cs typeface="+mn-lt"/>
              </a:rPr>
              <a:t> </a:t>
            </a:r>
            <a:r>
              <a:rPr lang="es-ES" sz="1500" baseline="0">
                <a:latin typeface="Trebuchet MS" panose="020B0603020202020204" pitchFamily="34" charset="0"/>
                <a:ea typeface="+mn-lt"/>
                <a:cs typeface="+mn-lt"/>
              </a:rPr>
              <a:t>seguridad</a:t>
            </a:r>
            <a:r>
              <a:rPr lang="es-ES" sz="1500">
                <a:latin typeface="Trebuchet MS" panose="020B0603020202020204" pitchFamily="34" charset="0"/>
                <a:ea typeface="+mn-lt"/>
                <a:cs typeface="+mn-lt"/>
              </a:rPr>
              <a:t> predefinidas</a:t>
            </a:r>
            <a:r>
              <a:rPr lang="es-ES" sz="1500" baseline="0">
                <a:latin typeface="Trebuchet MS" panose="020B0603020202020204" pitchFamily="34" charset="0"/>
                <a:ea typeface="+mn-lt"/>
                <a:cs typeface="+mn-lt"/>
              </a:rPr>
              <a:t>, </a:t>
            </a:r>
            <a:r>
              <a:rPr lang="es-ES" sz="1500">
                <a:latin typeface="Trebuchet MS" panose="020B0603020202020204" pitchFamily="34" charset="0"/>
                <a:ea typeface="+mn-lt"/>
                <a:cs typeface="+mn-lt"/>
              </a:rPr>
              <a:t>permitiendo </a:t>
            </a:r>
            <a:r>
              <a:rPr lang="es-ES" sz="1500" baseline="0">
                <a:latin typeface="Trebuchet MS" panose="020B0603020202020204" pitchFamily="34" charset="0"/>
                <a:ea typeface="+mn-lt"/>
                <a:cs typeface="+mn-lt"/>
              </a:rPr>
              <a:t>la </a:t>
            </a:r>
            <a:r>
              <a:rPr lang="es-ES" sz="1500">
                <a:latin typeface="Trebuchet MS" panose="020B0603020202020204" pitchFamily="34" charset="0"/>
                <a:ea typeface="+mn-lt"/>
                <a:cs typeface="+mn-lt"/>
              </a:rPr>
              <a:t>personalización para ajustarse a las necesidades específicas de cada proyecto</a:t>
            </a:r>
            <a:r>
              <a:rPr lang="es-ES" sz="1500" baseline="0">
                <a:latin typeface="Trebuchet MS" panose="020B0603020202020204" pitchFamily="34" charset="0"/>
                <a:ea typeface="+mn-lt"/>
                <a:cs typeface="+mn-lt"/>
              </a:rPr>
              <a:t>.</a:t>
            </a:r>
            <a:endParaRPr lang="es-ES">
              <a:latin typeface="Trebuchet MS" panose="020B0603020202020204" pitchFamily="34" charset="0"/>
              <a:ea typeface="+mn-lt"/>
              <a:cs typeface="+mn-lt"/>
            </a:endParaRPr>
          </a:p>
        </p:txBody>
      </p:sp>
      <p:pic>
        <p:nvPicPr>
          <p:cNvPr id="6" name="Gráfico 6">
            <a:extLst>
              <a:ext uri="{FF2B5EF4-FFF2-40B4-BE49-F238E27FC236}">
                <a16:creationId xmlns:a16="http://schemas.microsoft.com/office/drawing/2014/main" id="{AB4E55DC-9F74-8719-D3F3-3F37E00C5F6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4747" y="4731494"/>
            <a:ext cx="1382792" cy="990080"/>
          </a:xfrm>
          <a:prstGeom prst="rect">
            <a:avLst/>
          </a:prstGeom>
        </p:spPr>
      </p:pic>
      <p:pic>
        <p:nvPicPr>
          <p:cNvPr id="7" name="Imagen 6">
            <a:extLst>
              <a:ext uri="{FF2B5EF4-FFF2-40B4-BE49-F238E27FC236}">
                <a16:creationId xmlns:a16="http://schemas.microsoft.com/office/drawing/2014/main" id="{467A3F5F-C86E-7D20-C79F-8B47B2DCD96D}"/>
              </a:ext>
            </a:extLst>
          </p:cNvPr>
          <p:cNvPicPr>
            <a:picLocks noChangeAspect="1"/>
          </p:cNvPicPr>
          <p:nvPr/>
        </p:nvPicPr>
        <p:blipFill>
          <a:blip r:embed="rId6"/>
          <a:stretch>
            <a:fillRect/>
          </a:stretch>
        </p:blipFill>
        <p:spPr>
          <a:xfrm>
            <a:off x="2044822" y="1587397"/>
            <a:ext cx="1239758" cy="1257261"/>
          </a:xfrm>
          <a:prstGeom prst="rect">
            <a:avLst/>
          </a:prstGeom>
          <a:ln>
            <a:noFill/>
          </a:ln>
        </p:spPr>
      </p:pic>
      <p:sp>
        <p:nvSpPr>
          <p:cNvPr id="8" name="CuadroTexto 7">
            <a:extLst>
              <a:ext uri="{FF2B5EF4-FFF2-40B4-BE49-F238E27FC236}">
                <a16:creationId xmlns:a16="http://schemas.microsoft.com/office/drawing/2014/main" id="{8CD59B91-687C-5B48-2480-2B8EC6E65535}"/>
              </a:ext>
            </a:extLst>
          </p:cNvPr>
          <p:cNvSpPr txBox="1"/>
          <p:nvPr/>
        </p:nvSpPr>
        <p:spPr>
          <a:xfrm>
            <a:off x="3327745" y="1688541"/>
            <a:ext cx="673468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5000" dirty="0">
                <a:solidFill>
                  <a:srgbClr val="0070C0"/>
                </a:solidFill>
                <a:latin typeface="Trebuchet MS" panose="020B0603020202020204" pitchFamily="34" charset="0"/>
                <a:cs typeface="Calibri"/>
              </a:rPr>
              <a:t>Security </a:t>
            </a:r>
            <a:r>
              <a:rPr lang="es-ES" sz="5000" dirty="0" err="1">
                <a:solidFill>
                  <a:srgbClr val="0070C0"/>
                </a:solidFill>
                <a:latin typeface="Trebuchet MS" panose="020B0603020202020204" pitchFamily="34" charset="0"/>
                <a:cs typeface="Calibri"/>
              </a:rPr>
              <a:t>Code</a:t>
            </a:r>
            <a:r>
              <a:rPr lang="es-ES" sz="5000" dirty="0">
                <a:solidFill>
                  <a:srgbClr val="0070C0"/>
                </a:solidFill>
                <a:latin typeface="Trebuchet MS" panose="020B0603020202020204" pitchFamily="34" charset="0"/>
                <a:cs typeface="Calibri"/>
              </a:rPr>
              <a:t> </a:t>
            </a:r>
            <a:r>
              <a:rPr lang="es-ES" sz="5000" dirty="0" err="1">
                <a:solidFill>
                  <a:srgbClr val="0070C0"/>
                </a:solidFill>
                <a:latin typeface="Trebuchet MS" panose="020B0603020202020204" pitchFamily="34" charset="0"/>
                <a:cs typeface="Calibri"/>
              </a:rPr>
              <a:t>Scan</a:t>
            </a:r>
            <a:endParaRPr lang="es-ES" sz="5000" dirty="0">
              <a:solidFill>
                <a:srgbClr val="0070C0"/>
              </a:solidFill>
              <a:latin typeface="Trebuchet MS" panose="020B0603020202020204" pitchFamily="34" charset="0"/>
            </a:endParaRPr>
          </a:p>
        </p:txBody>
      </p:sp>
      <p:pic>
        <p:nvPicPr>
          <p:cNvPr id="9" name="Imagen 8" descr="Icono&#10;&#10;Descripción generada automáticamente">
            <a:extLst>
              <a:ext uri="{FF2B5EF4-FFF2-40B4-BE49-F238E27FC236}">
                <a16:creationId xmlns:a16="http://schemas.microsoft.com/office/drawing/2014/main" id="{980661D0-9715-D602-1EC5-BA1644D35AE1}"/>
              </a:ext>
            </a:extLst>
          </p:cNvPr>
          <p:cNvPicPr>
            <a:picLocks noChangeAspect="1"/>
          </p:cNvPicPr>
          <p:nvPr/>
        </p:nvPicPr>
        <p:blipFill>
          <a:blip r:embed="rId7"/>
          <a:stretch>
            <a:fillRect/>
          </a:stretch>
        </p:blipFill>
        <p:spPr>
          <a:xfrm>
            <a:off x="1021973" y="3259202"/>
            <a:ext cx="911466" cy="890678"/>
          </a:xfrm>
          <a:prstGeom prst="rect">
            <a:avLst/>
          </a:prstGeom>
          <a:ln>
            <a:noFill/>
          </a:ln>
        </p:spPr>
      </p:pic>
      <p:pic>
        <p:nvPicPr>
          <p:cNvPr id="2" name="Imagen 1" descr="Interfaz de usuario gráfica&#10;&#10;El contenido generado por IA puede ser incorrecto.">
            <a:extLst>
              <a:ext uri="{FF2B5EF4-FFF2-40B4-BE49-F238E27FC236}">
                <a16:creationId xmlns:a16="http://schemas.microsoft.com/office/drawing/2014/main" id="{F7EBA7A5-F7C9-444A-58CD-ADCE1E49C78B}"/>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3224005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A7DDB-B066-F69D-D613-82242590488F}"/>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21BEA46D-EF07-9090-386D-5368CFE06C87}"/>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15115F9E-ABC4-FA31-C352-6FBC9A915EA4}"/>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0AF227B0-E3DE-DDF6-F46E-035389B932AF}"/>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Security </a:t>
            </a:r>
            <a:r>
              <a:rPr lang="es-ES" dirty="0" err="1">
                <a:solidFill>
                  <a:schemeClr val="tx1">
                    <a:lumMod val="75000"/>
                    <a:lumOff val="25000"/>
                  </a:schemeClr>
                </a:solidFill>
              </a:rPr>
              <a:t>Code</a:t>
            </a:r>
            <a:r>
              <a:rPr lang="es-ES" dirty="0">
                <a:solidFill>
                  <a:schemeClr val="tx1">
                    <a:lumMod val="75000"/>
                    <a:lumOff val="25000"/>
                  </a:schemeClr>
                </a:solidFill>
              </a:rPr>
              <a:t> </a:t>
            </a:r>
            <a:r>
              <a:rPr lang="es-ES" dirty="0" err="1">
                <a:solidFill>
                  <a:schemeClr val="tx1">
                    <a:lumMod val="75000"/>
                    <a:lumOff val="25000"/>
                  </a:schemeClr>
                </a:solidFill>
              </a:rPr>
              <a:t>Scan</a:t>
            </a:r>
            <a:r>
              <a:rPr lang="es-ES" dirty="0">
                <a:solidFill>
                  <a:schemeClr val="tx1">
                    <a:lumMod val="75000"/>
                    <a:lumOff val="25000"/>
                  </a:schemeClr>
                </a:solidFill>
              </a:rPr>
              <a:t>: Características destacadas</a:t>
            </a:r>
          </a:p>
        </p:txBody>
      </p:sp>
      <p:pic>
        <p:nvPicPr>
          <p:cNvPr id="2" name="Imagen 1" descr="Icono&#10;&#10;Descripción generada automáticamente">
            <a:extLst>
              <a:ext uri="{FF2B5EF4-FFF2-40B4-BE49-F238E27FC236}">
                <a16:creationId xmlns:a16="http://schemas.microsoft.com/office/drawing/2014/main" id="{16B105EC-B2AA-18B9-D162-AA1ED21D1FEE}"/>
              </a:ext>
            </a:extLst>
          </p:cNvPr>
          <p:cNvPicPr>
            <a:picLocks noChangeAspect="1"/>
          </p:cNvPicPr>
          <p:nvPr/>
        </p:nvPicPr>
        <p:blipFill>
          <a:blip r:embed="rId4"/>
          <a:stretch>
            <a:fillRect/>
          </a:stretch>
        </p:blipFill>
        <p:spPr>
          <a:xfrm>
            <a:off x="802683" y="1541167"/>
            <a:ext cx="1035802" cy="687294"/>
          </a:xfrm>
          <a:prstGeom prst="rect">
            <a:avLst/>
          </a:prstGeom>
          <a:ln>
            <a:noFill/>
          </a:ln>
        </p:spPr>
      </p:pic>
      <p:pic>
        <p:nvPicPr>
          <p:cNvPr id="11" name="Imagen 10" descr="Icono&#10;&#10;Descripción generada automáticamente">
            <a:extLst>
              <a:ext uri="{FF2B5EF4-FFF2-40B4-BE49-F238E27FC236}">
                <a16:creationId xmlns:a16="http://schemas.microsoft.com/office/drawing/2014/main" id="{B65C7742-840C-C0F8-C983-B24A7A82D553}"/>
              </a:ext>
            </a:extLst>
          </p:cNvPr>
          <p:cNvPicPr>
            <a:picLocks noChangeAspect="1"/>
          </p:cNvPicPr>
          <p:nvPr/>
        </p:nvPicPr>
        <p:blipFill>
          <a:blip r:embed="rId5"/>
          <a:stretch>
            <a:fillRect/>
          </a:stretch>
        </p:blipFill>
        <p:spPr>
          <a:xfrm>
            <a:off x="779628" y="3987922"/>
            <a:ext cx="1032514" cy="487745"/>
          </a:xfrm>
          <a:prstGeom prst="rect">
            <a:avLst/>
          </a:prstGeom>
        </p:spPr>
      </p:pic>
      <p:pic>
        <p:nvPicPr>
          <p:cNvPr id="12" name="Imagen 11" descr="Icono&#10;&#10;Descripción generada automáticamente">
            <a:extLst>
              <a:ext uri="{FF2B5EF4-FFF2-40B4-BE49-F238E27FC236}">
                <a16:creationId xmlns:a16="http://schemas.microsoft.com/office/drawing/2014/main" id="{76A0C31B-EFBE-4ABF-4C6F-E600C1039F7E}"/>
              </a:ext>
            </a:extLst>
          </p:cNvPr>
          <p:cNvPicPr>
            <a:picLocks noChangeAspect="1"/>
          </p:cNvPicPr>
          <p:nvPr/>
        </p:nvPicPr>
        <p:blipFill>
          <a:blip r:embed="rId6"/>
          <a:stretch>
            <a:fillRect/>
          </a:stretch>
        </p:blipFill>
        <p:spPr>
          <a:xfrm>
            <a:off x="780219" y="2740881"/>
            <a:ext cx="930468" cy="510889"/>
          </a:xfrm>
          <a:prstGeom prst="rect">
            <a:avLst/>
          </a:prstGeom>
          <a:ln>
            <a:noFill/>
          </a:ln>
        </p:spPr>
      </p:pic>
      <p:sp>
        <p:nvSpPr>
          <p:cNvPr id="13" name="CuadroTexto 12">
            <a:extLst>
              <a:ext uri="{FF2B5EF4-FFF2-40B4-BE49-F238E27FC236}">
                <a16:creationId xmlns:a16="http://schemas.microsoft.com/office/drawing/2014/main" id="{1CE673F2-80D3-B6FD-620E-F5322287E642}"/>
              </a:ext>
            </a:extLst>
          </p:cNvPr>
          <p:cNvSpPr txBox="1"/>
          <p:nvPr/>
        </p:nvSpPr>
        <p:spPr>
          <a:xfrm>
            <a:off x="1917373" y="1561674"/>
            <a:ext cx="859507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Análisis detallado de código:</a:t>
            </a:r>
            <a:r>
              <a:rPr lang="es-ES" sz="1500">
                <a:latin typeface="Trebuchet MS" panose="020B0603020202020204" pitchFamily="34" charset="0"/>
                <a:ea typeface="+mn-lt"/>
                <a:cs typeface="+mn-lt"/>
              </a:rPr>
              <a:t> Evaluación del código fuente en busca de patrones inseguros y vulnerabilidades comunes como SQL </a:t>
            </a:r>
            <a:r>
              <a:rPr lang="es-ES" sz="1500" err="1">
                <a:latin typeface="Trebuchet MS" panose="020B0603020202020204" pitchFamily="34" charset="0"/>
                <a:ea typeface="+mn-lt"/>
                <a:cs typeface="+mn-lt"/>
              </a:rPr>
              <a:t>Injection</a:t>
            </a:r>
            <a:r>
              <a:rPr lang="es-ES" sz="1500">
                <a:latin typeface="Trebuchet MS" panose="020B0603020202020204" pitchFamily="34" charset="0"/>
                <a:ea typeface="+mn-lt"/>
                <a:cs typeface="+mn-lt"/>
              </a:rPr>
              <a:t> y XSS.</a:t>
            </a:r>
            <a:endParaRPr lang="es-ES">
              <a:latin typeface="Trebuchet MS" panose="020B0603020202020204" pitchFamily="34" charset="0"/>
            </a:endParaRPr>
          </a:p>
        </p:txBody>
      </p:sp>
      <p:sp>
        <p:nvSpPr>
          <p:cNvPr id="14" name="CuadroTexto 13">
            <a:extLst>
              <a:ext uri="{FF2B5EF4-FFF2-40B4-BE49-F238E27FC236}">
                <a16:creationId xmlns:a16="http://schemas.microsoft.com/office/drawing/2014/main" id="{D5A0D455-39C8-7414-1D9C-10701F12A481}"/>
              </a:ext>
            </a:extLst>
          </p:cNvPr>
          <p:cNvSpPr txBox="1"/>
          <p:nvPr/>
        </p:nvSpPr>
        <p:spPr>
          <a:xfrm>
            <a:off x="1917128" y="3965711"/>
            <a:ext cx="859507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Integración con el IDE y CI/CD: </a:t>
            </a:r>
            <a:r>
              <a:rPr lang="es-ES" sz="1500">
                <a:latin typeface="Trebuchet MS" panose="020B0603020202020204" pitchFamily="34" charset="0"/>
                <a:ea typeface="+mn-lt"/>
                <a:cs typeface="+mn-lt"/>
              </a:rPr>
              <a:t>Soporte completo para la integración con Visual Studio y sistemas de CI/CD, permitiendo análisis continuos y en tiempo real del código.</a:t>
            </a:r>
            <a:endParaRPr lang="es-ES">
              <a:latin typeface="Trebuchet MS" panose="020B0603020202020204" pitchFamily="34" charset="0"/>
              <a:ea typeface="+mn-lt"/>
              <a:cs typeface="+mn-lt"/>
            </a:endParaRPr>
          </a:p>
        </p:txBody>
      </p:sp>
      <p:sp>
        <p:nvSpPr>
          <p:cNvPr id="15" name="CuadroTexto 14">
            <a:extLst>
              <a:ext uri="{FF2B5EF4-FFF2-40B4-BE49-F238E27FC236}">
                <a16:creationId xmlns:a16="http://schemas.microsoft.com/office/drawing/2014/main" id="{90FC222D-E0F0-96EA-BC3C-B01CD4C3B113}"/>
              </a:ext>
            </a:extLst>
          </p:cNvPr>
          <p:cNvSpPr txBox="1"/>
          <p:nvPr/>
        </p:nvSpPr>
        <p:spPr>
          <a:xfrm>
            <a:off x="1917162" y="2730088"/>
            <a:ext cx="859507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Detección de bugs y vulnerabilidades:</a:t>
            </a:r>
            <a:r>
              <a:rPr lang="es-ES" sz="1500">
                <a:latin typeface="Trebuchet MS" panose="020B0603020202020204" pitchFamily="34" charset="0"/>
                <a:ea typeface="+mn-lt"/>
                <a:cs typeface="+mn-lt"/>
              </a:rPr>
              <a:t> La plataforma detecta problemas de seguridad y bugs, ofreciendo recomendaciones específicas para su corrección.</a:t>
            </a:r>
            <a:endParaRPr lang="es-ES">
              <a:latin typeface="Trebuchet MS" panose="020B0603020202020204" pitchFamily="34" charset="0"/>
              <a:ea typeface="+mn-lt"/>
              <a:cs typeface="+mn-lt"/>
            </a:endParaRPr>
          </a:p>
        </p:txBody>
      </p:sp>
      <p:sp>
        <p:nvSpPr>
          <p:cNvPr id="16" name="CuadroTexto 15">
            <a:extLst>
              <a:ext uri="{FF2B5EF4-FFF2-40B4-BE49-F238E27FC236}">
                <a16:creationId xmlns:a16="http://schemas.microsoft.com/office/drawing/2014/main" id="{F253C259-A3C8-F116-AD64-90F8CF18064C}"/>
              </a:ext>
            </a:extLst>
          </p:cNvPr>
          <p:cNvSpPr txBox="1"/>
          <p:nvPr/>
        </p:nvSpPr>
        <p:spPr>
          <a:xfrm>
            <a:off x="1916928" y="5180652"/>
            <a:ext cx="859507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Reportes y recomendaciones:</a:t>
            </a:r>
            <a:r>
              <a:rPr lang="es-ES" sz="1500">
                <a:latin typeface="Trebuchet MS" panose="020B0603020202020204" pitchFamily="34" charset="0"/>
                <a:ea typeface="+mn-lt"/>
                <a:cs typeface="+mn-lt"/>
              </a:rPr>
              <a:t> Generación de informes detallados que incluyen recomendaciones prácticas para la mitigación de riesgos identificados.</a:t>
            </a:r>
            <a:endParaRPr lang="es-ES">
              <a:latin typeface="Trebuchet MS" panose="020B0603020202020204" pitchFamily="34" charset="0"/>
              <a:ea typeface="+mn-lt"/>
              <a:cs typeface="+mn-lt"/>
            </a:endParaRPr>
          </a:p>
        </p:txBody>
      </p:sp>
      <p:pic>
        <p:nvPicPr>
          <p:cNvPr id="17" name="Imagen 16" descr="Icono&#10;&#10;Descripción generada automáticamente">
            <a:extLst>
              <a:ext uri="{FF2B5EF4-FFF2-40B4-BE49-F238E27FC236}">
                <a16:creationId xmlns:a16="http://schemas.microsoft.com/office/drawing/2014/main" id="{C1898C1C-F1AF-6B37-99D8-1F61E53C4809}"/>
              </a:ext>
            </a:extLst>
          </p:cNvPr>
          <p:cNvPicPr>
            <a:picLocks noChangeAspect="1"/>
          </p:cNvPicPr>
          <p:nvPr/>
        </p:nvPicPr>
        <p:blipFill>
          <a:blip r:embed="rId7"/>
          <a:stretch>
            <a:fillRect/>
          </a:stretch>
        </p:blipFill>
        <p:spPr>
          <a:xfrm>
            <a:off x="834040" y="5101126"/>
            <a:ext cx="828653" cy="802697"/>
          </a:xfrm>
          <a:prstGeom prst="rect">
            <a:avLst/>
          </a:prstGeom>
          <a:ln>
            <a:noFill/>
          </a:ln>
        </p:spPr>
      </p:pic>
      <p:pic>
        <p:nvPicPr>
          <p:cNvPr id="3" name="Imagen 2" descr="Interfaz de usuario gráfica&#10;&#10;El contenido generado por IA puede ser incorrecto.">
            <a:extLst>
              <a:ext uri="{FF2B5EF4-FFF2-40B4-BE49-F238E27FC236}">
                <a16:creationId xmlns:a16="http://schemas.microsoft.com/office/drawing/2014/main" id="{0DA64CC8-69F7-A33D-5CCE-87C61692984C}"/>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4383538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F5FB8-993E-50AD-F03A-BF440763FBED}"/>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A9B3E999-57A4-0F1B-A7E5-EFEA8A951E85}"/>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C6DBFF4A-43FC-154C-3AA0-327BFE99D1F4}"/>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52C21F45-05A4-C4C7-7080-C55564F10759}"/>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Security </a:t>
            </a:r>
            <a:r>
              <a:rPr lang="es-ES" dirty="0" err="1">
                <a:solidFill>
                  <a:schemeClr val="tx1">
                    <a:lumMod val="75000"/>
                    <a:lumOff val="25000"/>
                  </a:schemeClr>
                </a:solidFill>
              </a:rPr>
              <a:t>Code</a:t>
            </a:r>
            <a:r>
              <a:rPr lang="es-ES" dirty="0">
                <a:solidFill>
                  <a:schemeClr val="tx1">
                    <a:lumMod val="75000"/>
                    <a:lumOff val="25000"/>
                  </a:schemeClr>
                </a:solidFill>
              </a:rPr>
              <a:t> </a:t>
            </a:r>
            <a:r>
              <a:rPr lang="es-ES" dirty="0" err="1">
                <a:solidFill>
                  <a:schemeClr val="tx1">
                    <a:lumMod val="75000"/>
                    <a:lumOff val="25000"/>
                  </a:schemeClr>
                </a:solidFill>
              </a:rPr>
              <a:t>Scan</a:t>
            </a:r>
            <a:r>
              <a:rPr lang="es-ES" dirty="0">
                <a:solidFill>
                  <a:schemeClr val="tx1">
                    <a:lumMod val="75000"/>
                    <a:lumOff val="25000"/>
                  </a:schemeClr>
                </a:solidFill>
              </a:rPr>
              <a:t>: Instalación</a:t>
            </a:r>
          </a:p>
        </p:txBody>
      </p:sp>
      <p:sp>
        <p:nvSpPr>
          <p:cNvPr id="3" name="CuadroTexto 2">
            <a:extLst>
              <a:ext uri="{FF2B5EF4-FFF2-40B4-BE49-F238E27FC236}">
                <a16:creationId xmlns:a16="http://schemas.microsoft.com/office/drawing/2014/main" id="{85BDA3A5-7335-55DC-987F-6DDF230114A8}"/>
              </a:ext>
            </a:extLst>
          </p:cNvPr>
          <p:cNvSpPr txBox="1"/>
          <p:nvPr/>
        </p:nvSpPr>
        <p:spPr>
          <a:xfrm>
            <a:off x="2176576" y="2826194"/>
            <a:ext cx="8286773"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Calibri"/>
                <a:cs typeface="Calibri"/>
              </a:rPr>
              <a:t>Abre tu proyecto en Visual Studio, debería estar ejecutándose en segundo plano el analizador</a:t>
            </a:r>
          </a:p>
        </p:txBody>
      </p:sp>
      <p:sp>
        <p:nvSpPr>
          <p:cNvPr id="4" name="CuadroTexto 3">
            <a:extLst>
              <a:ext uri="{FF2B5EF4-FFF2-40B4-BE49-F238E27FC236}">
                <a16:creationId xmlns:a16="http://schemas.microsoft.com/office/drawing/2014/main" id="{713F114B-0CE2-00C7-3C70-C43CAA2E4B4C}"/>
              </a:ext>
            </a:extLst>
          </p:cNvPr>
          <p:cNvSpPr txBox="1"/>
          <p:nvPr/>
        </p:nvSpPr>
        <p:spPr>
          <a:xfrm>
            <a:off x="2176365" y="1463624"/>
            <a:ext cx="834576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mn-lt"/>
                <a:cs typeface="+mn-lt"/>
              </a:rPr>
              <a:t>En </a:t>
            </a:r>
            <a:r>
              <a:rPr lang="es-ES" sz="1500" dirty="0">
                <a:latin typeface="Trebuchet MS" panose="020B0603020202020204" pitchFamily="34" charset="0"/>
                <a:ea typeface="+mn-lt"/>
                <a:cs typeface="+mn-lt"/>
                <a:hlinkClick r:id="rId4"/>
              </a:rPr>
              <a:t>https://security-code-scan.github.io/</a:t>
            </a:r>
            <a:r>
              <a:rPr lang="es-ES" sz="1500" dirty="0">
                <a:latin typeface="Trebuchet MS" panose="020B0603020202020204" pitchFamily="34" charset="0"/>
                <a:ea typeface="+mn-lt"/>
                <a:cs typeface="+mn-lt"/>
              </a:rPr>
              <a:t> descarga la extensión de visual </a:t>
            </a:r>
            <a:r>
              <a:rPr lang="es-ES" sz="1500" dirty="0" err="1">
                <a:latin typeface="Trebuchet MS" panose="020B0603020202020204" pitchFamily="34" charset="0"/>
                <a:ea typeface="+mn-lt"/>
                <a:cs typeface="+mn-lt"/>
              </a:rPr>
              <a:t>studio</a:t>
            </a:r>
            <a:r>
              <a:rPr lang="es-ES" sz="1500" dirty="0">
                <a:latin typeface="Trebuchet MS" panose="020B0603020202020204" pitchFamily="34" charset="0"/>
                <a:ea typeface="+mn-lt"/>
                <a:cs typeface="+mn-lt"/>
              </a:rPr>
              <a:t>, </a:t>
            </a:r>
            <a:r>
              <a:rPr lang="es-ES" sz="1500" dirty="0" err="1">
                <a:latin typeface="Trebuchet MS" panose="020B0603020202020204" pitchFamily="34" charset="0"/>
                <a:ea typeface="+mn-lt"/>
                <a:cs typeface="+mn-lt"/>
              </a:rPr>
              <a:t>ejecutala</a:t>
            </a:r>
            <a:r>
              <a:rPr lang="es-ES" sz="1500" dirty="0">
                <a:latin typeface="Trebuchet MS" panose="020B0603020202020204" pitchFamily="34" charset="0"/>
                <a:ea typeface="+mn-lt"/>
                <a:cs typeface="+mn-lt"/>
              </a:rPr>
              <a:t> e instálalo, eligiendo tu versión.</a:t>
            </a:r>
          </a:p>
        </p:txBody>
      </p:sp>
      <p:pic>
        <p:nvPicPr>
          <p:cNvPr id="6" name="Imagen 5" descr="Icono&#10;&#10;Descripción generada automáticamente">
            <a:extLst>
              <a:ext uri="{FF2B5EF4-FFF2-40B4-BE49-F238E27FC236}">
                <a16:creationId xmlns:a16="http://schemas.microsoft.com/office/drawing/2014/main" id="{58D56C9C-3137-98BD-B6D0-15516EE5CA5E}"/>
              </a:ext>
            </a:extLst>
          </p:cNvPr>
          <p:cNvPicPr>
            <a:picLocks noChangeAspect="1"/>
          </p:cNvPicPr>
          <p:nvPr/>
        </p:nvPicPr>
        <p:blipFill>
          <a:blip r:embed="rId5"/>
          <a:stretch>
            <a:fillRect/>
          </a:stretch>
        </p:blipFill>
        <p:spPr>
          <a:xfrm>
            <a:off x="1013711" y="2679276"/>
            <a:ext cx="912705" cy="650027"/>
          </a:xfrm>
          <a:prstGeom prst="rect">
            <a:avLst/>
          </a:prstGeom>
          <a:ln>
            <a:noFill/>
          </a:ln>
        </p:spPr>
      </p:pic>
      <p:pic>
        <p:nvPicPr>
          <p:cNvPr id="7" name="Imagen 6">
            <a:extLst>
              <a:ext uri="{FF2B5EF4-FFF2-40B4-BE49-F238E27FC236}">
                <a16:creationId xmlns:a16="http://schemas.microsoft.com/office/drawing/2014/main" id="{F310B4CF-B93A-0E90-5652-B1ECF3253005}"/>
              </a:ext>
            </a:extLst>
          </p:cNvPr>
          <p:cNvPicPr>
            <a:picLocks noChangeAspect="1"/>
          </p:cNvPicPr>
          <p:nvPr/>
        </p:nvPicPr>
        <p:blipFill>
          <a:blip r:embed="rId6"/>
          <a:stretch>
            <a:fillRect/>
          </a:stretch>
        </p:blipFill>
        <p:spPr>
          <a:xfrm>
            <a:off x="1070336" y="1364400"/>
            <a:ext cx="803362" cy="747106"/>
          </a:xfrm>
          <a:prstGeom prst="rect">
            <a:avLst/>
          </a:prstGeom>
          <a:ln>
            <a:noFill/>
          </a:ln>
        </p:spPr>
      </p:pic>
      <p:pic>
        <p:nvPicPr>
          <p:cNvPr id="8" name="Imagen 7" descr="Imagen que contiene Texto&#10;&#10;Descripción generada automáticamente">
            <a:extLst>
              <a:ext uri="{FF2B5EF4-FFF2-40B4-BE49-F238E27FC236}">
                <a16:creationId xmlns:a16="http://schemas.microsoft.com/office/drawing/2014/main" id="{903ACD49-BE92-5085-0DFF-C782E386042F}"/>
              </a:ext>
            </a:extLst>
          </p:cNvPr>
          <p:cNvPicPr>
            <a:picLocks noChangeAspect="1"/>
          </p:cNvPicPr>
          <p:nvPr/>
        </p:nvPicPr>
        <p:blipFill>
          <a:blip r:embed="rId7"/>
          <a:stretch>
            <a:fillRect/>
          </a:stretch>
        </p:blipFill>
        <p:spPr>
          <a:xfrm>
            <a:off x="3067853" y="3778700"/>
            <a:ext cx="5342442" cy="2078038"/>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B248F933-06D3-C373-3472-96E51DF217A2}"/>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546784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6ADAB-770D-7E8E-7BBD-2F196EB793F3}"/>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F20FFB5D-B509-790F-47CC-45049AC39816}"/>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376C6319-E4A4-43B9-F3BF-6C325581E4E1}"/>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039F5A93-D4CA-3C7A-493E-09E3D4D3C1A7}"/>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PMD: Elevando la calidad de Java</a:t>
            </a:r>
          </a:p>
        </p:txBody>
      </p:sp>
      <p:sp>
        <p:nvSpPr>
          <p:cNvPr id="2" name="CuadroTexto 1">
            <a:extLst>
              <a:ext uri="{FF2B5EF4-FFF2-40B4-BE49-F238E27FC236}">
                <a16:creationId xmlns:a16="http://schemas.microsoft.com/office/drawing/2014/main" id="{D23BF034-B109-8DA1-38E4-DAE91D7AA8D4}"/>
              </a:ext>
            </a:extLst>
          </p:cNvPr>
          <p:cNvSpPr txBox="1"/>
          <p:nvPr/>
        </p:nvSpPr>
        <p:spPr>
          <a:xfrm>
            <a:off x="2084874" y="3322637"/>
            <a:ext cx="8288835"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mn-lt"/>
                <a:cs typeface="+mn-lt"/>
              </a:rPr>
              <a:t>PMD es una herramienta de análisis estático de código fuente que ayuda a identificar patrones de código potencialmente inseguros o ineficientes, así como código duplicado en aplicaciones Java. </a:t>
            </a:r>
          </a:p>
        </p:txBody>
      </p:sp>
      <p:sp>
        <p:nvSpPr>
          <p:cNvPr id="9" name="CuadroTexto 8">
            <a:extLst>
              <a:ext uri="{FF2B5EF4-FFF2-40B4-BE49-F238E27FC236}">
                <a16:creationId xmlns:a16="http://schemas.microsoft.com/office/drawing/2014/main" id="{E9F197D7-127D-EAB3-7F06-4A3B91611848}"/>
              </a:ext>
            </a:extLst>
          </p:cNvPr>
          <p:cNvSpPr txBox="1"/>
          <p:nvPr/>
        </p:nvSpPr>
        <p:spPr>
          <a:xfrm>
            <a:off x="2155063" y="4535250"/>
            <a:ext cx="8357873"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solidFill>
                  <a:srgbClr val="595959"/>
                </a:solidFill>
                <a:latin typeface="Trebuchet MS" panose="020B0603020202020204" pitchFamily="34" charset="0"/>
              </a:rPr>
              <a:t>Característica </a:t>
            </a:r>
            <a:r>
              <a:rPr lang="es-ES" sz="1500" b="1" baseline="0" dirty="0">
                <a:solidFill>
                  <a:srgbClr val="595959"/>
                </a:solidFill>
                <a:latin typeface="Trebuchet MS" panose="020B0603020202020204" pitchFamily="34" charset="0"/>
              </a:rPr>
              <a:t>clave:</a:t>
            </a:r>
            <a:endParaRPr lang="es-ES" dirty="0">
              <a:latin typeface="Trebuchet MS" panose="020B0603020202020204" pitchFamily="34" charset="0"/>
              <a:ea typeface="+mn-lt"/>
              <a:cs typeface="+mn-lt"/>
            </a:endParaRPr>
          </a:p>
          <a:p>
            <a:r>
              <a:rPr lang="es-ES" sz="1500" dirty="0">
                <a:latin typeface="Trebuchet MS" panose="020B0603020202020204" pitchFamily="34" charset="0"/>
                <a:ea typeface="+mn-lt"/>
                <a:cs typeface="+mn-lt"/>
              </a:rPr>
              <a:t>Ofrece un análisis rápido y efectivo del código fuente, capaz de detectar </a:t>
            </a:r>
            <a:r>
              <a:rPr lang="es-ES" sz="1500" baseline="0" dirty="0">
                <a:latin typeface="Trebuchet MS" panose="020B0603020202020204" pitchFamily="34" charset="0"/>
                <a:ea typeface="+mn-lt"/>
                <a:cs typeface="+mn-lt"/>
              </a:rPr>
              <a:t>una </a:t>
            </a:r>
            <a:r>
              <a:rPr lang="es-ES" sz="1500" dirty="0">
                <a:latin typeface="Trebuchet MS" panose="020B0603020202020204" pitchFamily="34" charset="0"/>
                <a:ea typeface="+mn-lt"/>
                <a:cs typeface="+mn-lt"/>
              </a:rPr>
              <a:t>amplia gama de problemas, desde prácticas de codificación pobres hasta vulnerabilidades </a:t>
            </a:r>
            <a:r>
              <a:rPr lang="es-ES" sz="1500" baseline="0" dirty="0">
                <a:latin typeface="Trebuchet MS" panose="020B0603020202020204" pitchFamily="34" charset="0"/>
                <a:ea typeface="+mn-lt"/>
                <a:cs typeface="+mn-lt"/>
              </a:rPr>
              <a:t>de</a:t>
            </a:r>
            <a:r>
              <a:rPr lang="es-ES" sz="1500" dirty="0">
                <a:latin typeface="Trebuchet MS" panose="020B0603020202020204" pitchFamily="34" charset="0"/>
                <a:ea typeface="+mn-lt"/>
                <a:cs typeface="+mn-lt"/>
              </a:rPr>
              <a:t> </a:t>
            </a:r>
            <a:r>
              <a:rPr lang="es-ES" sz="1500" baseline="0" dirty="0">
                <a:latin typeface="Trebuchet MS" panose="020B0603020202020204" pitchFamily="34" charset="0"/>
                <a:ea typeface="+mn-lt"/>
                <a:cs typeface="+mn-lt"/>
              </a:rPr>
              <a:t>seguridad</a:t>
            </a:r>
            <a:r>
              <a:rPr lang="es-ES" sz="1500" dirty="0">
                <a:latin typeface="Trebuchet MS" panose="020B0603020202020204" pitchFamily="34" charset="0"/>
                <a:ea typeface="+mn-lt"/>
                <a:cs typeface="+mn-lt"/>
              </a:rPr>
              <a:t>. </a:t>
            </a:r>
            <a:endParaRPr lang="es-ES" sz="1500" dirty="0">
              <a:latin typeface="Trebuchet MS" panose="020B0603020202020204" pitchFamily="34" charset="0"/>
              <a:cs typeface="Calibri"/>
            </a:endParaRPr>
          </a:p>
        </p:txBody>
      </p:sp>
      <p:pic>
        <p:nvPicPr>
          <p:cNvPr id="11" name="Gráfico 6">
            <a:extLst>
              <a:ext uri="{FF2B5EF4-FFF2-40B4-BE49-F238E27FC236}">
                <a16:creationId xmlns:a16="http://schemas.microsoft.com/office/drawing/2014/main" id="{FAFFA49C-9093-E3AD-020D-AE289017EA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1418" y="4662128"/>
            <a:ext cx="1382792" cy="990080"/>
          </a:xfrm>
          <a:prstGeom prst="rect">
            <a:avLst/>
          </a:prstGeom>
        </p:spPr>
      </p:pic>
      <p:sp>
        <p:nvSpPr>
          <p:cNvPr id="12" name="CuadroTexto 11">
            <a:extLst>
              <a:ext uri="{FF2B5EF4-FFF2-40B4-BE49-F238E27FC236}">
                <a16:creationId xmlns:a16="http://schemas.microsoft.com/office/drawing/2014/main" id="{607C7533-3A9B-E993-F139-E3DC6C3DCB12}"/>
              </a:ext>
            </a:extLst>
          </p:cNvPr>
          <p:cNvSpPr txBox="1"/>
          <p:nvPr/>
        </p:nvSpPr>
        <p:spPr>
          <a:xfrm>
            <a:off x="4115981" y="1498373"/>
            <a:ext cx="673468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500" err="1">
                <a:latin typeface="Trebuchet MS" panose="020B0603020202020204" pitchFamily="34" charset="0"/>
                <a:cs typeface="Calibri"/>
              </a:rPr>
              <a:t>An</a:t>
            </a:r>
            <a:r>
              <a:rPr lang="es-ES" sz="2500">
                <a:latin typeface="Trebuchet MS" panose="020B0603020202020204" pitchFamily="34" charset="0"/>
                <a:cs typeface="Calibri"/>
              </a:rPr>
              <a:t> extensible </a:t>
            </a:r>
            <a:r>
              <a:rPr lang="es-ES" sz="2500" err="1">
                <a:latin typeface="Trebuchet MS" panose="020B0603020202020204" pitchFamily="34" charset="0"/>
                <a:cs typeface="Calibri"/>
              </a:rPr>
              <a:t>cross-languaje</a:t>
            </a:r>
            <a:r>
              <a:rPr lang="es-ES" sz="2500">
                <a:latin typeface="Trebuchet MS" panose="020B0603020202020204" pitchFamily="34" charset="0"/>
                <a:cs typeface="Calibri"/>
              </a:rPr>
              <a:t> </a:t>
            </a:r>
            <a:r>
              <a:rPr lang="es-ES" sz="2500" err="1">
                <a:latin typeface="Trebuchet MS" panose="020B0603020202020204" pitchFamily="34" charset="0"/>
                <a:cs typeface="Calibri"/>
              </a:rPr>
              <a:t>static</a:t>
            </a:r>
            <a:r>
              <a:rPr lang="es-ES" sz="2500">
                <a:latin typeface="Trebuchet MS" panose="020B0603020202020204" pitchFamily="34" charset="0"/>
                <a:cs typeface="Calibri"/>
              </a:rPr>
              <a:t> </a:t>
            </a:r>
            <a:r>
              <a:rPr lang="es-ES" sz="2500" err="1">
                <a:latin typeface="Trebuchet MS" panose="020B0603020202020204" pitchFamily="34" charset="0"/>
                <a:cs typeface="Calibri"/>
              </a:rPr>
              <a:t>code</a:t>
            </a:r>
            <a:r>
              <a:rPr lang="es-ES" sz="2500">
                <a:latin typeface="Trebuchet MS" panose="020B0603020202020204" pitchFamily="34" charset="0"/>
                <a:cs typeface="Calibri"/>
              </a:rPr>
              <a:t> </a:t>
            </a:r>
            <a:r>
              <a:rPr lang="es-ES" sz="2500" err="1">
                <a:latin typeface="Trebuchet MS" panose="020B0603020202020204" pitchFamily="34" charset="0"/>
                <a:cs typeface="Calibri"/>
              </a:rPr>
              <a:t>analyzer</a:t>
            </a:r>
            <a:endParaRPr lang="es-ES" sz="2500">
              <a:latin typeface="Trebuchet MS" panose="020B0603020202020204" pitchFamily="34" charset="0"/>
              <a:cs typeface="Calibri"/>
            </a:endParaRPr>
          </a:p>
        </p:txBody>
      </p:sp>
      <p:pic>
        <p:nvPicPr>
          <p:cNvPr id="13" name="Imagen 12" descr="Icono&#10;&#10;Descripción generada automáticamente">
            <a:extLst>
              <a:ext uri="{FF2B5EF4-FFF2-40B4-BE49-F238E27FC236}">
                <a16:creationId xmlns:a16="http://schemas.microsoft.com/office/drawing/2014/main" id="{4BCCE369-A82C-63E2-3290-E2E72DE38A26}"/>
              </a:ext>
            </a:extLst>
          </p:cNvPr>
          <p:cNvPicPr>
            <a:picLocks noChangeAspect="1"/>
          </p:cNvPicPr>
          <p:nvPr/>
        </p:nvPicPr>
        <p:blipFill>
          <a:blip r:embed="rId6"/>
          <a:stretch>
            <a:fillRect/>
          </a:stretch>
        </p:blipFill>
        <p:spPr>
          <a:xfrm>
            <a:off x="788644" y="3322262"/>
            <a:ext cx="911466" cy="890678"/>
          </a:xfrm>
          <a:prstGeom prst="rect">
            <a:avLst/>
          </a:prstGeom>
          <a:ln>
            <a:noFill/>
          </a:ln>
        </p:spPr>
      </p:pic>
      <p:pic>
        <p:nvPicPr>
          <p:cNvPr id="14" name="Imagen 13">
            <a:extLst>
              <a:ext uri="{FF2B5EF4-FFF2-40B4-BE49-F238E27FC236}">
                <a16:creationId xmlns:a16="http://schemas.microsoft.com/office/drawing/2014/main" id="{CC9DB4F4-B451-4956-0DA8-CAAB1F6C7EDC}"/>
              </a:ext>
            </a:extLst>
          </p:cNvPr>
          <p:cNvPicPr>
            <a:picLocks noChangeAspect="1"/>
          </p:cNvPicPr>
          <p:nvPr/>
        </p:nvPicPr>
        <p:blipFill>
          <a:blip r:embed="rId7"/>
          <a:stretch>
            <a:fillRect/>
          </a:stretch>
        </p:blipFill>
        <p:spPr>
          <a:xfrm>
            <a:off x="550443" y="1247120"/>
            <a:ext cx="3343594" cy="1371600"/>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FF18C461-51E6-6819-765F-C5143D84E19A}"/>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159285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07729-473D-442B-CE70-472CB29DFCFD}"/>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32749470-AF49-7978-5451-6D0EFBAA6470}"/>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3F2EDC0E-5DC0-B088-D298-7BF08D34FE5E}"/>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679D2EBB-3A64-B242-D37B-FD1FF7C3C7AC}"/>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PMD: Características destacadas</a:t>
            </a:r>
          </a:p>
        </p:txBody>
      </p:sp>
      <p:pic>
        <p:nvPicPr>
          <p:cNvPr id="3" name="Imagen 2" descr="Icono&#10;&#10;Descripción generada automáticamente">
            <a:extLst>
              <a:ext uri="{FF2B5EF4-FFF2-40B4-BE49-F238E27FC236}">
                <a16:creationId xmlns:a16="http://schemas.microsoft.com/office/drawing/2014/main" id="{1BF8650B-1AA0-E482-7799-124583216459}"/>
              </a:ext>
            </a:extLst>
          </p:cNvPr>
          <p:cNvPicPr>
            <a:picLocks noChangeAspect="1"/>
          </p:cNvPicPr>
          <p:nvPr/>
        </p:nvPicPr>
        <p:blipFill>
          <a:blip r:embed="rId4"/>
          <a:stretch>
            <a:fillRect/>
          </a:stretch>
        </p:blipFill>
        <p:spPr>
          <a:xfrm>
            <a:off x="802683" y="1301528"/>
            <a:ext cx="1035802" cy="687294"/>
          </a:xfrm>
          <a:prstGeom prst="rect">
            <a:avLst/>
          </a:prstGeom>
          <a:ln>
            <a:noFill/>
          </a:ln>
        </p:spPr>
      </p:pic>
      <p:pic>
        <p:nvPicPr>
          <p:cNvPr id="4" name="Imagen 3" descr="Icono&#10;&#10;Descripción generada automáticamente">
            <a:extLst>
              <a:ext uri="{FF2B5EF4-FFF2-40B4-BE49-F238E27FC236}">
                <a16:creationId xmlns:a16="http://schemas.microsoft.com/office/drawing/2014/main" id="{3DB437DA-625B-1BDE-8240-69C4448827E2}"/>
              </a:ext>
            </a:extLst>
          </p:cNvPr>
          <p:cNvPicPr>
            <a:picLocks noChangeAspect="1"/>
          </p:cNvPicPr>
          <p:nvPr/>
        </p:nvPicPr>
        <p:blipFill>
          <a:blip r:embed="rId5"/>
          <a:stretch>
            <a:fillRect/>
          </a:stretch>
        </p:blipFill>
        <p:spPr>
          <a:xfrm>
            <a:off x="779628" y="3716752"/>
            <a:ext cx="1032514" cy="487745"/>
          </a:xfrm>
          <a:prstGeom prst="rect">
            <a:avLst/>
          </a:prstGeom>
        </p:spPr>
      </p:pic>
      <p:pic>
        <p:nvPicPr>
          <p:cNvPr id="6" name="Imagen 5" descr="Icono&#10;&#10;Descripción generada automáticamente">
            <a:extLst>
              <a:ext uri="{FF2B5EF4-FFF2-40B4-BE49-F238E27FC236}">
                <a16:creationId xmlns:a16="http://schemas.microsoft.com/office/drawing/2014/main" id="{C6E4E5C6-302F-98ED-3A25-CF336CA2A182}"/>
              </a:ext>
            </a:extLst>
          </p:cNvPr>
          <p:cNvPicPr>
            <a:picLocks noChangeAspect="1"/>
          </p:cNvPicPr>
          <p:nvPr/>
        </p:nvPicPr>
        <p:blipFill>
          <a:blip r:embed="rId6"/>
          <a:stretch>
            <a:fillRect/>
          </a:stretch>
        </p:blipFill>
        <p:spPr>
          <a:xfrm>
            <a:off x="780219" y="2658892"/>
            <a:ext cx="930468" cy="510889"/>
          </a:xfrm>
          <a:prstGeom prst="rect">
            <a:avLst/>
          </a:prstGeom>
          <a:ln>
            <a:noFill/>
          </a:ln>
        </p:spPr>
      </p:pic>
      <p:sp>
        <p:nvSpPr>
          <p:cNvPr id="7" name="CuadroTexto 6">
            <a:extLst>
              <a:ext uri="{FF2B5EF4-FFF2-40B4-BE49-F238E27FC236}">
                <a16:creationId xmlns:a16="http://schemas.microsoft.com/office/drawing/2014/main" id="{A7D1585A-139A-95BB-6785-44734B2E320D}"/>
              </a:ext>
            </a:extLst>
          </p:cNvPr>
          <p:cNvSpPr txBox="1"/>
          <p:nvPr/>
        </p:nvSpPr>
        <p:spPr>
          <a:xfrm>
            <a:off x="1917372" y="1195914"/>
            <a:ext cx="895473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Century Gothic"/>
                <a:ea typeface="+mn-lt"/>
                <a:cs typeface="+mn-lt"/>
              </a:rPr>
              <a:t>Análisis detallado de código:</a:t>
            </a:r>
            <a:r>
              <a:rPr lang="es-ES" sz="1500">
                <a:latin typeface="Century Gothic"/>
                <a:ea typeface="+mn-lt"/>
                <a:cs typeface="+mn-lt"/>
              </a:rPr>
              <a:t>  </a:t>
            </a:r>
            <a:endParaRPr lang="es-ES">
              <a:latin typeface="Century Gothic"/>
              <a:ea typeface="+mn-lt"/>
              <a:cs typeface="+mn-lt"/>
            </a:endParaRPr>
          </a:p>
          <a:p>
            <a:r>
              <a:rPr lang="es-ES" sz="1500">
                <a:latin typeface="Century Gothic"/>
                <a:ea typeface="+mn-lt"/>
                <a:cs typeface="+mn-lt"/>
              </a:rPr>
              <a:t>Revisa el código Java en busca de malas prácticas comunes que pueden llevar a errores o vulnerabilidades, incluyendo la detección de código muerto, variables no utilizadas, bloques catch vacíos..</a:t>
            </a:r>
            <a:endParaRPr lang="es-ES" sz="1500">
              <a:latin typeface="Century Gothic"/>
              <a:cs typeface="Calibri"/>
            </a:endParaRPr>
          </a:p>
        </p:txBody>
      </p:sp>
      <p:sp>
        <p:nvSpPr>
          <p:cNvPr id="8" name="CuadroTexto 7">
            <a:extLst>
              <a:ext uri="{FF2B5EF4-FFF2-40B4-BE49-F238E27FC236}">
                <a16:creationId xmlns:a16="http://schemas.microsoft.com/office/drawing/2014/main" id="{8D1C6A98-3214-560B-AE75-1E3B5DE5B1DC}"/>
              </a:ext>
            </a:extLst>
          </p:cNvPr>
          <p:cNvSpPr txBox="1"/>
          <p:nvPr/>
        </p:nvSpPr>
        <p:spPr>
          <a:xfrm>
            <a:off x="1917127" y="3650399"/>
            <a:ext cx="8954739"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Century Gothic"/>
                <a:ea typeface="+mn-lt"/>
                <a:cs typeface="+mn-lt"/>
              </a:rPr>
              <a:t>Integración con el entorno de desarrollo:</a:t>
            </a:r>
            <a:r>
              <a:rPr lang="es-ES" sz="1500">
                <a:latin typeface="Century Gothic"/>
                <a:ea typeface="+mn-lt"/>
                <a:cs typeface="+mn-lt"/>
              </a:rPr>
              <a:t> Se integra fácilmente con </a:t>
            </a:r>
            <a:r>
              <a:rPr lang="es-ES" sz="1500" err="1">
                <a:latin typeface="Century Gothic"/>
                <a:ea typeface="+mn-lt"/>
                <a:cs typeface="+mn-lt"/>
              </a:rPr>
              <a:t>IDEs</a:t>
            </a:r>
            <a:r>
              <a:rPr lang="es-ES" sz="1500">
                <a:latin typeface="Century Gothic"/>
                <a:ea typeface="+mn-lt"/>
                <a:cs typeface="+mn-lt"/>
              </a:rPr>
              <a:t> como Eclipse y NetBeans, y sistemas de CI/CD, ofreciendo la posibilidad de corregir problemas en tiempo real.</a:t>
            </a:r>
            <a:endParaRPr lang="es-ES">
              <a:latin typeface="Century Gothic"/>
              <a:ea typeface="+mn-lt"/>
              <a:cs typeface="+mn-lt"/>
            </a:endParaRPr>
          </a:p>
        </p:txBody>
      </p:sp>
      <p:sp>
        <p:nvSpPr>
          <p:cNvPr id="15" name="CuadroTexto 14">
            <a:extLst>
              <a:ext uri="{FF2B5EF4-FFF2-40B4-BE49-F238E27FC236}">
                <a16:creationId xmlns:a16="http://schemas.microsoft.com/office/drawing/2014/main" id="{98AB85E4-3E6A-4E28-54D5-35D680A11892}"/>
              </a:ext>
            </a:extLst>
          </p:cNvPr>
          <p:cNvSpPr txBox="1"/>
          <p:nvPr/>
        </p:nvSpPr>
        <p:spPr>
          <a:xfrm>
            <a:off x="1917161" y="2635493"/>
            <a:ext cx="895473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Century Gothic"/>
                <a:ea typeface="+mn-lt"/>
                <a:cs typeface="+mn-lt"/>
              </a:rPr>
              <a:t>Detección de bugs y vulnerabilidades:</a:t>
            </a:r>
            <a:r>
              <a:rPr lang="es-ES" sz="1500" dirty="0">
                <a:latin typeface="Century Gothic"/>
                <a:ea typeface="+mn-lt"/>
                <a:cs typeface="+mn-lt"/>
              </a:rPr>
              <a:t> La plataforma detecta problemas de seguridad y bugs, ofreciendo recomendaciones específicas para su corrección.</a:t>
            </a:r>
            <a:endParaRPr lang="es-ES" dirty="0">
              <a:latin typeface="Century Gothic"/>
              <a:ea typeface="+mn-lt"/>
              <a:cs typeface="+mn-lt"/>
            </a:endParaRPr>
          </a:p>
        </p:txBody>
      </p:sp>
      <p:sp>
        <p:nvSpPr>
          <p:cNvPr id="16" name="CuadroTexto 15">
            <a:extLst>
              <a:ext uri="{FF2B5EF4-FFF2-40B4-BE49-F238E27FC236}">
                <a16:creationId xmlns:a16="http://schemas.microsoft.com/office/drawing/2014/main" id="{A8E40731-75EE-182E-52B4-2A4F02DCA0A7}"/>
              </a:ext>
            </a:extLst>
          </p:cNvPr>
          <p:cNvSpPr txBox="1"/>
          <p:nvPr/>
        </p:nvSpPr>
        <p:spPr>
          <a:xfrm>
            <a:off x="1916927" y="4884258"/>
            <a:ext cx="8954739"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Century Gothic"/>
                <a:ea typeface="+mn-lt"/>
                <a:cs typeface="+mn-lt"/>
              </a:rPr>
              <a:t>Reportes y recomendaciones:</a:t>
            </a:r>
            <a:r>
              <a:rPr lang="es-ES" sz="1500">
                <a:latin typeface="Century Gothic"/>
                <a:ea typeface="+mn-lt"/>
                <a:cs typeface="+mn-lt"/>
              </a:rPr>
              <a:t> Proporciona informes detallados que identifican problemas específicos en el código, junto con recomendaciones para su resolución, facilitando la mejora continua de la calidad del código.</a:t>
            </a:r>
            <a:endParaRPr lang="es-ES">
              <a:latin typeface="Century Gothic"/>
              <a:ea typeface="+mn-lt"/>
              <a:cs typeface="+mn-lt"/>
            </a:endParaRPr>
          </a:p>
        </p:txBody>
      </p:sp>
      <p:pic>
        <p:nvPicPr>
          <p:cNvPr id="17" name="Imagen 16" descr="Icono&#10;&#10;Descripción generada automáticamente">
            <a:extLst>
              <a:ext uri="{FF2B5EF4-FFF2-40B4-BE49-F238E27FC236}">
                <a16:creationId xmlns:a16="http://schemas.microsoft.com/office/drawing/2014/main" id="{5139C552-9EF4-F998-7681-2CA269DFDB22}"/>
              </a:ext>
            </a:extLst>
          </p:cNvPr>
          <p:cNvPicPr>
            <a:picLocks noChangeAspect="1"/>
          </p:cNvPicPr>
          <p:nvPr/>
        </p:nvPicPr>
        <p:blipFill>
          <a:blip r:embed="rId7"/>
          <a:stretch>
            <a:fillRect/>
          </a:stretch>
        </p:blipFill>
        <p:spPr>
          <a:xfrm>
            <a:off x="834040" y="4779508"/>
            <a:ext cx="828653" cy="802697"/>
          </a:xfrm>
          <a:prstGeom prst="rect">
            <a:avLst/>
          </a:prstGeom>
          <a:ln>
            <a:noFill/>
          </a:ln>
        </p:spPr>
      </p:pic>
      <p:pic>
        <p:nvPicPr>
          <p:cNvPr id="2" name="Imagen 1" descr="Interfaz de usuario gráfica&#10;&#10;El contenido generado por IA puede ser incorrecto.">
            <a:extLst>
              <a:ext uri="{FF2B5EF4-FFF2-40B4-BE49-F238E27FC236}">
                <a16:creationId xmlns:a16="http://schemas.microsoft.com/office/drawing/2014/main" id="{A7143069-BD46-639B-D1D3-F2C2A9533672}"/>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5798839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F9A78-24DF-4615-D80B-9A13FD06AAD2}"/>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C2AE72AD-9937-71DD-B670-211F865D8392}"/>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2FDE295B-012E-D9A7-0164-DED0FF59EC8B}"/>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92536ACD-D861-31C9-D3EA-286795F84DEC}"/>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PMD: Instalación</a:t>
            </a:r>
          </a:p>
        </p:txBody>
      </p:sp>
      <p:sp>
        <p:nvSpPr>
          <p:cNvPr id="2" name="CuadroTexto 1">
            <a:extLst>
              <a:ext uri="{FF2B5EF4-FFF2-40B4-BE49-F238E27FC236}">
                <a16:creationId xmlns:a16="http://schemas.microsoft.com/office/drawing/2014/main" id="{076BCF9A-7855-A86E-CD07-F39BC137B6E9}"/>
              </a:ext>
            </a:extLst>
          </p:cNvPr>
          <p:cNvSpPr txBox="1"/>
          <p:nvPr/>
        </p:nvSpPr>
        <p:spPr>
          <a:xfrm>
            <a:off x="2005271" y="1601129"/>
            <a:ext cx="830552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ea typeface="+mn-lt"/>
                <a:cs typeface="+mn-lt"/>
              </a:rPr>
              <a:t>Navega a </a:t>
            </a:r>
            <a:r>
              <a:rPr lang="es-ES" sz="1500">
                <a:latin typeface="Trebuchet MS" panose="020B0603020202020204" pitchFamily="34" charset="0"/>
                <a:ea typeface="+mn-lt"/>
                <a:cs typeface="+mn-lt"/>
                <a:hlinkClick r:id="rId4"/>
              </a:rPr>
              <a:t>https://pmd.github.io/</a:t>
            </a:r>
            <a:r>
              <a:rPr lang="es-ES" sz="1500">
                <a:latin typeface="Trebuchet MS" panose="020B0603020202020204" pitchFamily="34" charset="0"/>
                <a:ea typeface="+mn-lt"/>
                <a:cs typeface="+mn-lt"/>
              </a:rPr>
              <a:t>, Selecciona tu sistema operativo y sigue los pasos de instalación.</a:t>
            </a:r>
          </a:p>
        </p:txBody>
      </p:sp>
      <p:pic>
        <p:nvPicPr>
          <p:cNvPr id="9" name="Imagen 8" descr="Icono&#10;&#10;Descripción generada automáticamente">
            <a:extLst>
              <a:ext uri="{FF2B5EF4-FFF2-40B4-BE49-F238E27FC236}">
                <a16:creationId xmlns:a16="http://schemas.microsoft.com/office/drawing/2014/main" id="{97ED254B-AB7A-2F81-76E9-43417835412B}"/>
              </a:ext>
            </a:extLst>
          </p:cNvPr>
          <p:cNvPicPr>
            <a:picLocks noChangeAspect="1"/>
          </p:cNvPicPr>
          <p:nvPr/>
        </p:nvPicPr>
        <p:blipFill>
          <a:blip r:embed="rId5"/>
          <a:stretch>
            <a:fillRect/>
          </a:stretch>
        </p:blipFill>
        <p:spPr>
          <a:xfrm>
            <a:off x="1025314" y="1470506"/>
            <a:ext cx="678552" cy="683662"/>
          </a:xfrm>
          <a:prstGeom prst="rect">
            <a:avLst/>
          </a:prstGeom>
        </p:spPr>
      </p:pic>
      <p:pic>
        <p:nvPicPr>
          <p:cNvPr id="11" name="Imagen 10" descr="Icono&#10;&#10;Descripción generada automáticamente">
            <a:extLst>
              <a:ext uri="{FF2B5EF4-FFF2-40B4-BE49-F238E27FC236}">
                <a16:creationId xmlns:a16="http://schemas.microsoft.com/office/drawing/2014/main" id="{208407C7-F43A-0F0A-5AFE-D92CDED60FF8}"/>
              </a:ext>
            </a:extLst>
          </p:cNvPr>
          <p:cNvPicPr>
            <a:picLocks noChangeAspect="1"/>
          </p:cNvPicPr>
          <p:nvPr/>
        </p:nvPicPr>
        <p:blipFill>
          <a:blip r:embed="rId6"/>
          <a:stretch>
            <a:fillRect/>
          </a:stretch>
        </p:blipFill>
        <p:spPr>
          <a:xfrm>
            <a:off x="868661" y="2664003"/>
            <a:ext cx="934760" cy="587309"/>
          </a:xfrm>
          <a:prstGeom prst="rect">
            <a:avLst/>
          </a:prstGeom>
          <a:ln>
            <a:noFill/>
          </a:ln>
        </p:spPr>
      </p:pic>
      <p:sp>
        <p:nvSpPr>
          <p:cNvPr id="12" name="CuadroTexto 11">
            <a:extLst>
              <a:ext uri="{FF2B5EF4-FFF2-40B4-BE49-F238E27FC236}">
                <a16:creationId xmlns:a16="http://schemas.microsoft.com/office/drawing/2014/main" id="{68B9795D-FF73-33A8-FC0B-9C642F4014A2}"/>
              </a:ext>
            </a:extLst>
          </p:cNvPr>
          <p:cNvSpPr txBox="1"/>
          <p:nvPr/>
        </p:nvSpPr>
        <p:spPr>
          <a:xfrm>
            <a:off x="2005079" y="2664635"/>
            <a:ext cx="8305520" cy="20980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ES" sz="1400">
                <a:latin typeface="Trebuchet MS" panose="020B0603020202020204" pitchFamily="34" charset="0"/>
                <a:ea typeface="+mn-lt"/>
                <a:cs typeface="+mn-lt"/>
              </a:rPr>
              <a:t>Ejecuta el comando </a:t>
            </a:r>
            <a:r>
              <a:rPr lang="es-ES" sz="1400">
                <a:solidFill>
                  <a:srgbClr val="212529"/>
                </a:solidFill>
                <a:latin typeface="Trebuchet MS" panose="020B0603020202020204" pitchFamily="34" charset="0"/>
                <a:ea typeface="+mn-lt"/>
                <a:cs typeface="+mn-lt"/>
              </a:rPr>
              <a:t> </a:t>
            </a:r>
            <a:endParaRPr lang="es-ES" sz="1400">
              <a:latin typeface="Trebuchet MS" panose="020B0603020202020204" pitchFamily="34" charset="0"/>
              <a:ea typeface="+mn-lt"/>
              <a:cs typeface="+mn-lt"/>
            </a:endParaRPr>
          </a:p>
          <a:p>
            <a:r>
              <a:rPr lang="es-ES" sz="1400">
                <a:latin typeface="Trebuchet MS" panose="020B0603020202020204" pitchFamily="34" charset="0"/>
                <a:ea typeface="+mn-lt"/>
                <a:cs typeface="+mn-lt"/>
              </a:rPr>
              <a:t>pmd.bat </a:t>
            </a:r>
            <a:r>
              <a:rPr lang="es-ES" sz="1400" err="1">
                <a:latin typeface="Trebuchet MS" panose="020B0603020202020204" pitchFamily="34" charset="0"/>
                <a:ea typeface="+mn-lt"/>
                <a:cs typeface="+mn-lt"/>
              </a:rPr>
              <a:t>check</a:t>
            </a:r>
            <a:r>
              <a:rPr lang="es-ES" sz="1400">
                <a:latin typeface="Trebuchet MS" panose="020B0603020202020204" pitchFamily="34" charset="0"/>
                <a:ea typeface="+mn-lt"/>
                <a:cs typeface="+mn-lt"/>
              </a:rPr>
              <a:t> -d c:\src -R </a:t>
            </a:r>
            <a:r>
              <a:rPr lang="es-ES" sz="1400" err="1">
                <a:latin typeface="Trebuchet MS" panose="020B0603020202020204" pitchFamily="34" charset="0"/>
                <a:ea typeface="+mn-lt"/>
                <a:cs typeface="+mn-lt"/>
              </a:rPr>
              <a:t>rulesets</a:t>
            </a:r>
            <a:r>
              <a:rPr lang="es-ES" sz="1400">
                <a:latin typeface="Trebuchet MS" panose="020B0603020202020204" pitchFamily="34" charset="0"/>
                <a:ea typeface="+mn-lt"/>
                <a:cs typeface="+mn-lt"/>
              </a:rPr>
              <a:t>/java/quickstart.xml -f </a:t>
            </a:r>
            <a:r>
              <a:rPr lang="es-ES" sz="1400" err="1">
                <a:latin typeface="Trebuchet MS" panose="020B0603020202020204" pitchFamily="34" charset="0"/>
                <a:ea typeface="+mn-lt"/>
                <a:cs typeface="+mn-lt"/>
              </a:rPr>
              <a:t>text</a:t>
            </a:r>
            <a:r>
              <a:rPr lang="es-ES" sz="1400">
                <a:latin typeface="Trebuchet MS" panose="020B0603020202020204" pitchFamily="34" charset="0"/>
                <a:ea typeface="+mn-lt"/>
                <a:cs typeface="+mn-lt"/>
              </a:rPr>
              <a:t> –r </a:t>
            </a:r>
            <a:r>
              <a:rPr lang="es-ES" sz="1400" err="1">
                <a:latin typeface="Trebuchet MS" panose="020B0603020202020204" pitchFamily="34" charset="0"/>
                <a:ea typeface="+mn-lt"/>
                <a:cs typeface="+mn-lt"/>
              </a:rPr>
              <a:t>archivoOutput</a:t>
            </a:r>
            <a:endParaRPr lang="es-ES" sz="1400">
              <a:latin typeface="Trebuchet MS" panose="020B0603020202020204" pitchFamily="34" charset="0"/>
              <a:ea typeface="+mn-lt"/>
              <a:cs typeface="+mn-lt"/>
            </a:endParaRPr>
          </a:p>
          <a:p>
            <a:pPr marL="285750" indent="-285750">
              <a:lnSpc>
                <a:spcPct val="150000"/>
              </a:lnSpc>
              <a:buFont typeface="Arial"/>
              <a:buChar char="•"/>
            </a:pPr>
            <a:r>
              <a:rPr lang="es-ES" sz="1400">
                <a:latin typeface="Trebuchet MS" panose="020B0603020202020204" pitchFamily="34" charset="0"/>
                <a:ea typeface="+mn-lt"/>
                <a:cs typeface="+mn-lt"/>
              </a:rPr>
              <a:t>Cambia "</a:t>
            </a:r>
            <a:r>
              <a:rPr lang="es-ES" sz="1400" err="1">
                <a:latin typeface="Trebuchet MS" panose="020B0603020202020204" pitchFamily="34" charset="0"/>
                <a:ea typeface="+mn-lt"/>
                <a:cs typeface="+mn-lt"/>
              </a:rPr>
              <a:t>src</a:t>
            </a:r>
            <a:r>
              <a:rPr lang="es-ES" sz="1400">
                <a:latin typeface="Trebuchet MS" panose="020B0603020202020204" pitchFamily="34" charset="0"/>
                <a:ea typeface="+mn-lt"/>
                <a:cs typeface="+mn-lt"/>
              </a:rPr>
              <a:t>" por el destino del proyecto (puedes usar ruta relativa).</a:t>
            </a:r>
          </a:p>
          <a:p>
            <a:pPr marL="285750" indent="-285750">
              <a:lnSpc>
                <a:spcPct val="150000"/>
              </a:lnSpc>
              <a:buFont typeface="Arial"/>
              <a:buChar char="•"/>
            </a:pPr>
            <a:r>
              <a:rPr lang="es-ES" sz="1400">
                <a:latin typeface="Trebuchet MS" panose="020B0603020202020204" pitchFamily="34" charset="0"/>
                <a:ea typeface="+mn-lt"/>
                <a:cs typeface="+mn-lt"/>
              </a:rPr>
              <a:t>-R indica el set de reglas, para los ejemplos usaremos </a:t>
            </a:r>
            <a:r>
              <a:rPr lang="es-ES" sz="1400" err="1">
                <a:latin typeface="Trebuchet MS" panose="020B0603020202020204" pitchFamily="34" charset="0"/>
                <a:ea typeface="+mn-lt"/>
                <a:cs typeface="+mn-lt"/>
              </a:rPr>
              <a:t>quickstart</a:t>
            </a:r>
            <a:r>
              <a:rPr lang="es-ES" sz="1400">
                <a:latin typeface="Trebuchet MS" panose="020B0603020202020204" pitchFamily="34" charset="0"/>
                <a:ea typeface="+mn-lt"/>
                <a:cs typeface="+mn-lt"/>
              </a:rPr>
              <a:t>, para mas información consulta </a:t>
            </a:r>
            <a:r>
              <a:rPr lang="es-ES" sz="1400">
                <a:latin typeface="Trebuchet MS" panose="020B0603020202020204" pitchFamily="34" charset="0"/>
                <a:ea typeface="+mn-lt"/>
                <a:cs typeface="+mn-lt"/>
                <a:hlinkClick r:id="rId7"/>
              </a:rPr>
              <a:t>https://docs.pmd-code.org/pmd-doc-7.0.0/pmd_userdocs_making_rulesets.html</a:t>
            </a:r>
          </a:p>
          <a:p>
            <a:pPr marL="285750" indent="-285750">
              <a:lnSpc>
                <a:spcPct val="150000"/>
              </a:lnSpc>
              <a:buFont typeface="Arial"/>
              <a:buChar char="•"/>
            </a:pPr>
            <a:r>
              <a:rPr lang="es-ES" sz="1400">
                <a:latin typeface="Trebuchet MS" panose="020B0603020202020204" pitchFamily="34" charset="0"/>
                <a:ea typeface="+mn-lt"/>
                <a:cs typeface="+mn-lt"/>
              </a:rPr>
              <a:t>-f indica el formato de output.</a:t>
            </a:r>
          </a:p>
          <a:p>
            <a:pPr marL="285750" indent="-285750">
              <a:lnSpc>
                <a:spcPct val="150000"/>
              </a:lnSpc>
              <a:buFont typeface="Arial"/>
              <a:buChar char="•"/>
            </a:pPr>
            <a:r>
              <a:rPr lang="es-ES" sz="1400">
                <a:latin typeface="Trebuchet MS" panose="020B0603020202020204" pitchFamily="34" charset="0"/>
                <a:ea typeface="+mn-lt"/>
                <a:cs typeface="+mn-lt"/>
              </a:rPr>
              <a:t>-r vuelca el output en un archivo</a:t>
            </a:r>
          </a:p>
        </p:txBody>
      </p:sp>
      <p:pic>
        <p:nvPicPr>
          <p:cNvPr id="13" name="Imagen 12">
            <a:extLst>
              <a:ext uri="{FF2B5EF4-FFF2-40B4-BE49-F238E27FC236}">
                <a16:creationId xmlns:a16="http://schemas.microsoft.com/office/drawing/2014/main" id="{EAF4A215-AC24-02EB-9BAE-A4CF97AA5F60}"/>
              </a:ext>
            </a:extLst>
          </p:cNvPr>
          <p:cNvPicPr>
            <a:picLocks noChangeAspect="1"/>
          </p:cNvPicPr>
          <p:nvPr/>
        </p:nvPicPr>
        <p:blipFill>
          <a:blip r:embed="rId8"/>
          <a:stretch>
            <a:fillRect/>
          </a:stretch>
        </p:blipFill>
        <p:spPr>
          <a:xfrm>
            <a:off x="869924" y="5237452"/>
            <a:ext cx="1004090" cy="388275"/>
          </a:xfrm>
          <a:prstGeom prst="rect">
            <a:avLst/>
          </a:prstGeom>
        </p:spPr>
      </p:pic>
      <p:sp>
        <p:nvSpPr>
          <p:cNvPr id="14" name="CuadroTexto 13">
            <a:extLst>
              <a:ext uri="{FF2B5EF4-FFF2-40B4-BE49-F238E27FC236}">
                <a16:creationId xmlns:a16="http://schemas.microsoft.com/office/drawing/2014/main" id="{E6DBC874-F030-D919-FD3E-2FBA363A9E1A}"/>
              </a:ext>
            </a:extLst>
          </p:cNvPr>
          <p:cNvSpPr txBox="1"/>
          <p:nvPr/>
        </p:nvSpPr>
        <p:spPr>
          <a:xfrm>
            <a:off x="2003842" y="5270570"/>
            <a:ext cx="6996659"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cs typeface="Calibri"/>
              </a:rPr>
              <a:t>¡Comprueba las sugerencias en el archivo creado!</a:t>
            </a:r>
          </a:p>
        </p:txBody>
      </p:sp>
      <p:pic>
        <p:nvPicPr>
          <p:cNvPr id="3" name="Imagen 2" descr="Interfaz de usuario gráfica&#10;&#10;El contenido generado por IA puede ser incorrecto.">
            <a:extLst>
              <a:ext uri="{FF2B5EF4-FFF2-40B4-BE49-F238E27FC236}">
                <a16:creationId xmlns:a16="http://schemas.microsoft.com/office/drawing/2014/main" id="{185DB23B-3C17-4105-3A5F-CCEEF17B7835}"/>
              </a:ext>
            </a:extLst>
          </p:cNvPr>
          <p:cNvPicPr>
            <a:picLocks noChangeAspect="1"/>
          </p:cNvPicPr>
          <p:nvPr/>
        </p:nvPicPr>
        <p:blipFill>
          <a:blip r:embed="rId9">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537917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FA848-0105-3F17-1F8F-6B5051E38A07}"/>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21DA1013-C023-0F9A-24C0-51E733256656}"/>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DD49F373-DD6E-A816-3F5E-8A4D7E5B9EF1}"/>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1D3356C9-4C79-03C3-785E-0AF517804C19}"/>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PMD: Prueba</a:t>
            </a:r>
          </a:p>
        </p:txBody>
      </p:sp>
      <p:pic>
        <p:nvPicPr>
          <p:cNvPr id="3" name="Imagen 2" descr="Texto&#10;&#10;Descripción generada automáticamente">
            <a:extLst>
              <a:ext uri="{FF2B5EF4-FFF2-40B4-BE49-F238E27FC236}">
                <a16:creationId xmlns:a16="http://schemas.microsoft.com/office/drawing/2014/main" id="{BB614853-94CE-502F-A8EF-D069FFE39E25}"/>
              </a:ext>
            </a:extLst>
          </p:cNvPr>
          <p:cNvPicPr>
            <a:picLocks noChangeAspect="1"/>
          </p:cNvPicPr>
          <p:nvPr/>
        </p:nvPicPr>
        <p:blipFill>
          <a:blip r:embed="rId4"/>
          <a:stretch>
            <a:fillRect/>
          </a:stretch>
        </p:blipFill>
        <p:spPr>
          <a:xfrm>
            <a:off x="2628185" y="1003967"/>
            <a:ext cx="6752515" cy="4961706"/>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2F9CDA6F-CC8D-7F9B-8EED-8703866407FB}"/>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5975676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5745B-2B44-CF43-140D-F6EDD2FCEC6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71DBC54-92A1-844F-656C-208A97DE50B3}"/>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9C4F3ED7-CBCD-458F-BC3E-AC44C2BCF681}"/>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A063FE36-6FCF-3D8A-96FD-6DDDA22C0833}"/>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Spotbugs</a:t>
            </a:r>
            <a:r>
              <a:rPr lang="es-ES" dirty="0">
                <a:solidFill>
                  <a:schemeClr val="tx1">
                    <a:lumMod val="75000"/>
                    <a:lumOff val="25000"/>
                  </a:schemeClr>
                </a:solidFill>
              </a:rPr>
              <a:t>: No solo de PMD vive el hombre</a:t>
            </a:r>
          </a:p>
        </p:txBody>
      </p:sp>
      <p:sp>
        <p:nvSpPr>
          <p:cNvPr id="2" name="CuadroTexto 1">
            <a:extLst>
              <a:ext uri="{FF2B5EF4-FFF2-40B4-BE49-F238E27FC236}">
                <a16:creationId xmlns:a16="http://schemas.microsoft.com/office/drawing/2014/main" id="{FF9A9ABC-B16E-3282-4798-E153445B8F0B}"/>
              </a:ext>
            </a:extLst>
          </p:cNvPr>
          <p:cNvSpPr txBox="1"/>
          <p:nvPr/>
        </p:nvSpPr>
        <p:spPr>
          <a:xfrm>
            <a:off x="1817819" y="4795511"/>
            <a:ext cx="930637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solidFill>
                  <a:srgbClr val="595959"/>
                </a:solidFill>
                <a:latin typeface="Trebuchet MS" panose="020B0603020202020204" pitchFamily="34" charset="0"/>
              </a:rPr>
              <a:t>Característica </a:t>
            </a:r>
            <a:r>
              <a:rPr lang="es-ES" sz="1500" b="1" baseline="0" dirty="0">
                <a:solidFill>
                  <a:srgbClr val="595959"/>
                </a:solidFill>
                <a:latin typeface="Trebuchet MS" panose="020B0603020202020204" pitchFamily="34" charset="0"/>
              </a:rPr>
              <a:t>clave:</a:t>
            </a:r>
            <a:endParaRPr lang="es-ES" dirty="0">
              <a:latin typeface="Trebuchet MS" panose="020B0603020202020204" pitchFamily="34" charset="0"/>
              <a:ea typeface="+mn-lt"/>
              <a:cs typeface="+mn-lt"/>
            </a:endParaRPr>
          </a:p>
          <a:p>
            <a:r>
              <a:rPr lang="es-ES" sz="1500" dirty="0" err="1">
                <a:latin typeface="Trebuchet MS" panose="020B0603020202020204" pitchFamily="34" charset="0"/>
                <a:ea typeface="+mn-lt"/>
                <a:cs typeface="+mn-lt"/>
              </a:rPr>
              <a:t>SpotBugs</a:t>
            </a:r>
            <a:r>
              <a:rPr lang="es-ES" sz="1500" dirty="0">
                <a:latin typeface="Trebuchet MS" panose="020B0603020202020204" pitchFamily="34" charset="0"/>
                <a:ea typeface="+mn-lt"/>
                <a:cs typeface="+mn-lt"/>
              </a:rPr>
              <a:t> se destaca por su extensa base de datos de patrones de errores, lo que permite un análisis detallado y preciso del código. Se integra fácilmente con </a:t>
            </a:r>
            <a:r>
              <a:rPr lang="es-ES" sz="1500" dirty="0" err="1">
                <a:latin typeface="Trebuchet MS" panose="020B0603020202020204" pitchFamily="34" charset="0"/>
                <a:ea typeface="+mn-lt"/>
                <a:cs typeface="+mn-lt"/>
              </a:rPr>
              <a:t>IDEs</a:t>
            </a:r>
            <a:r>
              <a:rPr lang="es-ES" sz="1500" dirty="0">
                <a:latin typeface="Trebuchet MS" panose="020B0603020202020204" pitchFamily="34" charset="0"/>
                <a:ea typeface="+mn-lt"/>
                <a:cs typeface="+mn-lt"/>
              </a:rPr>
              <a:t> y herramientas de CI/CD, facilitando el desarrollo seguro y la mejora continua de la calidad del código.</a:t>
            </a:r>
            <a:endParaRPr lang="es-ES" dirty="0">
              <a:latin typeface="Trebuchet MS" panose="020B0603020202020204" pitchFamily="34" charset="0"/>
            </a:endParaRPr>
          </a:p>
        </p:txBody>
      </p:sp>
      <p:pic>
        <p:nvPicPr>
          <p:cNvPr id="4" name="Gráfico 6">
            <a:extLst>
              <a:ext uri="{FF2B5EF4-FFF2-40B4-BE49-F238E27FC236}">
                <a16:creationId xmlns:a16="http://schemas.microsoft.com/office/drawing/2014/main" id="{6E809F54-07D0-EAB5-8C3D-D24E3CF5B7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6560" y="4862510"/>
            <a:ext cx="1382792" cy="990080"/>
          </a:xfrm>
          <a:prstGeom prst="rect">
            <a:avLst/>
          </a:prstGeom>
        </p:spPr>
      </p:pic>
      <p:sp>
        <p:nvSpPr>
          <p:cNvPr id="6" name="CuadroTexto 5">
            <a:extLst>
              <a:ext uri="{FF2B5EF4-FFF2-40B4-BE49-F238E27FC236}">
                <a16:creationId xmlns:a16="http://schemas.microsoft.com/office/drawing/2014/main" id="{C3784377-3E35-F2D2-A27D-39CE48110C99}"/>
              </a:ext>
            </a:extLst>
          </p:cNvPr>
          <p:cNvSpPr txBox="1"/>
          <p:nvPr/>
        </p:nvSpPr>
        <p:spPr>
          <a:xfrm>
            <a:off x="2915270" y="2864323"/>
            <a:ext cx="439517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500" err="1">
                <a:solidFill>
                  <a:schemeClr val="accent6"/>
                </a:solidFill>
                <a:latin typeface="Matura MT Script Capitals"/>
                <a:cs typeface="Calibri"/>
              </a:rPr>
              <a:t>Find</a:t>
            </a:r>
            <a:r>
              <a:rPr lang="es-ES" sz="2500">
                <a:solidFill>
                  <a:schemeClr val="accent6"/>
                </a:solidFill>
                <a:latin typeface="Matura MT Script Capitals"/>
                <a:cs typeface="Calibri"/>
              </a:rPr>
              <a:t> bugs in Java </a:t>
            </a:r>
            <a:r>
              <a:rPr lang="es-ES" sz="2500" err="1">
                <a:solidFill>
                  <a:schemeClr val="accent6"/>
                </a:solidFill>
                <a:latin typeface="Matura MT Script Capitals"/>
                <a:cs typeface="Calibri"/>
              </a:rPr>
              <a:t>programs</a:t>
            </a:r>
            <a:endParaRPr lang="es-ES" sz="2500">
              <a:solidFill>
                <a:schemeClr val="accent6"/>
              </a:solidFill>
              <a:latin typeface="Matura MT Script Capitals"/>
              <a:cs typeface="Calibri"/>
            </a:endParaRPr>
          </a:p>
        </p:txBody>
      </p:sp>
      <p:pic>
        <p:nvPicPr>
          <p:cNvPr id="7" name="Imagen 6" descr="Icono&#10;&#10;Descripción generada automáticamente">
            <a:extLst>
              <a:ext uri="{FF2B5EF4-FFF2-40B4-BE49-F238E27FC236}">
                <a16:creationId xmlns:a16="http://schemas.microsoft.com/office/drawing/2014/main" id="{08CE933E-E8B0-9690-0BF2-89F667DE7C21}"/>
              </a:ext>
            </a:extLst>
          </p:cNvPr>
          <p:cNvPicPr>
            <a:picLocks noChangeAspect="1"/>
          </p:cNvPicPr>
          <p:nvPr/>
        </p:nvPicPr>
        <p:blipFill>
          <a:blip r:embed="rId6"/>
          <a:stretch>
            <a:fillRect/>
          </a:stretch>
        </p:blipFill>
        <p:spPr>
          <a:xfrm>
            <a:off x="523785" y="3435777"/>
            <a:ext cx="1014905" cy="890678"/>
          </a:xfrm>
          <a:prstGeom prst="rect">
            <a:avLst/>
          </a:prstGeom>
          <a:ln>
            <a:noFill/>
          </a:ln>
        </p:spPr>
      </p:pic>
      <p:pic>
        <p:nvPicPr>
          <p:cNvPr id="8" name="Imagen 7">
            <a:extLst>
              <a:ext uri="{FF2B5EF4-FFF2-40B4-BE49-F238E27FC236}">
                <a16:creationId xmlns:a16="http://schemas.microsoft.com/office/drawing/2014/main" id="{A6211C17-3560-313D-F692-F0215E1D9BB2}"/>
              </a:ext>
            </a:extLst>
          </p:cNvPr>
          <p:cNvPicPr>
            <a:picLocks noChangeAspect="1"/>
          </p:cNvPicPr>
          <p:nvPr/>
        </p:nvPicPr>
        <p:blipFill>
          <a:blip r:embed="rId7"/>
          <a:stretch>
            <a:fillRect/>
          </a:stretch>
        </p:blipFill>
        <p:spPr>
          <a:xfrm>
            <a:off x="3205265" y="1160715"/>
            <a:ext cx="4081875" cy="1707176"/>
          </a:xfrm>
          <a:prstGeom prst="rect">
            <a:avLst/>
          </a:prstGeom>
          <a:ln>
            <a:noFill/>
          </a:ln>
        </p:spPr>
      </p:pic>
      <p:sp>
        <p:nvSpPr>
          <p:cNvPr id="9" name="CuadroTexto 8">
            <a:extLst>
              <a:ext uri="{FF2B5EF4-FFF2-40B4-BE49-F238E27FC236}">
                <a16:creationId xmlns:a16="http://schemas.microsoft.com/office/drawing/2014/main" id="{EE409C5C-1F53-97EF-C12A-4AD5D3D28231}"/>
              </a:ext>
            </a:extLst>
          </p:cNvPr>
          <p:cNvSpPr txBox="1"/>
          <p:nvPr/>
        </p:nvSpPr>
        <p:spPr>
          <a:xfrm>
            <a:off x="1817807" y="3558168"/>
            <a:ext cx="901625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sz="1500" dirty="0" err="1">
                <a:latin typeface="Trebuchet MS" panose="020B0603020202020204" pitchFamily="34" charset="0"/>
              </a:rPr>
              <a:t>SpotBugs</a:t>
            </a:r>
            <a:r>
              <a:rPr lang="es-ES" sz="1500" dirty="0">
                <a:latin typeface="Trebuchet MS" panose="020B0603020202020204" pitchFamily="34" charset="0"/>
              </a:rPr>
              <a:t> es la evolución de </a:t>
            </a:r>
            <a:r>
              <a:rPr lang="es-ES" sz="1500" dirty="0" err="1">
                <a:latin typeface="Trebuchet MS" panose="020B0603020202020204" pitchFamily="34" charset="0"/>
              </a:rPr>
              <a:t>FindBugs</a:t>
            </a:r>
            <a:r>
              <a:rPr lang="es-ES" sz="1500" dirty="0">
                <a:latin typeface="Trebuchet MS" panose="020B0603020202020204" pitchFamily="34" charset="0"/>
              </a:rPr>
              <a:t>, utiliza patrones de código para detectar una amplia gama de problemas, desde errores simples hasta posibles vulnerabilidades complejas.</a:t>
            </a:r>
          </a:p>
        </p:txBody>
      </p:sp>
      <p:pic>
        <p:nvPicPr>
          <p:cNvPr id="3" name="Imagen 2" descr="Interfaz de usuario gráfica&#10;&#10;El contenido generado por IA puede ser incorrecto.">
            <a:extLst>
              <a:ext uri="{FF2B5EF4-FFF2-40B4-BE49-F238E27FC236}">
                <a16:creationId xmlns:a16="http://schemas.microsoft.com/office/drawing/2014/main" id="{597AA6A4-B6D4-8455-8728-399F800C4E51}"/>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750166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772E-EC0E-2E12-23F9-9BE05FD6EED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917E2323-63E0-C4AD-E6DE-196856DB97A4}"/>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B1444785-1BCB-3ADC-8C31-9DD484848406}"/>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91A93F12-FB15-A3F9-678E-1BB3A37F392A}"/>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Spotbugs</a:t>
            </a:r>
            <a:r>
              <a:rPr lang="es-ES" dirty="0">
                <a:solidFill>
                  <a:schemeClr val="tx1">
                    <a:lumMod val="75000"/>
                    <a:lumOff val="25000"/>
                  </a:schemeClr>
                </a:solidFill>
              </a:rPr>
              <a:t>: Características destacadas</a:t>
            </a:r>
          </a:p>
        </p:txBody>
      </p:sp>
      <p:pic>
        <p:nvPicPr>
          <p:cNvPr id="3" name="Imagen 2" descr="Icono&#10;&#10;Descripción generada automáticamente">
            <a:extLst>
              <a:ext uri="{FF2B5EF4-FFF2-40B4-BE49-F238E27FC236}">
                <a16:creationId xmlns:a16="http://schemas.microsoft.com/office/drawing/2014/main" id="{D7908265-35C7-9AEE-FAAD-2ECD72B32499}"/>
              </a:ext>
            </a:extLst>
          </p:cNvPr>
          <p:cNvPicPr>
            <a:picLocks noChangeAspect="1"/>
          </p:cNvPicPr>
          <p:nvPr/>
        </p:nvPicPr>
        <p:blipFill>
          <a:blip r:embed="rId4"/>
          <a:stretch>
            <a:fillRect/>
          </a:stretch>
        </p:blipFill>
        <p:spPr>
          <a:xfrm>
            <a:off x="802683" y="1564137"/>
            <a:ext cx="1035802" cy="687294"/>
          </a:xfrm>
          <a:prstGeom prst="rect">
            <a:avLst/>
          </a:prstGeom>
          <a:ln>
            <a:noFill/>
          </a:ln>
        </p:spPr>
      </p:pic>
      <p:pic>
        <p:nvPicPr>
          <p:cNvPr id="11" name="Imagen 10" descr="Icono&#10;&#10;Descripción generada automáticamente">
            <a:extLst>
              <a:ext uri="{FF2B5EF4-FFF2-40B4-BE49-F238E27FC236}">
                <a16:creationId xmlns:a16="http://schemas.microsoft.com/office/drawing/2014/main" id="{41C20617-7A08-2562-D848-6574BEE41733}"/>
              </a:ext>
            </a:extLst>
          </p:cNvPr>
          <p:cNvPicPr>
            <a:picLocks noChangeAspect="1"/>
          </p:cNvPicPr>
          <p:nvPr/>
        </p:nvPicPr>
        <p:blipFill>
          <a:blip r:embed="rId5"/>
          <a:stretch>
            <a:fillRect/>
          </a:stretch>
        </p:blipFill>
        <p:spPr>
          <a:xfrm>
            <a:off x="774458" y="3855397"/>
            <a:ext cx="1032514" cy="487745"/>
          </a:xfrm>
          <a:prstGeom prst="rect">
            <a:avLst/>
          </a:prstGeom>
        </p:spPr>
      </p:pic>
      <p:pic>
        <p:nvPicPr>
          <p:cNvPr id="12" name="Imagen 11" descr="Icono&#10;&#10;Descripción generada automáticamente">
            <a:extLst>
              <a:ext uri="{FF2B5EF4-FFF2-40B4-BE49-F238E27FC236}">
                <a16:creationId xmlns:a16="http://schemas.microsoft.com/office/drawing/2014/main" id="{D5B5470D-308F-4131-7F69-FD1937D52B7B}"/>
              </a:ext>
            </a:extLst>
          </p:cNvPr>
          <p:cNvPicPr>
            <a:picLocks noChangeAspect="1"/>
          </p:cNvPicPr>
          <p:nvPr/>
        </p:nvPicPr>
        <p:blipFill>
          <a:blip r:embed="rId6"/>
          <a:stretch>
            <a:fillRect/>
          </a:stretch>
        </p:blipFill>
        <p:spPr>
          <a:xfrm>
            <a:off x="780235" y="2629366"/>
            <a:ext cx="1023634" cy="572993"/>
          </a:xfrm>
          <a:prstGeom prst="rect">
            <a:avLst/>
          </a:prstGeom>
          <a:ln>
            <a:noFill/>
          </a:ln>
        </p:spPr>
      </p:pic>
      <p:sp>
        <p:nvSpPr>
          <p:cNvPr id="13" name="CuadroTexto 12">
            <a:extLst>
              <a:ext uri="{FF2B5EF4-FFF2-40B4-BE49-F238E27FC236}">
                <a16:creationId xmlns:a16="http://schemas.microsoft.com/office/drawing/2014/main" id="{1CC91FF5-717C-5ACA-B647-48EB56FE42CD}"/>
              </a:ext>
            </a:extLst>
          </p:cNvPr>
          <p:cNvSpPr txBox="1"/>
          <p:nvPr/>
        </p:nvSpPr>
        <p:spPr>
          <a:xfrm>
            <a:off x="1917372" y="1458523"/>
            <a:ext cx="8768255"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Análisis detallado de código:</a:t>
            </a:r>
            <a:r>
              <a:rPr lang="es-ES" sz="1500">
                <a:latin typeface="Trebuchet MS" panose="020B0603020202020204" pitchFamily="34" charset="0"/>
                <a:ea typeface="+mn-lt"/>
                <a:cs typeface="+mn-lt"/>
              </a:rPr>
              <a:t>  Utiliza técnicas avanzadas de análisis para identificar errores difíciles de detectar, incluyendo problemas de concurrencia, control de acceso inadecuado, y mal manejo de excepciones.</a:t>
            </a:r>
            <a:endParaRPr lang="es-ES">
              <a:latin typeface="Trebuchet MS" panose="020B0603020202020204" pitchFamily="34" charset="0"/>
            </a:endParaRPr>
          </a:p>
        </p:txBody>
      </p:sp>
      <p:sp>
        <p:nvSpPr>
          <p:cNvPr id="14" name="CuadroTexto 13">
            <a:extLst>
              <a:ext uri="{FF2B5EF4-FFF2-40B4-BE49-F238E27FC236}">
                <a16:creationId xmlns:a16="http://schemas.microsoft.com/office/drawing/2014/main" id="{FA82D6D4-8986-3186-C8E3-81E310AE1FAF}"/>
              </a:ext>
            </a:extLst>
          </p:cNvPr>
          <p:cNvSpPr txBox="1"/>
          <p:nvPr/>
        </p:nvSpPr>
        <p:spPr>
          <a:xfrm>
            <a:off x="1917127" y="3785011"/>
            <a:ext cx="8768255"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Integración flexible:</a:t>
            </a:r>
            <a:r>
              <a:rPr lang="es-ES" sz="1500">
                <a:latin typeface="Trebuchet MS" panose="020B0603020202020204" pitchFamily="34" charset="0"/>
                <a:ea typeface="+mn-lt"/>
                <a:cs typeface="+mn-lt"/>
              </a:rPr>
              <a:t> Compatible con los </a:t>
            </a:r>
            <a:r>
              <a:rPr lang="es-ES" sz="1500" err="1">
                <a:latin typeface="Trebuchet MS" panose="020B0603020202020204" pitchFamily="34" charset="0"/>
                <a:ea typeface="+mn-lt"/>
                <a:cs typeface="+mn-lt"/>
              </a:rPr>
              <a:t>IDEs</a:t>
            </a:r>
            <a:r>
              <a:rPr lang="es-ES" sz="1500">
                <a:latin typeface="Trebuchet MS" panose="020B0603020202020204" pitchFamily="34" charset="0"/>
                <a:ea typeface="+mn-lt"/>
                <a:cs typeface="+mn-lt"/>
              </a:rPr>
              <a:t> más populares (como Eclipse, IntelliJ IDEA, y NetBeans) y sistemas de CI/CD, permitiendo análisis en tiempo real y en diferentes etapas del desarrollo.</a:t>
            </a:r>
            <a:endParaRPr lang="es-ES">
              <a:latin typeface="Trebuchet MS" panose="020B0603020202020204" pitchFamily="34" charset="0"/>
              <a:ea typeface="+mn-lt"/>
              <a:cs typeface="+mn-lt"/>
            </a:endParaRPr>
          </a:p>
        </p:txBody>
      </p:sp>
      <p:sp>
        <p:nvSpPr>
          <p:cNvPr id="15" name="CuadroTexto 14">
            <a:extLst>
              <a:ext uri="{FF2B5EF4-FFF2-40B4-BE49-F238E27FC236}">
                <a16:creationId xmlns:a16="http://schemas.microsoft.com/office/drawing/2014/main" id="{98D66388-AB33-7E2B-1DE7-817979F4A025}"/>
              </a:ext>
            </a:extLst>
          </p:cNvPr>
          <p:cNvSpPr txBox="1"/>
          <p:nvPr/>
        </p:nvSpPr>
        <p:spPr>
          <a:xfrm>
            <a:off x="1917161" y="2626937"/>
            <a:ext cx="876825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Detección de bugs y vulnerabilidades:</a:t>
            </a:r>
            <a:r>
              <a:rPr lang="es-ES" sz="1500">
                <a:latin typeface="Trebuchet MS" panose="020B0603020202020204" pitchFamily="34" charset="0"/>
                <a:ea typeface="+mn-lt"/>
                <a:cs typeface="+mn-lt"/>
              </a:rPr>
              <a:t> La plataforma detecta problemas de seguridad y bugs, ofreciendo recomendaciones específicas para su corrección.</a:t>
            </a:r>
            <a:endParaRPr lang="es-ES">
              <a:latin typeface="Trebuchet MS" panose="020B0603020202020204" pitchFamily="34" charset="0"/>
              <a:ea typeface="+mn-lt"/>
              <a:cs typeface="+mn-lt"/>
            </a:endParaRPr>
          </a:p>
        </p:txBody>
      </p:sp>
      <p:sp>
        <p:nvSpPr>
          <p:cNvPr id="16" name="CuadroTexto 15">
            <a:extLst>
              <a:ext uri="{FF2B5EF4-FFF2-40B4-BE49-F238E27FC236}">
                <a16:creationId xmlns:a16="http://schemas.microsoft.com/office/drawing/2014/main" id="{53C7B9B8-0D61-15A9-D9EB-C5AFD145A067}"/>
              </a:ext>
            </a:extLst>
          </p:cNvPr>
          <p:cNvSpPr txBox="1"/>
          <p:nvPr/>
        </p:nvSpPr>
        <p:spPr>
          <a:xfrm>
            <a:off x="1916927" y="5077501"/>
            <a:ext cx="876825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Reportes personalizables:</a:t>
            </a:r>
            <a:r>
              <a:rPr lang="es-ES" sz="1500">
                <a:latin typeface="Trebuchet MS" panose="020B0603020202020204" pitchFamily="34" charset="0"/>
                <a:ea typeface="+mn-lt"/>
                <a:cs typeface="+mn-lt"/>
              </a:rPr>
              <a:t> Genera informes detallados, clasificando los hallazgos por nivel de importancia y ofreciendo recomendaciones de corrección.</a:t>
            </a:r>
          </a:p>
        </p:txBody>
      </p:sp>
      <p:pic>
        <p:nvPicPr>
          <p:cNvPr id="17" name="Imagen 16" descr="Icono&#10;&#10;Descripción generada automáticamente">
            <a:extLst>
              <a:ext uri="{FF2B5EF4-FFF2-40B4-BE49-F238E27FC236}">
                <a16:creationId xmlns:a16="http://schemas.microsoft.com/office/drawing/2014/main" id="{892AC4E7-FCB2-B39F-50E5-A8256F2BEE59}"/>
              </a:ext>
            </a:extLst>
          </p:cNvPr>
          <p:cNvPicPr>
            <a:picLocks noChangeAspect="1"/>
          </p:cNvPicPr>
          <p:nvPr/>
        </p:nvPicPr>
        <p:blipFill>
          <a:blip r:embed="rId7"/>
          <a:stretch>
            <a:fillRect/>
          </a:stretch>
        </p:blipFill>
        <p:spPr>
          <a:xfrm>
            <a:off x="834040" y="4972751"/>
            <a:ext cx="828653" cy="802697"/>
          </a:xfrm>
          <a:prstGeom prst="rect">
            <a:avLst/>
          </a:prstGeom>
          <a:ln>
            <a:noFill/>
          </a:ln>
        </p:spPr>
      </p:pic>
      <p:pic>
        <p:nvPicPr>
          <p:cNvPr id="2" name="Imagen 1" descr="Interfaz de usuario gráfica&#10;&#10;El contenido generado por IA puede ser incorrecto.">
            <a:extLst>
              <a:ext uri="{FF2B5EF4-FFF2-40B4-BE49-F238E27FC236}">
                <a16:creationId xmlns:a16="http://schemas.microsoft.com/office/drawing/2014/main" id="{FBF3F581-6834-690D-477E-66E8869AF602}"/>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923337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3369B-373B-0FAC-DA4B-526A50A8717E}"/>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C852FA6-4259-868C-5877-70B7DDACFAFC}"/>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98091F2A-4B54-CFDC-0E5E-BC1B45EFB139}"/>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277A7C16-E7C2-18B0-2BFE-0C67DBF53756}"/>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Spotbugs</a:t>
            </a:r>
            <a:r>
              <a:rPr lang="es-ES" dirty="0">
                <a:solidFill>
                  <a:schemeClr val="tx1">
                    <a:lumMod val="75000"/>
                    <a:lumOff val="25000"/>
                  </a:schemeClr>
                </a:solidFill>
              </a:rPr>
              <a:t>: Instalación</a:t>
            </a:r>
          </a:p>
        </p:txBody>
      </p:sp>
      <p:sp>
        <p:nvSpPr>
          <p:cNvPr id="2" name="CuadroTexto 1">
            <a:extLst>
              <a:ext uri="{FF2B5EF4-FFF2-40B4-BE49-F238E27FC236}">
                <a16:creationId xmlns:a16="http://schemas.microsoft.com/office/drawing/2014/main" id="{89655DE0-28B8-008A-35B5-4EA5CF24265A}"/>
              </a:ext>
            </a:extLst>
          </p:cNvPr>
          <p:cNvSpPr txBox="1"/>
          <p:nvPr/>
        </p:nvSpPr>
        <p:spPr>
          <a:xfrm>
            <a:off x="2036293" y="1573847"/>
            <a:ext cx="8832195"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a:latin typeface="Trebuchet MS" panose="020B0603020202020204" pitchFamily="34" charset="0"/>
                <a:ea typeface="+mn-lt"/>
                <a:cs typeface="+mn-lt"/>
              </a:rPr>
              <a:t>Navega a https://github.com/spotbugs/spotbugs/releases/tag/4.8.3, selecciona el zip y descárgalo.</a:t>
            </a:r>
          </a:p>
        </p:txBody>
      </p:sp>
      <p:pic>
        <p:nvPicPr>
          <p:cNvPr id="4" name="Imagen 3" descr="Icono&#10;&#10;Descripción generada automáticamente">
            <a:extLst>
              <a:ext uri="{FF2B5EF4-FFF2-40B4-BE49-F238E27FC236}">
                <a16:creationId xmlns:a16="http://schemas.microsoft.com/office/drawing/2014/main" id="{E330E25D-0E0E-A132-A677-8F5458636289}"/>
              </a:ext>
            </a:extLst>
          </p:cNvPr>
          <p:cNvPicPr>
            <a:picLocks noChangeAspect="1"/>
          </p:cNvPicPr>
          <p:nvPr/>
        </p:nvPicPr>
        <p:blipFill>
          <a:blip r:embed="rId4"/>
          <a:stretch>
            <a:fillRect/>
          </a:stretch>
        </p:blipFill>
        <p:spPr>
          <a:xfrm>
            <a:off x="1092530" y="1510434"/>
            <a:ext cx="678552" cy="683662"/>
          </a:xfrm>
          <a:prstGeom prst="rect">
            <a:avLst/>
          </a:prstGeom>
        </p:spPr>
      </p:pic>
      <p:sp>
        <p:nvSpPr>
          <p:cNvPr id="6" name="CuadroTexto 5">
            <a:extLst>
              <a:ext uri="{FF2B5EF4-FFF2-40B4-BE49-F238E27FC236}">
                <a16:creationId xmlns:a16="http://schemas.microsoft.com/office/drawing/2014/main" id="{F977B96D-2CCF-FD13-89D9-2B7B614E6CD5}"/>
              </a:ext>
            </a:extLst>
          </p:cNvPr>
          <p:cNvSpPr txBox="1"/>
          <p:nvPr/>
        </p:nvSpPr>
        <p:spPr>
          <a:xfrm>
            <a:off x="2036101" y="3140757"/>
            <a:ext cx="8832195" cy="52322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ES" sz="1400">
                <a:latin typeface="Trebuchet MS" panose="020B0603020202020204" pitchFamily="34" charset="0"/>
                <a:ea typeface="+mn-lt"/>
                <a:cs typeface="+mn-lt"/>
              </a:rPr>
              <a:t>En Eclipse, ve a </a:t>
            </a:r>
            <a:r>
              <a:rPr lang="es-ES" sz="1400" b="1" err="1">
                <a:latin typeface="Trebuchet MS" panose="020B0603020202020204" pitchFamily="34" charset="0"/>
                <a:ea typeface="+mn-lt"/>
                <a:cs typeface="+mn-lt"/>
              </a:rPr>
              <a:t>Help</a:t>
            </a:r>
            <a:r>
              <a:rPr lang="es-ES" sz="1400" b="1">
                <a:latin typeface="Trebuchet MS" panose="020B0603020202020204" pitchFamily="34" charset="0"/>
                <a:ea typeface="+mn-lt"/>
                <a:cs typeface="+mn-lt"/>
              </a:rPr>
              <a:t> &gt; </a:t>
            </a:r>
            <a:r>
              <a:rPr lang="es-ES" sz="1400" b="1" err="1">
                <a:latin typeface="Trebuchet MS" panose="020B0603020202020204" pitchFamily="34" charset="0"/>
                <a:ea typeface="+mn-lt"/>
                <a:cs typeface="+mn-lt"/>
              </a:rPr>
              <a:t>Install</a:t>
            </a:r>
            <a:r>
              <a:rPr lang="es-ES" sz="1400" b="1">
                <a:latin typeface="Trebuchet MS" panose="020B0603020202020204" pitchFamily="34" charset="0"/>
                <a:ea typeface="+mn-lt"/>
                <a:cs typeface="+mn-lt"/>
              </a:rPr>
              <a:t> new software &gt; </a:t>
            </a:r>
            <a:r>
              <a:rPr lang="es-ES" sz="1400" b="1" err="1">
                <a:latin typeface="Trebuchet MS" panose="020B0603020202020204" pitchFamily="34" charset="0"/>
                <a:ea typeface="+mn-lt"/>
                <a:cs typeface="+mn-lt"/>
              </a:rPr>
              <a:t>Add</a:t>
            </a:r>
            <a:r>
              <a:rPr lang="es-ES" sz="1400" b="1">
                <a:latin typeface="Trebuchet MS" panose="020B0603020202020204" pitchFamily="34" charset="0"/>
                <a:ea typeface="+mn-lt"/>
                <a:cs typeface="+mn-lt"/>
              </a:rPr>
              <a:t> &gt; Archive &gt; selecciona el zip descargado &gt; dale a </a:t>
            </a:r>
            <a:r>
              <a:rPr lang="es-ES" sz="1400" b="1" err="1">
                <a:latin typeface="Trebuchet MS" panose="020B0603020202020204" pitchFamily="34" charset="0"/>
                <a:ea typeface="+mn-lt"/>
                <a:cs typeface="+mn-lt"/>
              </a:rPr>
              <a:t>next</a:t>
            </a:r>
            <a:r>
              <a:rPr lang="es-ES" sz="1400" b="1">
                <a:latin typeface="Trebuchet MS" panose="020B0603020202020204" pitchFamily="34" charset="0"/>
                <a:ea typeface="+mn-lt"/>
                <a:cs typeface="+mn-lt"/>
              </a:rPr>
              <a:t> hasta que comience la instalación</a:t>
            </a:r>
            <a:endParaRPr lang="es-ES" sz="1400" b="1">
              <a:solidFill>
                <a:srgbClr val="595959"/>
              </a:solidFill>
              <a:latin typeface="Trebuchet MS" panose="020B0603020202020204" pitchFamily="34" charset="0"/>
              <a:ea typeface="+mn-lt"/>
              <a:cs typeface="+mn-lt"/>
            </a:endParaRPr>
          </a:p>
        </p:txBody>
      </p:sp>
      <p:sp>
        <p:nvSpPr>
          <p:cNvPr id="7" name="CuadroTexto 6">
            <a:extLst>
              <a:ext uri="{FF2B5EF4-FFF2-40B4-BE49-F238E27FC236}">
                <a16:creationId xmlns:a16="http://schemas.microsoft.com/office/drawing/2014/main" id="{25285700-743B-5BA0-7BD4-486BE3FC7E2F}"/>
              </a:ext>
            </a:extLst>
          </p:cNvPr>
          <p:cNvSpPr txBox="1"/>
          <p:nvPr/>
        </p:nvSpPr>
        <p:spPr>
          <a:xfrm>
            <a:off x="2034865" y="4666523"/>
            <a:ext cx="8832194"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cs typeface="Calibri"/>
              </a:rPr>
              <a:t>Reinicia Eclipse. </a:t>
            </a:r>
            <a:endParaRPr lang="es-ES" dirty="0">
              <a:latin typeface="Trebuchet MS" panose="020B0603020202020204" pitchFamily="34" charset="0"/>
            </a:endParaRPr>
          </a:p>
          <a:p>
            <a:r>
              <a:rPr lang="es-ES" sz="1500" dirty="0">
                <a:latin typeface="Trebuchet MS" panose="020B0603020202020204" pitchFamily="34" charset="0"/>
                <a:cs typeface="Calibri"/>
              </a:rPr>
              <a:t>Ahora haciendo </a:t>
            </a:r>
            <a:r>
              <a:rPr lang="es-ES" sz="1500" dirty="0" err="1">
                <a:latin typeface="Trebuchet MS" panose="020B0603020202020204" pitchFamily="34" charset="0"/>
                <a:cs typeface="Calibri"/>
              </a:rPr>
              <a:t>click</a:t>
            </a:r>
            <a:r>
              <a:rPr lang="es-ES" sz="1500" dirty="0">
                <a:latin typeface="Trebuchet MS" panose="020B0603020202020204" pitchFamily="34" charset="0"/>
                <a:cs typeface="Calibri"/>
              </a:rPr>
              <a:t> derecho sobre el </a:t>
            </a:r>
            <a:r>
              <a:rPr lang="es-ES" sz="1500" dirty="0" err="1">
                <a:latin typeface="Trebuchet MS" panose="020B0603020202020204" pitchFamily="34" charset="0"/>
                <a:cs typeface="Calibri"/>
              </a:rPr>
              <a:t>Package</a:t>
            </a:r>
            <a:r>
              <a:rPr lang="es-ES" sz="1500" dirty="0">
                <a:latin typeface="Trebuchet MS" panose="020B0603020202020204" pitchFamily="34" charset="0"/>
                <a:cs typeface="Calibri"/>
              </a:rPr>
              <a:t> Explorer aparecerá "</a:t>
            </a:r>
            <a:r>
              <a:rPr lang="es-ES" sz="1500" dirty="0" err="1">
                <a:latin typeface="Trebuchet MS" panose="020B0603020202020204" pitchFamily="34" charset="0"/>
                <a:cs typeface="Calibri"/>
              </a:rPr>
              <a:t>SpotBugs</a:t>
            </a:r>
            <a:r>
              <a:rPr lang="es-ES" sz="1500" dirty="0">
                <a:latin typeface="Trebuchet MS" panose="020B0603020202020204" pitchFamily="34" charset="0"/>
                <a:cs typeface="Calibri"/>
              </a:rPr>
              <a:t>", selecciona "</a:t>
            </a:r>
            <a:r>
              <a:rPr lang="es-ES" sz="1500" dirty="0" err="1">
                <a:latin typeface="Trebuchet MS" panose="020B0603020202020204" pitchFamily="34" charset="0"/>
                <a:cs typeface="Calibri"/>
              </a:rPr>
              <a:t>Find</a:t>
            </a:r>
            <a:r>
              <a:rPr lang="es-ES" sz="1500" dirty="0">
                <a:latin typeface="Trebuchet MS" panose="020B0603020202020204" pitchFamily="34" charset="0"/>
                <a:cs typeface="Calibri"/>
              </a:rPr>
              <a:t> Bugs" y observa como se añaden los </a:t>
            </a:r>
            <a:r>
              <a:rPr lang="es-ES" sz="1500" dirty="0" err="1">
                <a:latin typeface="Trebuchet MS" panose="020B0603020202020204" pitchFamily="34" charset="0"/>
                <a:cs typeface="Calibri"/>
              </a:rPr>
              <a:t>warnings</a:t>
            </a:r>
            <a:r>
              <a:rPr lang="es-ES" sz="1500" dirty="0">
                <a:latin typeface="Trebuchet MS" panose="020B0603020202020204" pitchFamily="34" charset="0"/>
                <a:cs typeface="Calibri"/>
              </a:rPr>
              <a:t> de </a:t>
            </a:r>
            <a:r>
              <a:rPr lang="es-ES" sz="1500" dirty="0" err="1">
                <a:latin typeface="Trebuchet MS" panose="020B0603020202020204" pitchFamily="34" charset="0"/>
                <a:cs typeface="Calibri"/>
              </a:rPr>
              <a:t>SpotBugs</a:t>
            </a:r>
            <a:r>
              <a:rPr lang="es-ES" sz="1500" dirty="0">
                <a:latin typeface="Trebuchet MS" panose="020B0603020202020204" pitchFamily="34" charset="0"/>
                <a:cs typeface="Calibri"/>
              </a:rPr>
              <a:t> en el lugar habitual.</a:t>
            </a:r>
            <a:endParaRPr lang="es-ES" dirty="0">
              <a:latin typeface="Trebuchet MS" panose="020B0603020202020204" pitchFamily="34" charset="0"/>
            </a:endParaRPr>
          </a:p>
        </p:txBody>
      </p:sp>
      <p:pic>
        <p:nvPicPr>
          <p:cNvPr id="8" name="Imagen 7">
            <a:extLst>
              <a:ext uri="{FF2B5EF4-FFF2-40B4-BE49-F238E27FC236}">
                <a16:creationId xmlns:a16="http://schemas.microsoft.com/office/drawing/2014/main" id="{1BB0D659-C994-31FF-CF55-772ADBFF675E}"/>
              </a:ext>
            </a:extLst>
          </p:cNvPr>
          <p:cNvPicPr>
            <a:picLocks noChangeAspect="1"/>
          </p:cNvPicPr>
          <p:nvPr/>
        </p:nvPicPr>
        <p:blipFill>
          <a:blip r:embed="rId5"/>
          <a:stretch>
            <a:fillRect/>
          </a:stretch>
        </p:blipFill>
        <p:spPr>
          <a:xfrm>
            <a:off x="1054025" y="4652800"/>
            <a:ext cx="745234" cy="685093"/>
          </a:xfrm>
          <a:prstGeom prst="rect">
            <a:avLst/>
          </a:prstGeom>
          <a:ln>
            <a:noFill/>
          </a:ln>
        </p:spPr>
      </p:pic>
      <p:pic>
        <p:nvPicPr>
          <p:cNvPr id="9" name="Imagen 8" descr="Icono&#10;&#10;Descripción generada automáticamente">
            <a:extLst>
              <a:ext uri="{FF2B5EF4-FFF2-40B4-BE49-F238E27FC236}">
                <a16:creationId xmlns:a16="http://schemas.microsoft.com/office/drawing/2014/main" id="{155706D6-EAE4-F890-6B32-EE1941028C05}"/>
              </a:ext>
            </a:extLst>
          </p:cNvPr>
          <p:cNvPicPr>
            <a:picLocks noChangeAspect="1"/>
          </p:cNvPicPr>
          <p:nvPr/>
        </p:nvPicPr>
        <p:blipFill>
          <a:blip r:embed="rId6"/>
          <a:stretch>
            <a:fillRect/>
          </a:stretch>
        </p:blipFill>
        <p:spPr>
          <a:xfrm>
            <a:off x="1056343" y="3025581"/>
            <a:ext cx="745838" cy="761293"/>
          </a:xfrm>
          <a:prstGeom prst="rect">
            <a:avLst/>
          </a:prstGeom>
          <a:ln>
            <a:noFill/>
          </a:ln>
        </p:spPr>
      </p:pic>
      <p:pic>
        <p:nvPicPr>
          <p:cNvPr id="3" name="Imagen 2" descr="Interfaz de usuario gráfica&#10;&#10;El contenido generado por IA puede ser incorrecto.">
            <a:extLst>
              <a:ext uri="{FF2B5EF4-FFF2-40B4-BE49-F238E27FC236}">
                <a16:creationId xmlns:a16="http://schemas.microsoft.com/office/drawing/2014/main" id="{3B4D129B-95B0-318A-E23F-11BD6A102A9E}"/>
              </a:ext>
            </a:extLst>
          </p:cNvPr>
          <p:cNvPicPr>
            <a:picLocks noChangeAspect="1"/>
          </p:cNvPicPr>
          <p:nvPr/>
        </p:nvPicPr>
        <p:blipFill>
          <a:blip r:embed="rId7">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8201337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41423-92F1-4E82-49A5-B333F38A7027}"/>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11816CA3-5F66-397E-F0B8-D6AE49C80A8F}"/>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FC1A6DB0-AB7D-B27B-5E54-A93776D9EF09}"/>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C9315C51-B1D9-7C63-7312-B6ED0332B601}"/>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err="1">
                <a:solidFill>
                  <a:schemeClr val="tx1">
                    <a:lumMod val="75000"/>
                    <a:lumOff val="25000"/>
                  </a:schemeClr>
                </a:solidFill>
              </a:rPr>
              <a:t>Spotbugs</a:t>
            </a:r>
            <a:r>
              <a:rPr lang="es-ES" dirty="0">
                <a:solidFill>
                  <a:schemeClr val="tx1">
                    <a:lumMod val="75000"/>
                    <a:lumOff val="25000"/>
                  </a:schemeClr>
                </a:solidFill>
              </a:rPr>
              <a:t>: Prueba</a:t>
            </a:r>
          </a:p>
        </p:txBody>
      </p:sp>
      <p:pic>
        <p:nvPicPr>
          <p:cNvPr id="3" name="Imagen 2" descr="Texto&#10;&#10;Descripción generada automáticamente">
            <a:extLst>
              <a:ext uri="{FF2B5EF4-FFF2-40B4-BE49-F238E27FC236}">
                <a16:creationId xmlns:a16="http://schemas.microsoft.com/office/drawing/2014/main" id="{84A83E46-AD4E-75EA-0733-5E659EC47655}"/>
              </a:ext>
            </a:extLst>
          </p:cNvPr>
          <p:cNvPicPr>
            <a:picLocks noChangeAspect="1"/>
          </p:cNvPicPr>
          <p:nvPr/>
        </p:nvPicPr>
        <p:blipFill>
          <a:blip r:embed="rId4"/>
          <a:stretch>
            <a:fillRect/>
          </a:stretch>
        </p:blipFill>
        <p:spPr>
          <a:xfrm>
            <a:off x="1532122" y="978909"/>
            <a:ext cx="9127755" cy="4990238"/>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025E7676-79FC-063F-EB38-4A839EDAA3B0}"/>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3367849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244FD1FD-85C0-CC4E-F23F-D8175003B5A4}"/>
            </a:ext>
          </a:extLst>
        </p:cNvPr>
        <p:cNvGrpSpPr/>
        <p:nvPr/>
      </p:nvGrpSpPr>
      <p:grpSpPr>
        <a:xfrm>
          <a:off x="0" y="0"/>
          <a:ext cx="0" cy="0"/>
          <a:chOff x="0" y="0"/>
          <a:chExt cx="0" cy="0"/>
        </a:xfrm>
      </p:grpSpPr>
      <p:sp>
        <p:nvSpPr>
          <p:cNvPr id="5" name="Diagrama de flujo: retraso 4">
            <a:extLst>
              <a:ext uri="{FF2B5EF4-FFF2-40B4-BE49-F238E27FC236}">
                <a16:creationId xmlns:a16="http://schemas.microsoft.com/office/drawing/2014/main" id="{5926B5D3-74AD-6A40-5CBC-2F0910F32280}"/>
              </a:ext>
            </a:extLst>
          </p:cNvPr>
          <p:cNvSpPr/>
          <p:nvPr/>
        </p:nvSpPr>
        <p:spPr>
          <a:xfrm rot="10800000">
            <a:off x="5384373" y="-8626"/>
            <a:ext cx="6807627" cy="6858000"/>
          </a:xfrm>
          <a:prstGeom prst="flowChartDelay">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E1B89205-6759-3D03-4D68-B093DFF88016}"/>
              </a:ext>
            </a:extLst>
          </p:cNvPr>
          <p:cNvSpPr txBox="1"/>
          <p:nvPr/>
        </p:nvSpPr>
        <p:spPr>
          <a:xfrm>
            <a:off x="5907024" y="2254914"/>
            <a:ext cx="6217920" cy="3170099"/>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pPr algn="ctr"/>
            <a:r>
              <a:rPr lang="es-ES" sz="3600" dirty="0">
                <a:solidFill>
                  <a:srgbClr val="193330"/>
                </a:solidFill>
              </a:rPr>
              <a:t>MÓDULO 5.</a:t>
            </a:r>
          </a:p>
          <a:p>
            <a:pPr algn="ctr"/>
            <a:r>
              <a:rPr lang="es-ES" sz="3600" dirty="0">
                <a:solidFill>
                  <a:srgbClr val="193330"/>
                </a:solidFill>
              </a:rPr>
              <a:t>GESTIÓN DE VULNERABILIDADES E INTELIGENCIA DE AMENAZAS</a:t>
            </a:r>
          </a:p>
        </p:txBody>
      </p:sp>
      <p:pic>
        <p:nvPicPr>
          <p:cNvPr id="4" name="Imagen 3" descr="Texto&#10;&#10;El contenido generado por IA puede ser incorrecto.">
            <a:extLst>
              <a:ext uri="{FF2B5EF4-FFF2-40B4-BE49-F238E27FC236}">
                <a16:creationId xmlns:a16="http://schemas.microsoft.com/office/drawing/2014/main" id="{52C331E3-B6B8-69C0-0848-60AB74514ED5}"/>
              </a:ext>
            </a:extLst>
          </p:cNvPr>
          <p:cNvPicPr>
            <a:picLocks noChangeAspect="1"/>
          </p:cNvPicPr>
          <p:nvPr/>
        </p:nvPicPr>
        <p:blipFill>
          <a:blip r:embed="rId2">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C137DF9D-CE16-E283-63F3-04DF1D866548}"/>
              </a:ext>
            </a:extLst>
          </p:cNvPr>
          <p:cNvPicPr>
            <a:picLocks noChangeAspect="1"/>
          </p:cNvPicPr>
          <p:nvPr/>
        </p:nvPicPr>
        <p:blipFill>
          <a:blip r:embed="rId3">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7704127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9180A-31E1-F1E0-B223-A62F4F429917}"/>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4510D62C-E9BB-2512-C96A-799FF29BB8F3}"/>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8130E551-7655-2FDB-873A-3A7CBF1A2CE9}"/>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7004485D-EB32-1FBD-2149-6B9BDA7DCEC6}"/>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¿Qué es una vulnerabilidad?</a:t>
            </a:r>
          </a:p>
        </p:txBody>
      </p:sp>
      <p:sp>
        <p:nvSpPr>
          <p:cNvPr id="2" name="TextBox 5">
            <a:extLst>
              <a:ext uri="{FF2B5EF4-FFF2-40B4-BE49-F238E27FC236}">
                <a16:creationId xmlns:a16="http://schemas.microsoft.com/office/drawing/2014/main" id="{6AC5CC97-27A9-C48E-021D-9AF4AC4B0C38}"/>
              </a:ext>
            </a:extLst>
          </p:cNvPr>
          <p:cNvSpPr txBox="1"/>
          <p:nvPr/>
        </p:nvSpPr>
        <p:spPr>
          <a:xfrm>
            <a:off x="530419" y="1026263"/>
            <a:ext cx="994243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500">
                <a:latin typeface="Trebuchet MS" panose="020B0603020202020204" pitchFamily="34" charset="0"/>
                <a:ea typeface="+mn-lt"/>
                <a:cs typeface="+mn-lt"/>
              </a:rPr>
              <a:t>Una </a:t>
            </a:r>
            <a:r>
              <a:rPr lang="en-US" sz="1500" b="1" err="1">
                <a:latin typeface="Trebuchet MS" panose="020B0603020202020204" pitchFamily="34" charset="0"/>
                <a:ea typeface="+mn-lt"/>
                <a:cs typeface="+mn-lt"/>
              </a:rPr>
              <a:t>vulnerabilidad</a:t>
            </a:r>
            <a:r>
              <a:rPr lang="en-US" sz="1500" b="1">
                <a:latin typeface="Trebuchet MS" panose="020B0603020202020204" pitchFamily="34" charset="0"/>
                <a:ea typeface="+mn-lt"/>
                <a:cs typeface="+mn-lt"/>
              </a:rPr>
              <a:t> </a:t>
            </a:r>
            <a:r>
              <a:rPr lang="en-US" sz="1500">
                <a:latin typeface="Trebuchet MS" panose="020B0603020202020204" pitchFamily="34" charset="0"/>
                <a:ea typeface="+mn-lt"/>
                <a:cs typeface="+mn-lt"/>
              </a:rPr>
              <a:t>es </a:t>
            </a:r>
            <a:r>
              <a:rPr lang="en-US" sz="1500" err="1">
                <a:latin typeface="Trebuchet MS" panose="020B0603020202020204" pitchFamily="34" charset="0"/>
                <a:ea typeface="+mn-lt"/>
                <a:cs typeface="+mn-lt"/>
              </a:rPr>
              <a:t>una</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debilidad</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en</a:t>
            </a:r>
            <a:r>
              <a:rPr lang="en-US" sz="1500">
                <a:latin typeface="Trebuchet MS" panose="020B0603020202020204" pitchFamily="34" charset="0"/>
                <a:ea typeface="+mn-lt"/>
                <a:cs typeface="+mn-lt"/>
              </a:rPr>
              <a:t> un </a:t>
            </a:r>
            <a:r>
              <a:rPr lang="en-US" sz="1500" err="1">
                <a:latin typeface="Trebuchet MS" panose="020B0603020202020204" pitchFamily="34" charset="0"/>
                <a:ea typeface="+mn-lt"/>
                <a:cs typeface="+mn-lt"/>
              </a:rPr>
              <a:t>sistema</a:t>
            </a:r>
            <a:r>
              <a:rPr lang="en-US" sz="1500">
                <a:latin typeface="Trebuchet MS" panose="020B0603020202020204" pitchFamily="34" charset="0"/>
                <a:ea typeface="+mn-lt"/>
                <a:cs typeface="+mn-lt"/>
              </a:rPr>
              <a:t> de </a:t>
            </a:r>
            <a:r>
              <a:rPr lang="en-US" sz="1500" err="1">
                <a:latin typeface="Trebuchet MS" panose="020B0603020202020204" pitchFamily="34" charset="0"/>
                <a:ea typeface="+mn-lt"/>
                <a:cs typeface="+mn-lt"/>
              </a:rPr>
              <a:t>información</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los</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procedimientos</a:t>
            </a:r>
            <a:r>
              <a:rPr lang="en-US" sz="1500">
                <a:latin typeface="Trebuchet MS" panose="020B0603020202020204" pitchFamily="34" charset="0"/>
                <a:ea typeface="+mn-lt"/>
                <a:cs typeface="+mn-lt"/>
              </a:rPr>
              <a:t> de </a:t>
            </a:r>
            <a:r>
              <a:rPr lang="en-US" sz="1500" err="1">
                <a:latin typeface="Trebuchet MS" panose="020B0603020202020204" pitchFamily="34" charset="0"/>
                <a:ea typeface="+mn-lt"/>
                <a:cs typeface="+mn-lt"/>
              </a:rPr>
              <a:t>seguridad</a:t>
            </a:r>
            <a:r>
              <a:rPr lang="en-US" sz="1500">
                <a:latin typeface="Trebuchet MS" panose="020B0603020202020204" pitchFamily="34" charset="0"/>
                <a:ea typeface="+mn-lt"/>
                <a:cs typeface="+mn-lt"/>
              </a:rPr>
              <a:t> del </a:t>
            </a:r>
            <a:r>
              <a:rPr lang="en-US" sz="1500" err="1">
                <a:latin typeface="Trebuchet MS" panose="020B0603020202020204" pitchFamily="34" charset="0"/>
                <a:ea typeface="+mn-lt"/>
                <a:cs typeface="+mn-lt"/>
              </a:rPr>
              <a:t>sistema</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los</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controles</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internos</a:t>
            </a:r>
            <a:r>
              <a:rPr lang="en-US" sz="1500">
                <a:latin typeface="Trebuchet MS" panose="020B0603020202020204" pitchFamily="34" charset="0"/>
                <a:ea typeface="+mn-lt"/>
                <a:cs typeface="+mn-lt"/>
              </a:rPr>
              <a:t> o la </a:t>
            </a:r>
            <a:r>
              <a:rPr lang="en-US" sz="1500" err="1">
                <a:latin typeface="Trebuchet MS" panose="020B0603020202020204" pitchFamily="34" charset="0"/>
                <a:ea typeface="+mn-lt"/>
                <a:cs typeface="+mn-lt"/>
              </a:rPr>
              <a:t>implementación</a:t>
            </a:r>
            <a:r>
              <a:rPr lang="en-US" sz="1500">
                <a:latin typeface="Trebuchet MS" panose="020B0603020202020204" pitchFamily="34" charset="0"/>
                <a:ea typeface="+mn-lt"/>
                <a:cs typeface="+mn-lt"/>
              </a:rPr>
              <a:t> que </a:t>
            </a:r>
            <a:r>
              <a:rPr lang="en-US" sz="1500" err="1">
                <a:latin typeface="Trebuchet MS" panose="020B0603020202020204" pitchFamily="34" charset="0"/>
                <a:ea typeface="+mn-lt"/>
                <a:cs typeface="+mn-lt"/>
              </a:rPr>
              <a:t>podría</a:t>
            </a:r>
            <a:r>
              <a:rPr lang="en-US" sz="1500">
                <a:latin typeface="Trebuchet MS" panose="020B0603020202020204" pitchFamily="34" charset="0"/>
                <a:ea typeface="+mn-lt"/>
                <a:cs typeface="+mn-lt"/>
              </a:rPr>
              <a:t> ser </a:t>
            </a:r>
            <a:r>
              <a:rPr lang="en-US" sz="1500" err="1">
                <a:latin typeface="Trebuchet MS" panose="020B0603020202020204" pitchFamily="34" charset="0"/>
                <a:ea typeface="+mn-lt"/>
                <a:cs typeface="+mn-lt"/>
              </a:rPr>
              <a:t>explotada</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por</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una</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fuente</a:t>
            </a:r>
            <a:r>
              <a:rPr lang="en-US" sz="1500">
                <a:latin typeface="Trebuchet MS" panose="020B0603020202020204" pitchFamily="34" charset="0"/>
                <a:ea typeface="+mn-lt"/>
                <a:cs typeface="+mn-lt"/>
              </a:rPr>
              <a:t> de </a:t>
            </a:r>
            <a:r>
              <a:rPr lang="en-US" sz="1500" err="1">
                <a:latin typeface="Trebuchet MS" panose="020B0603020202020204" pitchFamily="34" charset="0"/>
                <a:ea typeface="+mn-lt"/>
                <a:cs typeface="+mn-lt"/>
              </a:rPr>
              <a:t>amenaza</a:t>
            </a:r>
            <a:r>
              <a:rPr lang="en-US" sz="1500">
                <a:latin typeface="Trebuchet MS" panose="020B0603020202020204" pitchFamily="34" charset="0"/>
                <a:ea typeface="+mn-lt"/>
                <a:cs typeface="+mn-lt"/>
              </a:rPr>
              <a:t>.</a:t>
            </a:r>
            <a:endParaRPr lang="es-ES" sz="1500">
              <a:latin typeface="Trebuchet MS" panose="020B0603020202020204" pitchFamily="34" charset="0"/>
            </a:endParaRPr>
          </a:p>
        </p:txBody>
      </p:sp>
      <p:sp>
        <p:nvSpPr>
          <p:cNvPr id="4" name="CuadroTexto 3">
            <a:extLst>
              <a:ext uri="{FF2B5EF4-FFF2-40B4-BE49-F238E27FC236}">
                <a16:creationId xmlns:a16="http://schemas.microsoft.com/office/drawing/2014/main" id="{7BCA96E5-40E5-3764-3E08-8141B5235EEA}"/>
              </a:ext>
            </a:extLst>
          </p:cNvPr>
          <p:cNvSpPr txBox="1"/>
          <p:nvPr/>
        </p:nvSpPr>
        <p:spPr>
          <a:xfrm>
            <a:off x="525272" y="2028757"/>
            <a:ext cx="993778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err="1">
                <a:latin typeface="Trebuchet MS" panose="020B0603020202020204" pitchFamily="34" charset="0"/>
              </a:rPr>
              <a:t>Características</a:t>
            </a:r>
            <a:r>
              <a:rPr lang="en-US" sz="1500" b="1" dirty="0">
                <a:latin typeface="Trebuchet MS" panose="020B0603020202020204" pitchFamily="34" charset="0"/>
              </a:rPr>
              <a:t>:</a:t>
            </a:r>
          </a:p>
          <a:p>
            <a:pPr>
              <a:buFont typeface=""/>
              <a:buChar char="•"/>
            </a:pPr>
            <a:r>
              <a:rPr lang="en-US" sz="1500" dirty="0">
                <a:latin typeface="Trebuchet MS" panose="020B0603020202020204" pitchFamily="34" charset="0"/>
              </a:rPr>
              <a:t> </a:t>
            </a:r>
            <a:r>
              <a:rPr lang="en-US" sz="1500" dirty="0" err="1">
                <a:latin typeface="Trebuchet MS" panose="020B0603020202020204" pitchFamily="34" charset="0"/>
              </a:rPr>
              <a:t>Existencia</a:t>
            </a:r>
            <a:r>
              <a:rPr lang="en-US" sz="1500" dirty="0">
                <a:latin typeface="Trebuchet MS" panose="020B0603020202020204" pitchFamily="34" charset="0"/>
              </a:rPr>
              <a:t> de </a:t>
            </a:r>
            <a:r>
              <a:rPr lang="en-US" sz="1500" dirty="0" err="1">
                <a:latin typeface="Trebuchet MS" panose="020B0603020202020204" pitchFamily="34" charset="0"/>
              </a:rPr>
              <a:t>una</a:t>
            </a:r>
            <a:r>
              <a:rPr lang="en-US" sz="1500" dirty="0">
                <a:latin typeface="Trebuchet MS" panose="020B0603020202020204" pitchFamily="34" charset="0"/>
              </a:rPr>
              <a:t> </a:t>
            </a:r>
            <a:r>
              <a:rPr lang="en-US" sz="1500" dirty="0" err="1">
                <a:latin typeface="Trebuchet MS" panose="020B0603020202020204" pitchFamily="34" charset="0"/>
              </a:rPr>
              <a:t>debilidad</a:t>
            </a:r>
            <a:r>
              <a:rPr lang="en-US" sz="1500" dirty="0">
                <a:latin typeface="Trebuchet MS" panose="020B0603020202020204" pitchFamily="34" charset="0"/>
              </a:rPr>
              <a:t> o </a:t>
            </a:r>
            <a:r>
              <a:rPr lang="en-US" sz="1500" dirty="0" err="1">
                <a:latin typeface="Trebuchet MS" panose="020B0603020202020204" pitchFamily="34" charset="0"/>
              </a:rPr>
              <a:t>fallo</a:t>
            </a:r>
            <a:r>
              <a:rPr lang="en-US" sz="1500" dirty="0">
                <a:latin typeface="Trebuchet MS" panose="020B0603020202020204" pitchFamily="34" charset="0"/>
              </a:rPr>
              <a:t> </a:t>
            </a:r>
            <a:r>
              <a:rPr lang="en-US" sz="1500" dirty="0" err="1">
                <a:latin typeface="Trebuchet MS" panose="020B0603020202020204" pitchFamily="34" charset="0"/>
              </a:rPr>
              <a:t>en</a:t>
            </a:r>
            <a:r>
              <a:rPr lang="en-US" sz="1500" dirty="0">
                <a:latin typeface="Trebuchet MS" panose="020B0603020202020204" pitchFamily="34" charset="0"/>
              </a:rPr>
              <a:t> </a:t>
            </a:r>
            <a:r>
              <a:rPr lang="en-US" sz="1500" dirty="0" err="1">
                <a:latin typeface="Trebuchet MS" panose="020B0603020202020204" pitchFamily="34" charset="0"/>
              </a:rPr>
              <a:t>el</a:t>
            </a:r>
            <a:r>
              <a:rPr lang="en-US" sz="1500" dirty="0">
                <a:latin typeface="Trebuchet MS" panose="020B0603020202020204" pitchFamily="34" charset="0"/>
              </a:rPr>
              <a:t> </a:t>
            </a:r>
            <a:r>
              <a:rPr lang="en-US" sz="1500" dirty="0" err="1">
                <a:latin typeface="Trebuchet MS" panose="020B0603020202020204" pitchFamily="34" charset="0"/>
              </a:rPr>
              <a:t>sistema</a:t>
            </a:r>
            <a:r>
              <a:rPr lang="en-US" sz="1500" dirty="0">
                <a:latin typeface="Trebuchet MS" panose="020B0603020202020204" pitchFamily="34" charset="0"/>
              </a:rPr>
              <a:t>.</a:t>
            </a:r>
          </a:p>
          <a:p>
            <a:pPr>
              <a:buFont typeface=""/>
              <a:buChar char="•"/>
            </a:pPr>
            <a:r>
              <a:rPr lang="en-US" sz="1500" dirty="0">
                <a:latin typeface="Trebuchet MS" panose="020B0603020202020204" pitchFamily="34" charset="0"/>
              </a:rPr>
              <a:t> </a:t>
            </a:r>
            <a:r>
              <a:rPr lang="en-US" sz="1500" dirty="0" err="1">
                <a:latin typeface="Trebuchet MS" panose="020B0603020202020204" pitchFamily="34" charset="0"/>
              </a:rPr>
              <a:t>Habilidad</a:t>
            </a:r>
            <a:r>
              <a:rPr lang="en-US" sz="1500" dirty="0">
                <a:latin typeface="Trebuchet MS" panose="020B0603020202020204" pitchFamily="34" charset="0"/>
              </a:rPr>
              <a:t> de </a:t>
            </a:r>
            <a:r>
              <a:rPr lang="en-US" sz="1500" dirty="0" err="1">
                <a:latin typeface="Trebuchet MS" panose="020B0603020202020204" pitchFamily="34" charset="0"/>
              </a:rPr>
              <a:t>una</a:t>
            </a:r>
            <a:r>
              <a:rPr lang="en-US" sz="1500" dirty="0">
                <a:latin typeface="Trebuchet MS" panose="020B0603020202020204" pitchFamily="34" charset="0"/>
              </a:rPr>
              <a:t> </a:t>
            </a:r>
            <a:r>
              <a:rPr lang="en-US" sz="1500" dirty="0" err="1">
                <a:latin typeface="Trebuchet MS" panose="020B0603020202020204" pitchFamily="34" charset="0"/>
              </a:rPr>
              <a:t>amenaza</a:t>
            </a:r>
            <a:r>
              <a:rPr lang="en-US" sz="1500" dirty="0">
                <a:latin typeface="Trebuchet MS" panose="020B0603020202020204" pitchFamily="34" charset="0"/>
              </a:rPr>
              <a:t> </a:t>
            </a:r>
            <a:r>
              <a:rPr lang="en-US" sz="1500" dirty="0" err="1">
                <a:latin typeface="Trebuchet MS" panose="020B0603020202020204" pitchFamily="34" charset="0"/>
              </a:rPr>
              <a:t>potencial</a:t>
            </a:r>
            <a:r>
              <a:rPr lang="en-US" sz="1500" dirty="0">
                <a:latin typeface="Trebuchet MS" panose="020B0603020202020204" pitchFamily="34" charset="0"/>
              </a:rPr>
              <a:t> para acceder a </a:t>
            </a:r>
            <a:r>
              <a:rPr lang="en-US" sz="1500" dirty="0" err="1">
                <a:latin typeface="Trebuchet MS" panose="020B0603020202020204" pitchFamily="34" charset="0"/>
              </a:rPr>
              <a:t>dicha</a:t>
            </a:r>
            <a:r>
              <a:rPr lang="en-US" sz="1500" dirty="0">
                <a:latin typeface="Trebuchet MS" panose="020B0603020202020204" pitchFamily="34" charset="0"/>
              </a:rPr>
              <a:t> </a:t>
            </a:r>
            <a:r>
              <a:rPr lang="en-US" sz="1500" dirty="0" err="1">
                <a:latin typeface="Trebuchet MS" panose="020B0603020202020204" pitchFamily="34" charset="0"/>
              </a:rPr>
              <a:t>debilidad</a:t>
            </a:r>
            <a:r>
              <a:rPr lang="en-US" sz="1500" dirty="0">
                <a:latin typeface="Trebuchet MS" panose="020B0603020202020204" pitchFamily="34" charset="0"/>
              </a:rPr>
              <a:t>.</a:t>
            </a:r>
          </a:p>
          <a:p>
            <a:pPr>
              <a:buFont typeface=""/>
              <a:buChar char="•"/>
            </a:pPr>
            <a:r>
              <a:rPr lang="en-US" sz="1500" dirty="0">
                <a:latin typeface="Trebuchet MS" panose="020B0603020202020204" pitchFamily="34" charset="0"/>
              </a:rPr>
              <a:t> </a:t>
            </a:r>
            <a:r>
              <a:rPr lang="en-US" sz="1500" dirty="0" err="1">
                <a:latin typeface="Trebuchet MS" panose="020B0603020202020204" pitchFamily="34" charset="0"/>
              </a:rPr>
              <a:t>Habilidad</a:t>
            </a:r>
            <a:r>
              <a:rPr lang="en-US" sz="1500" dirty="0">
                <a:latin typeface="Trebuchet MS" panose="020B0603020202020204" pitchFamily="34" charset="0"/>
              </a:rPr>
              <a:t> para </a:t>
            </a:r>
            <a:r>
              <a:rPr lang="en-US" sz="1500" dirty="0" err="1">
                <a:latin typeface="Trebuchet MS" panose="020B0603020202020204" pitchFamily="34" charset="0"/>
              </a:rPr>
              <a:t>explotar</a:t>
            </a:r>
            <a:r>
              <a:rPr lang="en-US" sz="1500" dirty="0">
                <a:latin typeface="Trebuchet MS" panose="020B0603020202020204" pitchFamily="34" charset="0"/>
              </a:rPr>
              <a:t> la </a:t>
            </a:r>
            <a:r>
              <a:rPr lang="en-US" sz="1500" dirty="0" err="1">
                <a:latin typeface="Trebuchet MS" panose="020B0603020202020204" pitchFamily="34" charset="0"/>
              </a:rPr>
              <a:t>debilidad</a:t>
            </a:r>
            <a:r>
              <a:rPr lang="en-US" sz="1500" dirty="0">
                <a:latin typeface="Trebuchet MS" panose="020B0603020202020204" pitchFamily="34" charset="0"/>
              </a:rPr>
              <a:t> y </a:t>
            </a:r>
            <a:r>
              <a:rPr lang="en-US" sz="1500" dirty="0" err="1">
                <a:latin typeface="Trebuchet MS" panose="020B0603020202020204" pitchFamily="34" charset="0"/>
              </a:rPr>
              <a:t>potencialmente</a:t>
            </a:r>
            <a:r>
              <a:rPr lang="en-US" sz="1500" dirty="0">
                <a:latin typeface="Trebuchet MS" panose="020B0603020202020204" pitchFamily="34" charset="0"/>
              </a:rPr>
              <a:t> </a:t>
            </a:r>
            <a:r>
              <a:rPr lang="en-US" sz="1500" dirty="0" err="1">
                <a:latin typeface="Trebuchet MS" panose="020B0603020202020204" pitchFamily="34" charset="0"/>
              </a:rPr>
              <a:t>comprometer</a:t>
            </a:r>
            <a:r>
              <a:rPr lang="en-US" sz="1500" dirty="0">
                <a:latin typeface="Trebuchet MS" panose="020B0603020202020204" pitchFamily="34" charset="0"/>
              </a:rPr>
              <a:t> </a:t>
            </a:r>
            <a:r>
              <a:rPr lang="en-US" sz="1500" dirty="0" err="1">
                <a:latin typeface="Trebuchet MS" panose="020B0603020202020204" pitchFamily="34" charset="0"/>
              </a:rPr>
              <a:t>el</a:t>
            </a:r>
            <a:r>
              <a:rPr lang="en-US" sz="1500" dirty="0">
                <a:latin typeface="Trebuchet MS" panose="020B0603020202020204" pitchFamily="34" charset="0"/>
              </a:rPr>
              <a:t> </a:t>
            </a:r>
            <a:r>
              <a:rPr lang="en-US" sz="1500" dirty="0" err="1">
                <a:latin typeface="Trebuchet MS" panose="020B0603020202020204" pitchFamily="34" charset="0"/>
              </a:rPr>
              <a:t>sistema</a:t>
            </a:r>
            <a:r>
              <a:rPr lang="en-US" sz="1500" dirty="0">
                <a:latin typeface="Trebuchet MS" panose="020B0603020202020204" pitchFamily="34" charset="0"/>
              </a:rPr>
              <a:t>.</a:t>
            </a:r>
          </a:p>
        </p:txBody>
      </p:sp>
      <p:pic>
        <p:nvPicPr>
          <p:cNvPr id="6" name="Imagen 5">
            <a:extLst>
              <a:ext uri="{FF2B5EF4-FFF2-40B4-BE49-F238E27FC236}">
                <a16:creationId xmlns:a16="http://schemas.microsoft.com/office/drawing/2014/main" id="{D1B3D5CD-67CF-B2C5-F55F-31DFE7524FD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534160" y="3255213"/>
            <a:ext cx="5123680" cy="2562617"/>
          </a:xfrm>
          <a:prstGeom prst="rect">
            <a:avLst/>
          </a:prstGeom>
        </p:spPr>
      </p:pic>
      <p:pic>
        <p:nvPicPr>
          <p:cNvPr id="3" name="Imagen 2" descr="Interfaz de usuario gráfica&#10;&#10;El contenido generado por IA puede ser incorrecto.">
            <a:extLst>
              <a:ext uri="{FF2B5EF4-FFF2-40B4-BE49-F238E27FC236}">
                <a16:creationId xmlns:a16="http://schemas.microsoft.com/office/drawing/2014/main" id="{4617F704-7D0A-E2EF-F64C-0595EEC885B9}"/>
              </a:ext>
            </a:extLst>
          </p:cNvPr>
          <p:cNvPicPr>
            <a:picLocks noChangeAspect="1"/>
          </p:cNvPicPr>
          <p:nvPr/>
        </p:nvPicPr>
        <p:blipFill>
          <a:blip r:embed="rId6">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0161460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57183-D1D8-F9D8-7318-E5A1D7711815}"/>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B3A247D-194C-7D96-429D-11D9B4502BB4}"/>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14351D49-D856-E2AC-1899-F3582A0C5F8D}"/>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F9053DF9-D894-174C-A871-695D62CFA9DA}"/>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¿Cómo se gestionan las vulnerabilidades?</a:t>
            </a:r>
          </a:p>
        </p:txBody>
      </p:sp>
      <p:sp>
        <p:nvSpPr>
          <p:cNvPr id="3" name="CuadroTexto 2">
            <a:extLst>
              <a:ext uri="{FF2B5EF4-FFF2-40B4-BE49-F238E27FC236}">
                <a16:creationId xmlns:a16="http://schemas.microsoft.com/office/drawing/2014/main" id="{4BB2CC49-3F28-BA99-AA55-DB8C3C6EA30F}"/>
              </a:ext>
            </a:extLst>
          </p:cNvPr>
          <p:cNvSpPr txBox="1"/>
          <p:nvPr/>
        </p:nvSpPr>
        <p:spPr>
          <a:xfrm>
            <a:off x="512173" y="1286165"/>
            <a:ext cx="10574985" cy="15234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err="1">
                <a:latin typeface="Trebuchet MS" panose="020B0603020202020204" pitchFamily="34" charset="0"/>
              </a:rPr>
              <a:t>Definición</a:t>
            </a:r>
            <a:r>
              <a:rPr lang="en-US" sz="1500" b="1" dirty="0">
                <a:latin typeface="Trebuchet MS" panose="020B0603020202020204" pitchFamily="34" charset="0"/>
              </a:rPr>
              <a:t>:</a:t>
            </a:r>
          </a:p>
          <a:p>
            <a:r>
              <a:rPr lang="en-US" sz="1500" dirty="0">
                <a:latin typeface="Trebuchet MS" panose="020B0603020202020204" pitchFamily="34" charset="0"/>
              </a:rPr>
              <a:t>La </a:t>
            </a:r>
            <a:r>
              <a:rPr lang="en-US" sz="1500" dirty="0" err="1">
                <a:latin typeface="Trebuchet MS" panose="020B0603020202020204" pitchFamily="34" charset="0"/>
              </a:rPr>
              <a:t>gestión</a:t>
            </a:r>
            <a:r>
              <a:rPr lang="en-US" sz="1500" dirty="0">
                <a:latin typeface="Trebuchet MS" panose="020B0603020202020204" pitchFamily="34" charset="0"/>
              </a:rPr>
              <a:t> de </a:t>
            </a:r>
            <a:r>
              <a:rPr lang="en-US" sz="1500" dirty="0" err="1">
                <a:latin typeface="Trebuchet MS" panose="020B0603020202020204" pitchFamily="34" charset="0"/>
              </a:rPr>
              <a:t>vulnerabilidades</a:t>
            </a:r>
            <a:r>
              <a:rPr lang="en-US" sz="1500" dirty="0">
                <a:latin typeface="Trebuchet MS" panose="020B0603020202020204" pitchFamily="34" charset="0"/>
              </a:rPr>
              <a:t> es un </a:t>
            </a:r>
            <a:r>
              <a:rPr lang="en-US" sz="1500" dirty="0" err="1">
                <a:latin typeface="Trebuchet MS" panose="020B0603020202020204" pitchFamily="34" charset="0"/>
              </a:rPr>
              <a:t>proceso</a:t>
            </a:r>
            <a:r>
              <a:rPr lang="en-US" sz="1500" dirty="0">
                <a:latin typeface="Trebuchet MS" panose="020B0603020202020204" pitchFamily="34" charset="0"/>
              </a:rPr>
              <a:t> continuo y </a:t>
            </a:r>
            <a:r>
              <a:rPr lang="en-US" sz="1500" dirty="0" err="1">
                <a:latin typeface="Trebuchet MS" panose="020B0603020202020204" pitchFamily="34" charset="0"/>
              </a:rPr>
              <a:t>proactivo</a:t>
            </a:r>
            <a:r>
              <a:rPr lang="en-US" sz="1500" dirty="0">
                <a:latin typeface="Trebuchet MS" panose="020B0603020202020204" pitchFamily="34" charset="0"/>
              </a:rPr>
              <a:t> para </a:t>
            </a:r>
            <a:r>
              <a:rPr lang="en-US" sz="1500" dirty="0" err="1">
                <a:latin typeface="Trebuchet MS" panose="020B0603020202020204" pitchFamily="34" charset="0"/>
              </a:rPr>
              <a:t>identificar</a:t>
            </a:r>
            <a:r>
              <a:rPr lang="en-US" sz="1500" dirty="0">
                <a:latin typeface="Trebuchet MS" panose="020B0603020202020204" pitchFamily="34" charset="0"/>
              </a:rPr>
              <a:t>, </a:t>
            </a:r>
            <a:r>
              <a:rPr lang="en-US" sz="1500" dirty="0" err="1">
                <a:latin typeface="Trebuchet MS" panose="020B0603020202020204" pitchFamily="34" charset="0"/>
              </a:rPr>
              <a:t>clasificar</a:t>
            </a:r>
            <a:r>
              <a:rPr lang="en-US" sz="1500" dirty="0">
                <a:latin typeface="Trebuchet MS" panose="020B0603020202020204" pitchFamily="34" charset="0"/>
              </a:rPr>
              <a:t>, </a:t>
            </a:r>
            <a:r>
              <a:rPr lang="en-US" sz="1500" dirty="0" err="1">
                <a:latin typeface="Trebuchet MS" panose="020B0603020202020204" pitchFamily="34" charset="0"/>
              </a:rPr>
              <a:t>priorizar</a:t>
            </a:r>
            <a:r>
              <a:rPr lang="en-US" sz="1500" dirty="0">
                <a:latin typeface="Trebuchet MS" panose="020B0603020202020204" pitchFamily="34" charset="0"/>
              </a:rPr>
              <a:t> y </a:t>
            </a:r>
            <a:r>
              <a:rPr lang="en-US" sz="1500" dirty="0" err="1">
                <a:latin typeface="Trebuchet MS" panose="020B0603020202020204" pitchFamily="34" charset="0"/>
              </a:rPr>
              <a:t>remediar</a:t>
            </a:r>
            <a:r>
              <a:rPr lang="en-US" sz="1500" dirty="0">
                <a:latin typeface="Trebuchet MS" panose="020B0603020202020204" pitchFamily="34" charset="0"/>
              </a:rPr>
              <a:t> las </a:t>
            </a:r>
            <a:r>
              <a:rPr lang="en-US" sz="1500" dirty="0" err="1">
                <a:latin typeface="Trebuchet MS" panose="020B0603020202020204" pitchFamily="34" charset="0"/>
              </a:rPr>
              <a:t>vulnerabilidades</a:t>
            </a:r>
            <a:r>
              <a:rPr lang="en-US" sz="1500" dirty="0">
                <a:latin typeface="Trebuchet MS" panose="020B0603020202020204" pitchFamily="34" charset="0"/>
              </a:rPr>
              <a:t> de </a:t>
            </a:r>
            <a:r>
              <a:rPr lang="en-US" sz="1500" dirty="0" err="1">
                <a:latin typeface="Trebuchet MS" panose="020B0603020202020204" pitchFamily="34" charset="0"/>
              </a:rPr>
              <a:t>seguridad</a:t>
            </a:r>
            <a:r>
              <a:rPr lang="en-US" sz="1500" dirty="0">
                <a:latin typeface="Trebuchet MS" panose="020B0603020202020204" pitchFamily="34" charset="0"/>
              </a:rPr>
              <a:t> </a:t>
            </a:r>
            <a:r>
              <a:rPr lang="en-US" sz="1500" dirty="0" err="1">
                <a:latin typeface="Trebuchet MS" panose="020B0603020202020204" pitchFamily="34" charset="0"/>
              </a:rPr>
              <a:t>en</a:t>
            </a:r>
            <a:r>
              <a:rPr lang="en-US" sz="1500" dirty="0">
                <a:latin typeface="Trebuchet MS" panose="020B0603020202020204" pitchFamily="34" charset="0"/>
              </a:rPr>
              <a:t> </a:t>
            </a:r>
            <a:r>
              <a:rPr lang="en-US" sz="1500" dirty="0" err="1">
                <a:latin typeface="Trebuchet MS" panose="020B0603020202020204" pitchFamily="34" charset="0"/>
              </a:rPr>
              <a:t>los</a:t>
            </a:r>
            <a:r>
              <a:rPr lang="en-US" sz="1500" dirty="0">
                <a:latin typeface="Trebuchet MS" panose="020B0603020202020204" pitchFamily="34" charset="0"/>
              </a:rPr>
              <a:t> </a:t>
            </a:r>
            <a:r>
              <a:rPr lang="en-US" sz="1500" dirty="0" err="1">
                <a:latin typeface="Trebuchet MS" panose="020B0603020202020204" pitchFamily="34" charset="0"/>
              </a:rPr>
              <a:t>activos</a:t>
            </a:r>
            <a:r>
              <a:rPr lang="en-US" sz="1500" dirty="0">
                <a:latin typeface="Trebuchet MS" panose="020B0603020202020204" pitchFamily="34" charset="0"/>
              </a:rPr>
              <a:t> de TI de </a:t>
            </a:r>
            <a:r>
              <a:rPr lang="en-US" sz="1500" dirty="0" err="1">
                <a:latin typeface="Trebuchet MS" panose="020B0603020202020204" pitchFamily="34" charset="0"/>
              </a:rPr>
              <a:t>una</a:t>
            </a:r>
            <a:r>
              <a:rPr lang="en-US" sz="1500" dirty="0">
                <a:latin typeface="Trebuchet MS" panose="020B0603020202020204" pitchFamily="34" charset="0"/>
              </a:rPr>
              <a:t> </a:t>
            </a:r>
            <a:r>
              <a:rPr lang="en-US" sz="1500" dirty="0" err="1">
                <a:latin typeface="Trebuchet MS" panose="020B0603020202020204" pitchFamily="34" charset="0"/>
              </a:rPr>
              <a:t>organización</a:t>
            </a:r>
            <a:r>
              <a:rPr lang="en-US" sz="1500" dirty="0">
                <a:latin typeface="Trebuchet MS" panose="020B0603020202020204" pitchFamily="34" charset="0"/>
              </a:rPr>
              <a:t>.</a:t>
            </a:r>
          </a:p>
          <a:p>
            <a:endParaRPr lang="en-US" sz="1600" dirty="0">
              <a:latin typeface="Trebuchet MS" panose="020B0603020202020204" pitchFamily="34" charset="0"/>
            </a:endParaRPr>
          </a:p>
          <a:p>
            <a:endParaRPr lang="en-US" sz="1600" b="1" dirty="0">
              <a:latin typeface="Trebuchet MS" panose="020B0603020202020204" pitchFamily="34" charset="0"/>
            </a:endParaRPr>
          </a:p>
          <a:p>
            <a:endParaRPr lang="en-US" sz="1600" b="1" dirty="0">
              <a:latin typeface="Trebuchet MS" panose="020B0603020202020204" pitchFamily="34" charset="0"/>
            </a:endParaRPr>
          </a:p>
        </p:txBody>
      </p:sp>
      <p:sp>
        <p:nvSpPr>
          <p:cNvPr id="7" name="CuadroTexto 6">
            <a:extLst>
              <a:ext uri="{FF2B5EF4-FFF2-40B4-BE49-F238E27FC236}">
                <a16:creationId xmlns:a16="http://schemas.microsoft.com/office/drawing/2014/main" id="{955442D6-639E-01A2-8DBD-A4C448F0A491}"/>
              </a:ext>
            </a:extLst>
          </p:cNvPr>
          <p:cNvSpPr txBox="1"/>
          <p:nvPr/>
        </p:nvSpPr>
        <p:spPr>
          <a:xfrm>
            <a:off x="508124" y="2156347"/>
            <a:ext cx="10447545" cy="14003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err="1">
                <a:latin typeface="Trebuchet MS" panose="020B0603020202020204" pitchFamily="34" charset="0"/>
              </a:rPr>
              <a:t>Objetivo</a:t>
            </a:r>
            <a:r>
              <a:rPr lang="en-US" sz="1600" b="1" dirty="0">
                <a:latin typeface="Trebuchet MS" panose="020B0603020202020204" pitchFamily="34" charset="0"/>
              </a:rPr>
              <a:t>:</a:t>
            </a:r>
            <a:r>
              <a:rPr lang="en-US" sz="1600" dirty="0">
                <a:latin typeface="Trebuchet MS" panose="020B0603020202020204" pitchFamily="34" charset="0"/>
              </a:rPr>
              <a:t>​</a:t>
            </a:r>
          </a:p>
          <a:p>
            <a:r>
              <a:rPr lang="en-US" sz="1600" dirty="0">
                <a:latin typeface="Trebuchet MS" panose="020B0603020202020204" pitchFamily="34" charset="0"/>
              </a:rPr>
              <a:t>El </a:t>
            </a:r>
            <a:r>
              <a:rPr lang="en-US" sz="1600" dirty="0" err="1">
                <a:latin typeface="Trebuchet MS" panose="020B0603020202020204" pitchFamily="34" charset="0"/>
              </a:rPr>
              <a:t>objetivo</a:t>
            </a:r>
            <a:r>
              <a:rPr lang="en-US" sz="1600" dirty="0">
                <a:latin typeface="Trebuchet MS" panose="020B0603020202020204" pitchFamily="34" charset="0"/>
              </a:rPr>
              <a:t> principal de la </a:t>
            </a:r>
            <a:r>
              <a:rPr lang="en-US" sz="1600" dirty="0" err="1">
                <a:latin typeface="Trebuchet MS" panose="020B0603020202020204" pitchFamily="34" charset="0"/>
              </a:rPr>
              <a:t>gestión</a:t>
            </a:r>
            <a:r>
              <a:rPr lang="en-US" sz="1600" dirty="0">
                <a:latin typeface="Trebuchet MS" panose="020B0603020202020204" pitchFamily="34" charset="0"/>
              </a:rPr>
              <a:t> de </a:t>
            </a:r>
            <a:r>
              <a:rPr lang="en-US" sz="1600" dirty="0" err="1">
                <a:latin typeface="Trebuchet MS" panose="020B0603020202020204" pitchFamily="34" charset="0"/>
              </a:rPr>
              <a:t>vulnerabilidades</a:t>
            </a:r>
            <a:r>
              <a:rPr lang="en-US" sz="1600" dirty="0">
                <a:latin typeface="Trebuchet MS" panose="020B0603020202020204" pitchFamily="34" charset="0"/>
              </a:rPr>
              <a:t> es </a:t>
            </a:r>
            <a:r>
              <a:rPr lang="en-US" sz="1600" dirty="0" err="1">
                <a:latin typeface="Trebuchet MS" panose="020B0603020202020204" pitchFamily="34" charset="0"/>
              </a:rPr>
              <a:t>reducir</a:t>
            </a:r>
            <a:r>
              <a:rPr lang="en-US" sz="1600" dirty="0">
                <a:latin typeface="Trebuchet MS" panose="020B0603020202020204" pitchFamily="34" charset="0"/>
              </a:rPr>
              <a:t> </a:t>
            </a:r>
            <a:r>
              <a:rPr lang="en-US" sz="1600" dirty="0" err="1">
                <a:latin typeface="Trebuchet MS" panose="020B0603020202020204" pitchFamily="34" charset="0"/>
              </a:rPr>
              <a:t>el</a:t>
            </a:r>
            <a:r>
              <a:rPr lang="en-US" sz="1600" dirty="0">
                <a:latin typeface="Trebuchet MS" panose="020B0603020202020204" pitchFamily="34" charset="0"/>
              </a:rPr>
              <a:t> </a:t>
            </a:r>
            <a:r>
              <a:rPr lang="en-US" sz="1600" dirty="0" err="1">
                <a:latin typeface="Trebuchet MS" panose="020B0603020202020204" pitchFamily="34" charset="0"/>
              </a:rPr>
              <a:t>riesgo</a:t>
            </a:r>
            <a:r>
              <a:rPr lang="en-US" sz="1600" dirty="0">
                <a:latin typeface="Trebuchet MS" panose="020B0603020202020204" pitchFamily="34" charset="0"/>
              </a:rPr>
              <a:t> de que </a:t>
            </a:r>
            <a:r>
              <a:rPr lang="en-US" sz="1600" dirty="0" err="1">
                <a:latin typeface="Trebuchet MS" panose="020B0603020202020204" pitchFamily="34" charset="0"/>
              </a:rPr>
              <a:t>estas</a:t>
            </a:r>
            <a:r>
              <a:rPr lang="en-US" sz="1600" dirty="0">
                <a:latin typeface="Trebuchet MS" panose="020B0603020202020204" pitchFamily="34" charset="0"/>
              </a:rPr>
              <a:t> </a:t>
            </a:r>
            <a:r>
              <a:rPr lang="en-US" sz="1600" dirty="0" err="1">
                <a:latin typeface="Trebuchet MS" panose="020B0603020202020204" pitchFamily="34" charset="0"/>
              </a:rPr>
              <a:t>vulnerabilidades</a:t>
            </a:r>
            <a:r>
              <a:rPr lang="en-US" sz="1600" dirty="0">
                <a:latin typeface="Trebuchet MS" panose="020B0603020202020204" pitchFamily="34" charset="0"/>
              </a:rPr>
              <a:t> </a:t>
            </a:r>
            <a:r>
              <a:rPr lang="en-US" sz="1600" dirty="0" err="1">
                <a:latin typeface="Trebuchet MS" panose="020B0603020202020204" pitchFamily="34" charset="0"/>
              </a:rPr>
              <a:t>sean</a:t>
            </a:r>
            <a:r>
              <a:rPr lang="en-US" sz="1600" dirty="0">
                <a:latin typeface="Trebuchet MS" panose="020B0603020202020204" pitchFamily="34" charset="0"/>
              </a:rPr>
              <a:t> </a:t>
            </a:r>
            <a:r>
              <a:rPr lang="en-US" sz="1600" dirty="0" err="1">
                <a:latin typeface="Trebuchet MS" panose="020B0603020202020204" pitchFamily="34" charset="0"/>
              </a:rPr>
              <a:t>explotadas</a:t>
            </a:r>
            <a:r>
              <a:rPr lang="en-US" sz="1600" dirty="0">
                <a:latin typeface="Trebuchet MS" panose="020B0603020202020204" pitchFamily="34" charset="0"/>
              </a:rPr>
              <a:t> </a:t>
            </a:r>
            <a:r>
              <a:rPr lang="en-US" sz="1600" dirty="0" err="1">
                <a:latin typeface="Trebuchet MS" panose="020B0603020202020204" pitchFamily="34" charset="0"/>
              </a:rPr>
              <a:t>por</a:t>
            </a:r>
            <a:r>
              <a:rPr lang="en-US" sz="1600" dirty="0">
                <a:latin typeface="Trebuchet MS" panose="020B0603020202020204" pitchFamily="34" charset="0"/>
              </a:rPr>
              <a:t> </a:t>
            </a:r>
            <a:r>
              <a:rPr lang="en-US" sz="1600" dirty="0" err="1">
                <a:latin typeface="Trebuchet MS" panose="020B0603020202020204" pitchFamily="34" charset="0"/>
              </a:rPr>
              <a:t>ciberatacantes</a:t>
            </a:r>
            <a:r>
              <a:rPr lang="en-US" sz="1600" dirty="0">
                <a:latin typeface="Trebuchet MS" panose="020B0603020202020204" pitchFamily="34" charset="0"/>
              </a:rPr>
              <a:t>, lo que </a:t>
            </a:r>
            <a:r>
              <a:rPr lang="en-US" sz="1600" dirty="0" err="1">
                <a:latin typeface="Trebuchet MS" panose="020B0603020202020204" pitchFamily="34" charset="0"/>
              </a:rPr>
              <a:t>podría</a:t>
            </a:r>
            <a:r>
              <a:rPr lang="en-US" sz="1600" dirty="0">
                <a:latin typeface="Trebuchet MS" panose="020B0603020202020204" pitchFamily="34" charset="0"/>
              </a:rPr>
              <a:t> </a:t>
            </a:r>
            <a:r>
              <a:rPr lang="en-US" sz="1600" dirty="0" err="1">
                <a:latin typeface="Trebuchet MS" panose="020B0603020202020204" pitchFamily="34" charset="0"/>
              </a:rPr>
              <a:t>provocar</a:t>
            </a:r>
            <a:r>
              <a:rPr lang="en-US" sz="1600" dirty="0">
                <a:latin typeface="Trebuchet MS" panose="020B0603020202020204" pitchFamily="34" charset="0"/>
              </a:rPr>
              <a:t> graves </a:t>
            </a:r>
            <a:r>
              <a:rPr lang="en-US" sz="1600" dirty="0" err="1">
                <a:latin typeface="Trebuchet MS" panose="020B0603020202020204" pitchFamily="34" charset="0"/>
              </a:rPr>
              <a:t>consecuencias</a:t>
            </a:r>
            <a:r>
              <a:rPr lang="en-US" sz="1600" dirty="0">
                <a:latin typeface="Trebuchet MS" panose="020B0603020202020204" pitchFamily="34" charset="0"/>
              </a:rPr>
              <a:t> </a:t>
            </a:r>
            <a:r>
              <a:rPr lang="en-US" sz="1600" dirty="0" err="1">
                <a:latin typeface="Trebuchet MS" panose="020B0603020202020204" pitchFamily="34" charset="0"/>
              </a:rPr>
              <a:t>como</a:t>
            </a:r>
            <a:r>
              <a:rPr lang="en-US" sz="1600" dirty="0">
                <a:latin typeface="Trebuchet MS" panose="020B0603020202020204" pitchFamily="34" charset="0"/>
              </a:rPr>
              <a:t>:​</a:t>
            </a:r>
          </a:p>
          <a:p>
            <a:endParaRPr lang="en-US" sz="1600" dirty="0">
              <a:latin typeface="Trebuchet MS" panose="020B0603020202020204" pitchFamily="34" charset="0"/>
              <a:cs typeface="Arial"/>
            </a:endParaRPr>
          </a:p>
          <a:p>
            <a:endParaRPr lang="es-ES" dirty="0">
              <a:latin typeface="Trebuchet MS" panose="020B0603020202020204" pitchFamily="34" charset="0"/>
            </a:endParaRPr>
          </a:p>
        </p:txBody>
      </p:sp>
      <p:sp>
        <p:nvSpPr>
          <p:cNvPr id="8" name="CuadroTexto 7">
            <a:extLst>
              <a:ext uri="{FF2B5EF4-FFF2-40B4-BE49-F238E27FC236}">
                <a16:creationId xmlns:a16="http://schemas.microsoft.com/office/drawing/2014/main" id="{ED2F1356-0329-ECEF-DE45-30ADDD52CD9A}"/>
              </a:ext>
            </a:extLst>
          </p:cNvPr>
          <p:cNvSpPr txBox="1"/>
          <p:nvPr/>
        </p:nvSpPr>
        <p:spPr>
          <a:xfrm>
            <a:off x="2056937" y="3126169"/>
            <a:ext cx="8898732"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Trebuchet MS" panose="020B0603020202020204" pitchFamily="34" charset="0"/>
                <a:ea typeface="+mn-lt"/>
                <a:cs typeface="+mn-lt"/>
              </a:rPr>
              <a:t>Pérdidas financieras. </a:t>
            </a:r>
            <a:r>
              <a:rPr lang="es-ES" sz="1500" dirty="0">
                <a:latin typeface="Trebuchet MS" panose="020B0603020202020204" pitchFamily="34" charset="0"/>
                <a:ea typeface="+mn-lt"/>
                <a:cs typeface="+mn-lt"/>
              </a:rPr>
              <a:t>Las vulnerabilidades explotadas generan </a:t>
            </a:r>
            <a:r>
              <a:rPr lang="es-ES" sz="1500" b="1" dirty="0">
                <a:latin typeface="Trebuchet MS" panose="020B0603020202020204" pitchFamily="34" charset="0"/>
                <a:ea typeface="+mn-lt"/>
                <a:cs typeface="+mn-lt"/>
              </a:rPr>
              <a:t>costos directos</a:t>
            </a:r>
            <a:r>
              <a:rPr lang="es-ES" sz="1500" dirty="0">
                <a:latin typeface="Trebuchet MS" panose="020B0603020202020204" pitchFamily="34" charset="0"/>
                <a:ea typeface="+mn-lt"/>
                <a:cs typeface="+mn-lt"/>
              </a:rPr>
              <a:t> por reparación de sistemas, recuperación de datos y gestión de crisis. Además, las filtraciones de datos pueden acarrear </a:t>
            </a:r>
            <a:r>
              <a:rPr lang="es-ES" sz="1500" b="1" dirty="0">
                <a:latin typeface="Trebuchet MS" panose="020B0603020202020204" pitchFamily="34" charset="0"/>
                <a:ea typeface="+mn-lt"/>
                <a:cs typeface="+mn-lt"/>
              </a:rPr>
              <a:t>multas legales, demandas y pérdida de ingresos</a:t>
            </a:r>
            <a:r>
              <a:rPr lang="es-ES" sz="1500" dirty="0">
                <a:latin typeface="Trebuchet MS" panose="020B0603020202020204" pitchFamily="34" charset="0"/>
                <a:ea typeface="+mn-lt"/>
                <a:cs typeface="+mn-lt"/>
              </a:rPr>
              <a:t> por interrupción del negocio.</a:t>
            </a:r>
            <a:endParaRPr lang="es-ES" dirty="0">
              <a:latin typeface="Trebuchet MS" panose="020B0603020202020204" pitchFamily="34" charset="0"/>
            </a:endParaRPr>
          </a:p>
        </p:txBody>
      </p:sp>
      <p:pic>
        <p:nvPicPr>
          <p:cNvPr id="9" name="Imagen 8" descr="Financial report, loss, market down icon - Download on Iconfinder">
            <a:extLst>
              <a:ext uri="{FF2B5EF4-FFF2-40B4-BE49-F238E27FC236}">
                <a16:creationId xmlns:a16="http://schemas.microsoft.com/office/drawing/2014/main" id="{512B1726-5C8B-3AE7-197B-83030B433A4B}"/>
              </a:ext>
            </a:extLst>
          </p:cNvPr>
          <p:cNvPicPr>
            <a:picLocks noChangeAspect="1"/>
          </p:cNvPicPr>
          <p:nvPr/>
        </p:nvPicPr>
        <p:blipFill>
          <a:blip r:embed="rId4"/>
          <a:stretch>
            <a:fillRect/>
          </a:stretch>
        </p:blipFill>
        <p:spPr>
          <a:xfrm>
            <a:off x="1113173" y="3172516"/>
            <a:ext cx="678552" cy="678552"/>
          </a:xfrm>
          <a:prstGeom prst="rect">
            <a:avLst/>
          </a:prstGeom>
        </p:spPr>
      </p:pic>
      <p:sp>
        <p:nvSpPr>
          <p:cNvPr id="11" name="CuadroTexto 10">
            <a:extLst>
              <a:ext uri="{FF2B5EF4-FFF2-40B4-BE49-F238E27FC236}">
                <a16:creationId xmlns:a16="http://schemas.microsoft.com/office/drawing/2014/main" id="{B302273A-72BF-1EC8-B409-C18ACEF8CCF0}"/>
              </a:ext>
            </a:extLst>
          </p:cNvPr>
          <p:cNvSpPr txBox="1"/>
          <p:nvPr/>
        </p:nvSpPr>
        <p:spPr>
          <a:xfrm>
            <a:off x="2056745" y="4105306"/>
            <a:ext cx="8953892" cy="1015663"/>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ES" sz="1500" b="1" dirty="0">
                <a:latin typeface="Trebuchet MS" panose="020B0603020202020204" pitchFamily="34" charset="0"/>
                <a:ea typeface="+mn-lt"/>
                <a:cs typeface="+mn-lt"/>
              </a:rPr>
              <a:t>Robo de datos y exposición de información confidencial. </a:t>
            </a:r>
            <a:r>
              <a:rPr lang="es-ES" sz="1500" dirty="0">
                <a:latin typeface="Trebuchet MS" panose="020B0603020202020204" pitchFamily="34" charset="0"/>
                <a:ea typeface="+mn-lt"/>
                <a:cs typeface="+mn-lt"/>
              </a:rPr>
              <a:t>Las vulnerabilidades dan acceso a ciberdelincuentes a información confidencial como datos financieros, médicos o propiedad intelectual. La información robada puede ser vendida en mercados clandestinos, generando un riesgo continuo de fraude, robo de identidad y otras actividades ilícitas.</a:t>
            </a:r>
            <a:endParaRPr lang="es-ES" sz="1500" dirty="0">
              <a:latin typeface="Trebuchet MS" panose="020B0603020202020204" pitchFamily="34" charset="0"/>
              <a:cs typeface="Calibri"/>
            </a:endParaRPr>
          </a:p>
        </p:txBody>
      </p:sp>
      <p:sp>
        <p:nvSpPr>
          <p:cNvPr id="12" name="CuadroTexto 11">
            <a:extLst>
              <a:ext uri="{FF2B5EF4-FFF2-40B4-BE49-F238E27FC236}">
                <a16:creationId xmlns:a16="http://schemas.microsoft.com/office/drawing/2014/main" id="{0CCFA365-B47E-37D1-8E33-4DAB7A3B34C7}"/>
              </a:ext>
            </a:extLst>
          </p:cNvPr>
          <p:cNvSpPr txBox="1"/>
          <p:nvPr/>
        </p:nvSpPr>
        <p:spPr>
          <a:xfrm>
            <a:off x="2055508" y="5350542"/>
            <a:ext cx="903165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Trebuchet MS" panose="020B0603020202020204" pitchFamily="34" charset="0"/>
                <a:cs typeface="Calibri"/>
              </a:rPr>
              <a:t>Daños a la reputación y pérdida de confianza. </a:t>
            </a:r>
            <a:r>
              <a:rPr lang="es-ES" sz="1500" dirty="0">
                <a:latin typeface="Trebuchet MS" panose="020B0603020202020204" pitchFamily="34" charset="0"/>
                <a:ea typeface="+mn-lt"/>
                <a:cs typeface="+mn-lt"/>
              </a:rPr>
              <a:t>Las filtraciones de datos y la exposición de vulnerabilidades dañan la imagen pública de la organización, generando desconfianza. La pérdida de datos confidenciales o la interrupción de servicios pueden llevar a la fuga de clientes.</a:t>
            </a:r>
            <a:endParaRPr lang="es-ES" sz="1500" dirty="0">
              <a:latin typeface="Trebuchet MS" panose="020B0603020202020204" pitchFamily="34" charset="0"/>
              <a:cs typeface="Calibri"/>
            </a:endParaRPr>
          </a:p>
        </p:txBody>
      </p:sp>
      <p:pic>
        <p:nvPicPr>
          <p:cNvPr id="13" name="Imagen 12" descr="Banking, reputational, risk, warning icon - Download on Iconfinder">
            <a:extLst>
              <a:ext uri="{FF2B5EF4-FFF2-40B4-BE49-F238E27FC236}">
                <a16:creationId xmlns:a16="http://schemas.microsoft.com/office/drawing/2014/main" id="{6FE8EC44-7D82-6D0D-AA48-BAD1BA0EEAF9}"/>
              </a:ext>
            </a:extLst>
          </p:cNvPr>
          <p:cNvPicPr>
            <a:picLocks noChangeAspect="1"/>
          </p:cNvPicPr>
          <p:nvPr/>
        </p:nvPicPr>
        <p:blipFill>
          <a:blip r:embed="rId5"/>
          <a:stretch>
            <a:fillRect/>
          </a:stretch>
        </p:blipFill>
        <p:spPr>
          <a:xfrm>
            <a:off x="965567" y="5234536"/>
            <a:ext cx="974729" cy="1009312"/>
          </a:xfrm>
          <a:prstGeom prst="rect">
            <a:avLst/>
          </a:prstGeom>
          <a:ln>
            <a:noFill/>
          </a:ln>
        </p:spPr>
      </p:pic>
      <p:pic>
        <p:nvPicPr>
          <p:cNvPr id="14" name="Imagen 13" descr="Attack, data, hacker, phishing, theft icon - Download on Iconfinder">
            <a:extLst>
              <a:ext uri="{FF2B5EF4-FFF2-40B4-BE49-F238E27FC236}">
                <a16:creationId xmlns:a16="http://schemas.microsoft.com/office/drawing/2014/main" id="{C0E5C7C5-3302-70CD-D154-7FCEDED05862}"/>
              </a:ext>
            </a:extLst>
          </p:cNvPr>
          <p:cNvPicPr>
            <a:picLocks noChangeAspect="1"/>
          </p:cNvPicPr>
          <p:nvPr/>
        </p:nvPicPr>
        <p:blipFill>
          <a:blip r:embed="rId6"/>
          <a:stretch>
            <a:fillRect/>
          </a:stretch>
        </p:blipFill>
        <p:spPr>
          <a:xfrm>
            <a:off x="1076986" y="4256658"/>
            <a:ext cx="745838" cy="745838"/>
          </a:xfrm>
          <a:prstGeom prst="rect">
            <a:avLst/>
          </a:prstGeom>
          <a:ln>
            <a:noFill/>
          </a:ln>
        </p:spPr>
      </p:pic>
      <p:pic>
        <p:nvPicPr>
          <p:cNvPr id="2" name="Imagen 1" descr="Interfaz de usuario gráfica&#10;&#10;El contenido generado por IA puede ser incorrecto.">
            <a:extLst>
              <a:ext uri="{FF2B5EF4-FFF2-40B4-BE49-F238E27FC236}">
                <a16:creationId xmlns:a16="http://schemas.microsoft.com/office/drawing/2014/main" id="{D2309F50-3416-C94E-54D2-0535574C1062}"/>
              </a:ext>
            </a:extLst>
          </p:cNvPr>
          <p:cNvPicPr>
            <a:picLocks noChangeAspect="1"/>
          </p:cNvPicPr>
          <p:nvPr/>
        </p:nvPicPr>
        <p:blipFill>
          <a:blip r:embed="rId7">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5545383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24E83-2AC4-3646-72AA-241130A3DF1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2AB5A077-3455-5C63-D9FA-F18072A5C5BD}"/>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1AB680B7-1538-86E5-7FFE-C7E40CEACFDF}"/>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F3716BF4-44B0-F617-5D7C-7E9AC06888CA}"/>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Ciclo de vida de la gestión de vulnerabilidades</a:t>
            </a:r>
          </a:p>
        </p:txBody>
      </p:sp>
      <p:sp>
        <p:nvSpPr>
          <p:cNvPr id="2" name="TextBox 5">
            <a:extLst>
              <a:ext uri="{FF2B5EF4-FFF2-40B4-BE49-F238E27FC236}">
                <a16:creationId xmlns:a16="http://schemas.microsoft.com/office/drawing/2014/main" id="{88E5EDFD-8EF4-0AA5-CA41-88831140F581}"/>
              </a:ext>
            </a:extLst>
          </p:cNvPr>
          <p:cNvSpPr txBox="1"/>
          <p:nvPr/>
        </p:nvSpPr>
        <p:spPr>
          <a:xfrm>
            <a:off x="488208" y="1684126"/>
            <a:ext cx="994243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500" dirty="0">
                <a:latin typeface="Trebuchet MS" panose="020B0603020202020204" pitchFamily="34" charset="0"/>
                <a:ea typeface="+mn-lt"/>
                <a:cs typeface="+mn-lt"/>
              </a:rPr>
              <a:t>La </a:t>
            </a:r>
            <a:r>
              <a:rPr lang="en-US" sz="1500" dirty="0" err="1">
                <a:latin typeface="Trebuchet MS" panose="020B0603020202020204" pitchFamily="34" charset="0"/>
                <a:ea typeface="+mn-lt"/>
                <a:cs typeface="+mn-lt"/>
              </a:rPr>
              <a:t>gestión</a:t>
            </a:r>
            <a:r>
              <a:rPr lang="en-US" sz="1500" dirty="0">
                <a:latin typeface="Trebuchet MS" panose="020B0603020202020204" pitchFamily="34" charset="0"/>
                <a:ea typeface="+mn-lt"/>
                <a:cs typeface="+mn-lt"/>
              </a:rPr>
              <a:t> de </a:t>
            </a:r>
            <a:r>
              <a:rPr lang="en-US" sz="1500" dirty="0" err="1">
                <a:latin typeface="Trebuchet MS" panose="020B0603020202020204" pitchFamily="34" charset="0"/>
                <a:ea typeface="+mn-lt"/>
                <a:cs typeface="+mn-lt"/>
              </a:rPr>
              <a:t>vulnerabilidades</a:t>
            </a:r>
            <a:r>
              <a:rPr lang="en-US" sz="1500" dirty="0">
                <a:latin typeface="Trebuchet MS" panose="020B0603020202020204" pitchFamily="34" charset="0"/>
                <a:ea typeface="+mn-lt"/>
                <a:cs typeface="+mn-lt"/>
              </a:rPr>
              <a:t> es un </a:t>
            </a:r>
            <a:r>
              <a:rPr lang="en-US" sz="1500" b="1" dirty="0" err="1">
                <a:latin typeface="Trebuchet MS" panose="020B0603020202020204" pitchFamily="34" charset="0"/>
                <a:ea typeface="+mn-lt"/>
                <a:cs typeface="+mn-lt"/>
              </a:rPr>
              <a:t>proceso</a:t>
            </a:r>
            <a:r>
              <a:rPr lang="en-US" sz="1500" b="1" dirty="0">
                <a:latin typeface="Trebuchet MS" panose="020B0603020202020204" pitchFamily="34" charset="0"/>
                <a:ea typeface="+mn-lt"/>
                <a:cs typeface="+mn-lt"/>
              </a:rPr>
              <a:t> </a:t>
            </a:r>
            <a:r>
              <a:rPr lang="en-US" sz="1500" b="1" dirty="0" err="1">
                <a:latin typeface="Trebuchet MS" panose="020B0603020202020204" pitchFamily="34" charset="0"/>
                <a:ea typeface="+mn-lt"/>
                <a:cs typeface="+mn-lt"/>
              </a:rPr>
              <a:t>cíclico</a:t>
            </a:r>
            <a:r>
              <a:rPr lang="en-US" sz="1500" b="1" dirty="0">
                <a:latin typeface="Trebuchet MS" panose="020B0603020202020204" pitchFamily="34" charset="0"/>
                <a:ea typeface="+mn-lt"/>
                <a:cs typeface="+mn-lt"/>
              </a:rPr>
              <a:t> y continuo</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diseñado</a:t>
            </a:r>
            <a:r>
              <a:rPr lang="en-US" sz="1500" dirty="0">
                <a:latin typeface="Trebuchet MS" panose="020B0603020202020204" pitchFamily="34" charset="0"/>
                <a:ea typeface="+mn-lt"/>
                <a:cs typeface="+mn-lt"/>
              </a:rPr>
              <a:t> para </a:t>
            </a:r>
            <a:r>
              <a:rPr lang="en-US" sz="1500" dirty="0" err="1">
                <a:latin typeface="Trebuchet MS" panose="020B0603020202020204" pitchFamily="34" charset="0"/>
                <a:ea typeface="+mn-lt"/>
                <a:cs typeface="+mn-lt"/>
              </a:rPr>
              <a:t>identificar</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clasificar</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priorizar</a:t>
            </a:r>
            <a:r>
              <a:rPr lang="en-US" sz="1500" dirty="0">
                <a:latin typeface="Trebuchet MS" panose="020B0603020202020204" pitchFamily="34" charset="0"/>
                <a:ea typeface="+mn-lt"/>
                <a:cs typeface="+mn-lt"/>
              </a:rPr>
              <a:t> y </a:t>
            </a:r>
            <a:r>
              <a:rPr lang="en-US" sz="1500" dirty="0" err="1">
                <a:latin typeface="Trebuchet MS" panose="020B0603020202020204" pitchFamily="34" charset="0"/>
                <a:ea typeface="+mn-lt"/>
                <a:cs typeface="+mn-lt"/>
              </a:rPr>
              <a:t>remediar</a:t>
            </a:r>
            <a:r>
              <a:rPr lang="en-US" sz="1500" dirty="0">
                <a:latin typeface="Trebuchet MS" panose="020B0603020202020204" pitchFamily="34" charset="0"/>
                <a:ea typeface="+mn-lt"/>
                <a:cs typeface="+mn-lt"/>
              </a:rPr>
              <a:t> las </a:t>
            </a:r>
            <a:r>
              <a:rPr lang="en-US" sz="1500" dirty="0" err="1">
                <a:latin typeface="Trebuchet MS" panose="020B0603020202020204" pitchFamily="34" charset="0"/>
                <a:ea typeface="+mn-lt"/>
                <a:cs typeface="+mn-lt"/>
              </a:rPr>
              <a:t>debilidades</a:t>
            </a:r>
            <a:r>
              <a:rPr lang="en-US" sz="1500" dirty="0">
                <a:latin typeface="Trebuchet MS" panose="020B0603020202020204" pitchFamily="34" charset="0"/>
                <a:ea typeface="+mn-lt"/>
                <a:cs typeface="+mn-lt"/>
              </a:rPr>
              <a:t> de </a:t>
            </a:r>
            <a:r>
              <a:rPr lang="en-US" sz="1500" dirty="0" err="1">
                <a:latin typeface="Trebuchet MS" panose="020B0603020202020204" pitchFamily="34" charset="0"/>
                <a:ea typeface="+mn-lt"/>
                <a:cs typeface="+mn-lt"/>
              </a:rPr>
              <a:t>seguridad</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en</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los</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sistemas</a:t>
            </a:r>
            <a:r>
              <a:rPr lang="en-US" sz="1500" dirty="0">
                <a:latin typeface="Trebuchet MS" panose="020B0603020202020204" pitchFamily="34" charset="0"/>
                <a:ea typeface="+mn-lt"/>
                <a:cs typeface="+mn-lt"/>
              </a:rPr>
              <a:t>, redes y </a:t>
            </a:r>
            <a:r>
              <a:rPr lang="en-US" sz="1500" dirty="0" err="1">
                <a:latin typeface="Trebuchet MS" panose="020B0603020202020204" pitchFamily="34" charset="0"/>
                <a:ea typeface="+mn-lt"/>
                <a:cs typeface="+mn-lt"/>
              </a:rPr>
              <a:t>apliaciones</a:t>
            </a:r>
            <a:r>
              <a:rPr lang="en-US" sz="1500" dirty="0">
                <a:latin typeface="Trebuchet MS" panose="020B0603020202020204" pitchFamily="34" charset="0"/>
                <a:ea typeface="+mn-lt"/>
                <a:cs typeface="+mn-lt"/>
              </a:rPr>
              <a:t> de </a:t>
            </a:r>
            <a:r>
              <a:rPr lang="en-US" sz="1500" dirty="0" err="1">
                <a:latin typeface="Trebuchet MS" panose="020B0603020202020204" pitchFamily="34" charset="0"/>
                <a:ea typeface="+mn-lt"/>
                <a:cs typeface="+mn-lt"/>
              </a:rPr>
              <a:t>una</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organización</a:t>
            </a:r>
            <a:r>
              <a:rPr lang="en-US" sz="1500" dirty="0">
                <a:latin typeface="Trebuchet MS" panose="020B0603020202020204" pitchFamily="34" charset="0"/>
                <a:ea typeface="+mn-lt"/>
                <a:cs typeface="+mn-lt"/>
              </a:rPr>
              <a:t>.</a:t>
            </a:r>
            <a:endParaRPr lang="es-ES" dirty="0">
              <a:latin typeface="Trebuchet MS" panose="020B0603020202020204" pitchFamily="34" charset="0"/>
            </a:endParaRPr>
          </a:p>
        </p:txBody>
      </p:sp>
      <p:sp>
        <p:nvSpPr>
          <p:cNvPr id="4" name="TextBox 5">
            <a:extLst>
              <a:ext uri="{FF2B5EF4-FFF2-40B4-BE49-F238E27FC236}">
                <a16:creationId xmlns:a16="http://schemas.microsoft.com/office/drawing/2014/main" id="{594D5F91-813C-00C8-AB86-7B50CCA32E85}"/>
              </a:ext>
            </a:extLst>
          </p:cNvPr>
          <p:cNvSpPr txBox="1"/>
          <p:nvPr/>
        </p:nvSpPr>
        <p:spPr>
          <a:xfrm>
            <a:off x="488067" y="2608486"/>
            <a:ext cx="994243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500" dirty="0">
                <a:latin typeface="Trebuchet MS" panose="020B0603020202020204" pitchFamily="34" charset="0"/>
                <a:ea typeface="+mn-lt"/>
                <a:cs typeface="+mn-lt"/>
              </a:rPr>
              <a:t>El </a:t>
            </a:r>
            <a:r>
              <a:rPr lang="en-US" sz="1500" dirty="0" err="1">
                <a:latin typeface="Trebuchet MS" panose="020B0603020202020204" pitchFamily="34" charset="0"/>
                <a:ea typeface="+mn-lt"/>
                <a:cs typeface="+mn-lt"/>
              </a:rPr>
              <a:t>proyecto</a:t>
            </a:r>
            <a:r>
              <a:rPr lang="en-US" sz="1500" dirty="0">
                <a:latin typeface="Trebuchet MS" panose="020B0603020202020204" pitchFamily="34" charset="0"/>
                <a:ea typeface="+mn-lt"/>
                <a:cs typeface="+mn-lt"/>
              </a:rPr>
              <a:t> </a:t>
            </a:r>
            <a:r>
              <a:rPr lang="en-US" sz="1500" b="1" dirty="0">
                <a:latin typeface="Trebuchet MS" panose="020B0603020202020204" pitchFamily="34" charset="0"/>
                <a:ea typeface="+mn-lt"/>
                <a:cs typeface="+mn-lt"/>
              </a:rPr>
              <a:t>OWASP</a:t>
            </a:r>
            <a:r>
              <a:rPr lang="en-US" sz="1500" dirty="0">
                <a:latin typeface="Trebuchet MS" panose="020B0603020202020204" pitchFamily="34" charset="0"/>
                <a:ea typeface="+mn-lt"/>
                <a:cs typeface="+mn-lt"/>
              </a:rPr>
              <a:t> (Open Web Application Security Project) se centra </a:t>
            </a:r>
            <a:r>
              <a:rPr lang="en-US" sz="1500" dirty="0" err="1">
                <a:latin typeface="Trebuchet MS" panose="020B0603020202020204" pitchFamily="34" charset="0"/>
                <a:ea typeface="+mn-lt"/>
                <a:cs typeface="+mn-lt"/>
              </a:rPr>
              <a:t>principalmente</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en</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mejorar</a:t>
            </a:r>
            <a:r>
              <a:rPr lang="en-US" sz="1500" dirty="0">
                <a:latin typeface="Trebuchet MS" panose="020B0603020202020204" pitchFamily="34" charset="0"/>
                <a:ea typeface="+mn-lt"/>
                <a:cs typeface="+mn-lt"/>
              </a:rPr>
              <a:t> la </a:t>
            </a:r>
            <a:r>
              <a:rPr lang="en-US" sz="1500" dirty="0" err="1">
                <a:latin typeface="Trebuchet MS" panose="020B0603020202020204" pitchFamily="34" charset="0"/>
                <a:ea typeface="+mn-lt"/>
                <a:cs typeface="+mn-lt"/>
              </a:rPr>
              <a:t>seguridad</a:t>
            </a:r>
            <a:r>
              <a:rPr lang="en-US" sz="1500" dirty="0">
                <a:latin typeface="Trebuchet MS" panose="020B0603020202020204" pitchFamily="34" charset="0"/>
                <a:ea typeface="+mn-lt"/>
                <a:cs typeface="+mn-lt"/>
              </a:rPr>
              <a:t> del software </a:t>
            </a:r>
            <a:r>
              <a:rPr lang="en-US" sz="1500" dirty="0" err="1">
                <a:latin typeface="Trebuchet MS" panose="020B0603020202020204" pitchFamily="34" charset="0"/>
                <a:ea typeface="+mn-lt"/>
                <a:cs typeface="+mn-lt"/>
              </a:rPr>
              <a:t>ofreciendo</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recursos</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herramientas</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formación</a:t>
            </a:r>
            <a:r>
              <a:rPr lang="en-US" sz="1500" dirty="0">
                <a:latin typeface="Trebuchet MS" panose="020B0603020202020204" pitchFamily="34" charset="0"/>
                <a:ea typeface="+mn-lt"/>
                <a:cs typeface="+mn-lt"/>
              </a:rPr>
              <a:t> y </a:t>
            </a:r>
            <a:r>
              <a:rPr lang="en-US" sz="1500" dirty="0" err="1">
                <a:latin typeface="Trebuchet MS" panose="020B0603020202020204" pitchFamily="34" charset="0"/>
                <a:ea typeface="+mn-lt"/>
                <a:cs typeface="+mn-lt"/>
              </a:rPr>
              <a:t>capacitación</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así</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como</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apoyo</a:t>
            </a:r>
            <a:r>
              <a:rPr lang="en-US" sz="1500" dirty="0">
                <a:latin typeface="Trebuchet MS" panose="020B0603020202020204" pitchFamily="34" charset="0"/>
                <a:ea typeface="+mn-lt"/>
                <a:cs typeface="+mn-lt"/>
              </a:rPr>
              <a:t> a la comunidad y networking para </a:t>
            </a:r>
            <a:r>
              <a:rPr lang="en-US" sz="1500" dirty="0" err="1">
                <a:latin typeface="Trebuchet MS" panose="020B0603020202020204" pitchFamily="34" charset="0"/>
                <a:ea typeface="+mn-lt"/>
                <a:cs typeface="+mn-lt"/>
              </a:rPr>
              <a:t>desarrolladores</a:t>
            </a:r>
            <a:r>
              <a:rPr lang="en-US" sz="1500" dirty="0">
                <a:latin typeface="Trebuchet MS" panose="020B0603020202020204" pitchFamily="34" charset="0"/>
                <a:ea typeface="+mn-lt"/>
                <a:cs typeface="+mn-lt"/>
              </a:rPr>
              <a:t> y </a:t>
            </a:r>
            <a:r>
              <a:rPr lang="en-US" sz="1500" dirty="0" err="1">
                <a:latin typeface="Trebuchet MS" panose="020B0603020202020204" pitchFamily="34" charset="0"/>
                <a:ea typeface="+mn-lt"/>
                <a:cs typeface="+mn-lt"/>
              </a:rPr>
              <a:t>tecnólogos</a:t>
            </a:r>
            <a:r>
              <a:rPr lang="en-US" sz="1500" dirty="0">
                <a:latin typeface="Trebuchet MS" panose="020B0603020202020204" pitchFamily="34" charset="0"/>
                <a:ea typeface="+mn-lt"/>
                <a:cs typeface="+mn-lt"/>
              </a:rPr>
              <a:t>. Sin embargo, sus </a:t>
            </a:r>
            <a:r>
              <a:rPr lang="en-US" sz="1500" dirty="0" err="1">
                <a:latin typeface="Trebuchet MS" panose="020B0603020202020204" pitchFamily="34" charset="0"/>
                <a:ea typeface="+mn-lt"/>
                <a:cs typeface="+mn-lt"/>
              </a:rPr>
              <a:t>publicaciones</a:t>
            </a:r>
            <a:r>
              <a:rPr lang="en-US" sz="1500" dirty="0">
                <a:latin typeface="Trebuchet MS" panose="020B0603020202020204" pitchFamily="34" charset="0"/>
                <a:ea typeface="+mn-lt"/>
                <a:cs typeface="+mn-lt"/>
              </a:rPr>
              <a:t> también </a:t>
            </a:r>
            <a:r>
              <a:rPr lang="en-US" sz="1500" dirty="0" err="1">
                <a:latin typeface="Trebuchet MS" panose="020B0603020202020204" pitchFamily="34" charset="0"/>
                <a:ea typeface="+mn-lt"/>
                <a:cs typeface="+mn-lt"/>
              </a:rPr>
              <a:t>ofrecen</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herramientas</a:t>
            </a:r>
            <a:r>
              <a:rPr lang="en-US" sz="1500" dirty="0">
                <a:latin typeface="Trebuchet MS" panose="020B0603020202020204" pitchFamily="34" charset="0"/>
                <a:ea typeface="+mn-lt"/>
                <a:cs typeface="+mn-lt"/>
              </a:rPr>
              <a:t> para </a:t>
            </a:r>
            <a:r>
              <a:rPr lang="en-US" sz="1500" dirty="0" err="1">
                <a:latin typeface="Trebuchet MS" panose="020B0603020202020204" pitchFamily="34" charset="0"/>
                <a:ea typeface="+mn-lt"/>
                <a:cs typeface="+mn-lt"/>
              </a:rPr>
              <a:t>otros</a:t>
            </a:r>
            <a:r>
              <a:rPr lang="en-US" sz="1500" dirty="0">
                <a:latin typeface="Trebuchet MS" panose="020B0603020202020204" pitchFamily="34" charset="0"/>
                <a:ea typeface="+mn-lt"/>
                <a:cs typeface="+mn-lt"/>
              </a:rPr>
              <a:t> campos de las TIC.</a:t>
            </a:r>
            <a:endParaRPr lang="es-ES" dirty="0">
              <a:latin typeface="Trebuchet MS" panose="020B0603020202020204" pitchFamily="34" charset="0"/>
              <a:ea typeface="+mn-lt"/>
              <a:cs typeface="+mn-lt"/>
            </a:endParaRPr>
          </a:p>
        </p:txBody>
      </p:sp>
      <p:pic>
        <p:nvPicPr>
          <p:cNvPr id="6" name="Imagen 5" descr="OWASP: O que é? Entenda agora como funciona e qual a sua importância.">
            <a:extLst>
              <a:ext uri="{FF2B5EF4-FFF2-40B4-BE49-F238E27FC236}">
                <a16:creationId xmlns:a16="http://schemas.microsoft.com/office/drawing/2014/main" id="{AB3C1C13-1884-5235-6503-EED5391BF0A9}"/>
              </a:ext>
            </a:extLst>
          </p:cNvPr>
          <p:cNvPicPr>
            <a:picLocks noChangeAspect="1"/>
          </p:cNvPicPr>
          <p:nvPr/>
        </p:nvPicPr>
        <p:blipFill rotWithShape="1">
          <a:blip r:embed="rId4"/>
          <a:srcRect t="16244" b="16244"/>
          <a:stretch/>
        </p:blipFill>
        <p:spPr>
          <a:xfrm>
            <a:off x="3675367" y="3892325"/>
            <a:ext cx="4841265" cy="1835515"/>
          </a:xfrm>
          <a:prstGeom prst="rect">
            <a:avLst/>
          </a:prstGeom>
          <a:ln>
            <a:solidFill>
              <a:schemeClr val="tx1"/>
            </a:solidFill>
          </a:ln>
        </p:spPr>
      </p:pic>
      <p:pic>
        <p:nvPicPr>
          <p:cNvPr id="3" name="Imagen 2" descr="Interfaz de usuario gráfica&#10;&#10;El contenido generado por IA puede ser incorrecto.">
            <a:extLst>
              <a:ext uri="{FF2B5EF4-FFF2-40B4-BE49-F238E27FC236}">
                <a16:creationId xmlns:a16="http://schemas.microsoft.com/office/drawing/2014/main" id="{60AAE48A-FD11-8FD4-70BC-E1EC2BC1838D}"/>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190905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2313E-4C22-E92E-9D49-801D1D640235}"/>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47C49AC1-1F92-CE2D-5F28-40E5BDECD1EA}"/>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C4A6F6B0-892A-7F2A-2A52-9F12D5464F56}"/>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8CF4FC33-DF02-2F22-2820-4410E9FF4EF6}"/>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Guía de Gestión de Vulnerabilidades (OVMG)</a:t>
            </a:r>
          </a:p>
        </p:txBody>
      </p:sp>
      <p:sp>
        <p:nvSpPr>
          <p:cNvPr id="3" name="TextBox 5">
            <a:extLst>
              <a:ext uri="{FF2B5EF4-FFF2-40B4-BE49-F238E27FC236}">
                <a16:creationId xmlns:a16="http://schemas.microsoft.com/office/drawing/2014/main" id="{3E85CC52-7E7A-0A2C-E3FD-6EE6D5592F52}"/>
              </a:ext>
            </a:extLst>
          </p:cNvPr>
          <p:cNvSpPr txBox="1"/>
          <p:nvPr/>
        </p:nvSpPr>
        <p:spPr>
          <a:xfrm>
            <a:off x="538520" y="1407703"/>
            <a:ext cx="994243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latin typeface="Trebuchet MS" panose="020B0603020202020204" pitchFamily="34" charset="0"/>
                <a:ea typeface="+mn-lt"/>
                <a:cs typeface="+mn-lt"/>
              </a:rPr>
              <a:t>Una de las </a:t>
            </a:r>
            <a:r>
              <a:rPr lang="en-US" sz="1400" dirty="0" err="1">
                <a:latin typeface="Trebuchet MS" panose="020B0603020202020204" pitchFamily="34" charset="0"/>
                <a:ea typeface="+mn-lt"/>
                <a:cs typeface="+mn-lt"/>
              </a:rPr>
              <a:t>publicaciones</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destacadas</a:t>
            </a:r>
            <a:r>
              <a:rPr lang="en-US" sz="1400" dirty="0">
                <a:latin typeface="Trebuchet MS" panose="020B0603020202020204" pitchFamily="34" charset="0"/>
                <a:ea typeface="+mn-lt"/>
                <a:cs typeface="+mn-lt"/>
              </a:rPr>
              <a:t> de OWASP es la </a:t>
            </a:r>
            <a:r>
              <a:rPr lang="en-US" sz="1400" b="1" dirty="0">
                <a:latin typeface="Trebuchet MS" panose="020B0603020202020204" pitchFamily="34" charset="0"/>
                <a:ea typeface="+mn-lt"/>
                <a:cs typeface="+mn-lt"/>
              </a:rPr>
              <a:t>Guía de </a:t>
            </a:r>
            <a:r>
              <a:rPr lang="en-US" sz="1400" b="1" dirty="0" err="1">
                <a:latin typeface="Trebuchet MS" panose="020B0603020202020204" pitchFamily="34" charset="0"/>
                <a:ea typeface="+mn-lt"/>
                <a:cs typeface="+mn-lt"/>
              </a:rPr>
              <a:t>Gestión</a:t>
            </a:r>
            <a:r>
              <a:rPr lang="en-US" sz="1400" b="1" dirty="0">
                <a:latin typeface="Trebuchet MS" panose="020B0603020202020204" pitchFamily="34" charset="0"/>
                <a:ea typeface="+mn-lt"/>
                <a:cs typeface="+mn-lt"/>
              </a:rPr>
              <a:t> de </a:t>
            </a:r>
            <a:r>
              <a:rPr lang="en-US" sz="1400" b="1" dirty="0" err="1">
                <a:latin typeface="Trebuchet MS" panose="020B0603020202020204" pitchFamily="34" charset="0"/>
                <a:ea typeface="+mn-lt"/>
                <a:cs typeface="+mn-lt"/>
              </a:rPr>
              <a:t>Vulnerabilidades</a:t>
            </a:r>
            <a:r>
              <a:rPr lang="en-US" sz="1400" dirty="0">
                <a:latin typeface="Trebuchet MS" panose="020B0603020202020204" pitchFamily="34" charset="0"/>
                <a:ea typeface="+mn-lt"/>
                <a:cs typeface="+mn-lt"/>
              </a:rPr>
              <a:t> (OVMG, </a:t>
            </a:r>
            <a:r>
              <a:rPr lang="en-US" sz="1400" dirty="0" err="1">
                <a:latin typeface="Trebuchet MS" panose="020B0603020202020204" pitchFamily="34" charset="0"/>
                <a:ea typeface="+mn-lt"/>
                <a:cs typeface="+mn-lt"/>
              </a:rPr>
              <a:t>por</a:t>
            </a:r>
            <a:r>
              <a:rPr lang="en-US" sz="1400" dirty="0">
                <a:latin typeface="Trebuchet MS" panose="020B0603020202020204" pitchFamily="34" charset="0"/>
                <a:ea typeface="+mn-lt"/>
                <a:cs typeface="+mn-lt"/>
              </a:rPr>
              <a:t> sus </a:t>
            </a:r>
            <a:r>
              <a:rPr lang="en-US" sz="1400" dirty="0" err="1">
                <a:latin typeface="Trebuchet MS" panose="020B0603020202020204" pitchFamily="34" charset="0"/>
                <a:ea typeface="+mn-lt"/>
                <a:cs typeface="+mn-lt"/>
              </a:rPr>
              <a:t>siglas</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en</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inglés</a:t>
            </a:r>
            <a:r>
              <a:rPr lang="en-US" sz="1400" dirty="0">
                <a:latin typeface="Trebuchet MS" panose="020B0603020202020204" pitchFamily="34" charset="0"/>
                <a:ea typeface="+mn-lt"/>
                <a:cs typeface="+mn-lt"/>
              </a:rPr>
              <a:t>). </a:t>
            </a:r>
            <a:endParaRPr lang="es-ES" sz="1400" dirty="0">
              <a:latin typeface="Trebuchet MS" panose="020B0603020202020204" pitchFamily="34" charset="0"/>
              <a:ea typeface="+mn-lt"/>
              <a:cs typeface="+mn-lt"/>
            </a:endParaRPr>
          </a:p>
          <a:p>
            <a:pPr algn="just"/>
            <a:endParaRPr lang="en-US" sz="1400" dirty="0">
              <a:latin typeface="Trebuchet MS" panose="020B0603020202020204" pitchFamily="34" charset="0"/>
              <a:ea typeface="+mn-lt"/>
              <a:cs typeface="+mn-lt"/>
            </a:endParaRPr>
          </a:p>
          <a:p>
            <a:pPr algn="just"/>
            <a:r>
              <a:rPr lang="en-US" sz="1400" dirty="0">
                <a:latin typeface="Trebuchet MS" panose="020B0603020202020204" pitchFamily="34" charset="0"/>
                <a:ea typeface="+mn-lt"/>
                <a:cs typeface="+mn-lt"/>
              </a:rPr>
              <a:t>El </a:t>
            </a:r>
            <a:r>
              <a:rPr lang="en-US" sz="1400" dirty="0" err="1">
                <a:latin typeface="Trebuchet MS" panose="020B0603020202020204" pitchFamily="34" charset="0"/>
                <a:ea typeface="+mn-lt"/>
                <a:cs typeface="+mn-lt"/>
              </a:rPr>
              <a:t>objetivo</a:t>
            </a:r>
            <a:r>
              <a:rPr lang="en-US" sz="1400" dirty="0">
                <a:latin typeface="Trebuchet MS" panose="020B0603020202020204" pitchFamily="34" charset="0"/>
                <a:ea typeface="+mn-lt"/>
                <a:cs typeface="+mn-lt"/>
              </a:rPr>
              <a:t> de la OVMG es </a:t>
            </a:r>
            <a:r>
              <a:rPr lang="en-US" sz="1400" dirty="0" err="1">
                <a:latin typeface="Trebuchet MS" panose="020B0603020202020204" pitchFamily="34" charset="0"/>
                <a:ea typeface="+mn-lt"/>
                <a:cs typeface="+mn-lt"/>
              </a:rPr>
              <a:t>reducir</a:t>
            </a:r>
            <a:r>
              <a:rPr lang="en-US" sz="1400" dirty="0">
                <a:latin typeface="Trebuchet MS" panose="020B0603020202020204" pitchFamily="34" charset="0"/>
                <a:ea typeface="+mn-lt"/>
                <a:cs typeface="+mn-lt"/>
              </a:rPr>
              <a:t> las </a:t>
            </a:r>
            <a:r>
              <a:rPr lang="en-US" sz="1400" dirty="0" err="1">
                <a:latin typeface="Trebuchet MS" panose="020B0603020202020204" pitchFamily="34" charset="0"/>
                <a:ea typeface="+mn-lt"/>
                <a:cs typeface="+mn-lt"/>
              </a:rPr>
              <a:t>fallas</a:t>
            </a:r>
            <a:r>
              <a:rPr lang="en-US" sz="1400" dirty="0">
                <a:latin typeface="Trebuchet MS" panose="020B0603020202020204" pitchFamily="34" charset="0"/>
                <a:ea typeface="+mn-lt"/>
                <a:cs typeface="+mn-lt"/>
              </a:rPr>
              <a:t> de </a:t>
            </a:r>
            <a:r>
              <a:rPr lang="en-US" sz="1400" dirty="0" err="1">
                <a:latin typeface="Trebuchet MS" panose="020B0603020202020204" pitchFamily="34" charset="0"/>
                <a:ea typeface="+mn-lt"/>
                <a:cs typeface="+mn-lt"/>
              </a:rPr>
              <a:t>seguridad</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dividiendo</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problemas</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complejos</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en</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operaciones</a:t>
            </a:r>
            <a:r>
              <a:rPr lang="en-US" sz="1400" dirty="0">
                <a:latin typeface="Trebuchet MS" panose="020B0603020202020204" pitchFamily="34" charset="0"/>
                <a:ea typeface="+mn-lt"/>
                <a:cs typeface="+mn-lt"/>
              </a:rPr>
              <a:t> simples y </a:t>
            </a:r>
            <a:r>
              <a:rPr lang="en-US" sz="1400" dirty="0" err="1">
                <a:latin typeface="Trebuchet MS" panose="020B0603020202020204" pitchFamily="34" charset="0"/>
                <a:ea typeface="+mn-lt"/>
                <a:cs typeface="+mn-lt"/>
              </a:rPr>
              <a:t>recurrentes</a:t>
            </a:r>
            <a:r>
              <a:rPr lang="en-US" sz="1400" dirty="0">
                <a:latin typeface="Trebuchet MS" panose="020B0603020202020204" pitchFamily="34" charset="0"/>
                <a:ea typeface="+mn-lt"/>
                <a:cs typeface="+mn-lt"/>
              </a:rPr>
              <a:t>: </a:t>
            </a:r>
            <a:r>
              <a:rPr lang="en-US" sz="1400" b="1" dirty="0" err="1">
                <a:latin typeface="Trebuchet MS" panose="020B0603020202020204" pitchFamily="34" charset="0"/>
                <a:ea typeface="+mn-lt"/>
                <a:cs typeface="+mn-lt"/>
              </a:rPr>
              <a:t>detección</a:t>
            </a:r>
            <a:r>
              <a:rPr lang="en-US" sz="1400" dirty="0">
                <a:latin typeface="Trebuchet MS" panose="020B0603020202020204" pitchFamily="34" charset="0"/>
                <a:ea typeface="+mn-lt"/>
                <a:cs typeface="+mn-lt"/>
              </a:rPr>
              <a:t>, </a:t>
            </a:r>
            <a:r>
              <a:rPr lang="en-US" sz="1400" b="1" dirty="0" err="1">
                <a:latin typeface="Trebuchet MS" panose="020B0603020202020204" pitchFamily="34" charset="0"/>
                <a:ea typeface="+mn-lt"/>
                <a:cs typeface="+mn-lt"/>
              </a:rPr>
              <a:t>divulgación</a:t>
            </a:r>
            <a:r>
              <a:rPr lang="en-US" sz="1400" dirty="0">
                <a:latin typeface="Trebuchet MS" panose="020B0603020202020204" pitchFamily="34" charset="0"/>
                <a:ea typeface="+mn-lt"/>
                <a:cs typeface="+mn-lt"/>
              </a:rPr>
              <a:t> y </a:t>
            </a:r>
            <a:r>
              <a:rPr lang="en-US" sz="1400" b="1" dirty="0" err="1">
                <a:latin typeface="Trebuchet MS" panose="020B0603020202020204" pitchFamily="34" charset="0"/>
                <a:ea typeface="+mn-lt"/>
                <a:cs typeface="+mn-lt"/>
              </a:rPr>
              <a:t>remediación</a:t>
            </a:r>
            <a:r>
              <a:rPr lang="en-US" sz="1400" dirty="0">
                <a:latin typeface="Trebuchet MS" panose="020B0603020202020204" pitchFamily="34" charset="0"/>
                <a:ea typeface="+mn-lt"/>
                <a:cs typeface="+mn-lt"/>
              </a:rPr>
              <a:t>. La </a:t>
            </a:r>
            <a:r>
              <a:rPr lang="en-US" sz="1400" dirty="0" err="1">
                <a:latin typeface="Trebuchet MS" panose="020B0603020202020204" pitchFamily="34" charset="0"/>
                <a:ea typeface="+mn-lt"/>
                <a:cs typeface="+mn-lt"/>
              </a:rPr>
              <a:t>guía</a:t>
            </a:r>
            <a:r>
              <a:rPr lang="en-US" sz="1400" dirty="0">
                <a:latin typeface="Trebuchet MS" panose="020B0603020202020204" pitchFamily="34" charset="0"/>
                <a:ea typeface="+mn-lt"/>
                <a:cs typeface="+mn-lt"/>
              </a:rPr>
              <a:t> se centra </a:t>
            </a:r>
            <a:r>
              <a:rPr lang="en-US" sz="1400" dirty="0" err="1">
                <a:latin typeface="Trebuchet MS" panose="020B0603020202020204" pitchFamily="34" charset="0"/>
                <a:ea typeface="+mn-lt"/>
                <a:cs typeface="+mn-lt"/>
              </a:rPr>
              <a:t>específicamente</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en</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el</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desarrollo</a:t>
            </a:r>
            <a:r>
              <a:rPr lang="en-US" sz="1400" dirty="0">
                <a:latin typeface="Trebuchet MS" panose="020B0603020202020204" pitchFamily="34" charset="0"/>
                <a:ea typeface="+mn-lt"/>
                <a:cs typeface="+mn-lt"/>
              </a:rPr>
              <a:t> de </a:t>
            </a:r>
            <a:r>
              <a:rPr lang="en-US" sz="1400" dirty="0" err="1">
                <a:latin typeface="Trebuchet MS" panose="020B0603020202020204" pitchFamily="34" charset="0"/>
                <a:ea typeface="+mn-lt"/>
                <a:cs typeface="+mn-lt"/>
              </a:rPr>
              <a:t>procesos</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cíclicos</a:t>
            </a:r>
            <a:r>
              <a:rPr lang="en-US" sz="1400" dirty="0">
                <a:latin typeface="Trebuchet MS" panose="020B0603020202020204" pitchFamily="34" charset="0"/>
                <a:ea typeface="+mn-lt"/>
                <a:cs typeface="+mn-lt"/>
              </a:rPr>
              <a:t>. Al </a:t>
            </a:r>
            <a:r>
              <a:rPr lang="en-US" sz="1400" dirty="0" err="1">
                <a:latin typeface="Trebuchet MS" panose="020B0603020202020204" pitchFamily="34" charset="0"/>
                <a:ea typeface="+mn-lt"/>
                <a:cs typeface="+mn-lt"/>
              </a:rPr>
              <a:t>adoptar</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estos</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procedimientos</a:t>
            </a:r>
            <a:r>
              <a:rPr lang="en-US" sz="1400" dirty="0">
                <a:latin typeface="Trebuchet MS" panose="020B0603020202020204" pitchFamily="34" charset="0"/>
                <a:ea typeface="+mn-lt"/>
                <a:cs typeface="+mn-lt"/>
              </a:rPr>
              <a:t>, se </a:t>
            </a:r>
            <a:r>
              <a:rPr lang="en-US" sz="1400" dirty="0" err="1">
                <a:latin typeface="Trebuchet MS" panose="020B0603020202020204" pitchFamily="34" charset="0"/>
                <a:ea typeface="+mn-lt"/>
                <a:cs typeface="+mn-lt"/>
              </a:rPr>
              <a:t>recomienda</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comenzar</a:t>
            </a:r>
            <a:r>
              <a:rPr lang="en-US" sz="1400" dirty="0">
                <a:latin typeface="Trebuchet MS" panose="020B0603020202020204" pitchFamily="34" charset="0"/>
                <a:ea typeface="+mn-lt"/>
                <a:cs typeface="+mn-lt"/>
              </a:rPr>
              <a:t> con lo </a:t>
            </a:r>
            <a:r>
              <a:rPr lang="en-US" sz="1400" dirty="0" err="1">
                <a:latin typeface="Trebuchet MS" panose="020B0603020202020204" pitchFamily="34" charset="0"/>
                <a:ea typeface="+mn-lt"/>
                <a:cs typeface="+mn-lt"/>
              </a:rPr>
              <a:t>básico</a:t>
            </a:r>
            <a:r>
              <a:rPr lang="en-US" sz="1400" dirty="0">
                <a:latin typeface="Trebuchet MS" panose="020B0603020202020204" pitchFamily="34" charset="0"/>
                <a:ea typeface="+mn-lt"/>
                <a:cs typeface="+mn-lt"/>
              </a:rPr>
              <a:t> y luego </a:t>
            </a:r>
            <a:r>
              <a:rPr lang="en-US" sz="1400" dirty="0" err="1">
                <a:latin typeface="Trebuchet MS" panose="020B0603020202020204" pitchFamily="34" charset="0"/>
                <a:ea typeface="+mn-lt"/>
                <a:cs typeface="+mn-lt"/>
              </a:rPr>
              <a:t>desarrollar</a:t>
            </a:r>
            <a:r>
              <a:rPr lang="en-US" sz="1400" dirty="0">
                <a:latin typeface="Trebuchet MS" panose="020B0603020202020204" pitchFamily="34" charset="0"/>
                <a:ea typeface="+mn-lt"/>
                <a:cs typeface="+mn-lt"/>
              </a:rPr>
              <a:t> las </a:t>
            </a:r>
            <a:r>
              <a:rPr lang="en-US" sz="1400" dirty="0" err="1">
                <a:latin typeface="Trebuchet MS" panose="020B0603020202020204" pitchFamily="34" charset="0"/>
                <a:ea typeface="+mn-lt"/>
                <a:cs typeface="+mn-lt"/>
              </a:rPr>
              <a:t>operaciones</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individuales</a:t>
            </a:r>
            <a:r>
              <a:rPr lang="en-US" sz="1400" dirty="0">
                <a:latin typeface="Trebuchet MS" panose="020B0603020202020204" pitchFamily="34" charset="0"/>
                <a:ea typeface="+mn-lt"/>
                <a:cs typeface="+mn-lt"/>
              </a:rPr>
              <a:t> de </a:t>
            </a:r>
            <a:r>
              <a:rPr lang="en-US" sz="1400" dirty="0" err="1">
                <a:latin typeface="Trebuchet MS" panose="020B0603020202020204" pitchFamily="34" charset="0"/>
                <a:ea typeface="+mn-lt"/>
                <a:cs typeface="+mn-lt"/>
              </a:rPr>
              <a:t>manera</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progresiva</a:t>
            </a:r>
            <a:r>
              <a:rPr lang="en-US" sz="1400" dirty="0">
                <a:latin typeface="Trebuchet MS" panose="020B0603020202020204" pitchFamily="34" charset="0"/>
                <a:ea typeface="+mn-lt"/>
                <a:cs typeface="+mn-lt"/>
              </a:rPr>
              <a:t> y </a:t>
            </a:r>
            <a:r>
              <a:rPr lang="en-US" sz="1400" dirty="0" err="1">
                <a:latin typeface="Trebuchet MS" panose="020B0603020202020204" pitchFamily="34" charset="0"/>
                <a:ea typeface="+mn-lt"/>
                <a:cs typeface="+mn-lt"/>
              </a:rPr>
              <a:t>consistente</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en</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cada</a:t>
            </a:r>
            <a:r>
              <a:rPr lang="en-US" sz="1400" dirty="0">
                <a:latin typeface="Trebuchet MS" panose="020B0603020202020204" pitchFamily="34" charset="0"/>
                <a:ea typeface="+mn-lt"/>
                <a:cs typeface="+mn-lt"/>
              </a:rPr>
              <a:t> </a:t>
            </a:r>
            <a:r>
              <a:rPr lang="en-US" sz="1400" dirty="0" err="1">
                <a:latin typeface="Trebuchet MS" panose="020B0603020202020204" pitchFamily="34" charset="0"/>
                <a:ea typeface="+mn-lt"/>
                <a:cs typeface="+mn-lt"/>
              </a:rPr>
              <a:t>fase</a:t>
            </a:r>
            <a:r>
              <a:rPr lang="en-US" sz="1400" dirty="0">
                <a:latin typeface="Trebuchet MS" panose="020B0603020202020204" pitchFamily="34" charset="0"/>
                <a:ea typeface="+mn-lt"/>
                <a:cs typeface="+mn-lt"/>
              </a:rPr>
              <a:t> del </a:t>
            </a:r>
            <a:r>
              <a:rPr lang="en-US" sz="1400" dirty="0" err="1">
                <a:latin typeface="Trebuchet MS" panose="020B0603020202020204" pitchFamily="34" charset="0"/>
                <a:ea typeface="+mn-lt"/>
                <a:cs typeface="+mn-lt"/>
              </a:rPr>
              <a:t>ciclo</a:t>
            </a:r>
            <a:r>
              <a:rPr lang="en-US" sz="1400" dirty="0">
                <a:latin typeface="Trebuchet MS" panose="020B0603020202020204" pitchFamily="34" charset="0"/>
                <a:ea typeface="+mn-lt"/>
                <a:cs typeface="+mn-lt"/>
              </a:rPr>
              <a:t>.</a:t>
            </a:r>
            <a:endParaRPr lang="es-ES" sz="1400" dirty="0">
              <a:latin typeface="Trebuchet MS" panose="020B0603020202020204" pitchFamily="34" charset="0"/>
              <a:ea typeface="+mn-lt"/>
              <a:cs typeface="+mn-lt"/>
            </a:endParaRPr>
          </a:p>
        </p:txBody>
      </p:sp>
      <p:pic>
        <p:nvPicPr>
          <p:cNvPr id="7" name="Imagen 6" descr="Diagrama&#10;&#10;Descripción generada automáticamente">
            <a:extLst>
              <a:ext uri="{FF2B5EF4-FFF2-40B4-BE49-F238E27FC236}">
                <a16:creationId xmlns:a16="http://schemas.microsoft.com/office/drawing/2014/main" id="{430D2E62-A4DC-24E2-6562-6217C1E75812}"/>
              </a:ext>
            </a:extLst>
          </p:cNvPr>
          <p:cNvPicPr>
            <a:picLocks noChangeAspect="1"/>
          </p:cNvPicPr>
          <p:nvPr/>
        </p:nvPicPr>
        <p:blipFill>
          <a:blip r:embed="rId4"/>
          <a:stretch>
            <a:fillRect/>
          </a:stretch>
        </p:blipFill>
        <p:spPr>
          <a:xfrm>
            <a:off x="4502633" y="3008661"/>
            <a:ext cx="3098390" cy="3108054"/>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0DBCEE8A-8B45-6436-2805-BED5F0BFE7CE}"/>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85052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178DC-2338-0F2A-6147-92BB945D6ECB}"/>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0F7E46FD-F811-D470-BEB4-E4FFCA8B3745}"/>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746A344F-3AB6-202C-A509-CEC1CC004608}"/>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2F834F5B-E504-E1A7-DAF1-FFE3BCE83D70}"/>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Gestión de vulnerabilidades e inteligencia de amenazas</a:t>
            </a:r>
          </a:p>
        </p:txBody>
      </p:sp>
      <p:pic>
        <p:nvPicPr>
          <p:cNvPr id="2" name="Gráfico 1">
            <a:extLst>
              <a:ext uri="{FF2B5EF4-FFF2-40B4-BE49-F238E27FC236}">
                <a16:creationId xmlns:a16="http://schemas.microsoft.com/office/drawing/2014/main" id="{0A0E0197-C382-E8F2-8CB4-2E5B7605A2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33501" y="964131"/>
            <a:ext cx="6417059" cy="4844855"/>
          </a:xfrm>
          <a:prstGeom prst="rect">
            <a:avLst/>
          </a:prstGeom>
        </p:spPr>
      </p:pic>
      <p:sp>
        <p:nvSpPr>
          <p:cNvPr id="4" name="CuadroTexto 3">
            <a:extLst>
              <a:ext uri="{FF2B5EF4-FFF2-40B4-BE49-F238E27FC236}">
                <a16:creationId xmlns:a16="http://schemas.microsoft.com/office/drawing/2014/main" id="{A58D30CA-08D7-FA9C-CD63-8070EB3753E3}"/>
              </a:ext>
            </a:extLst>
          </p:cNvPr>
          <p:cNvSpPr txBox="1"/>
          <p:nvPr/>
        </p:nvSpPr>
        <p:spPr>
          <a:xfrm>
            <a:off x="462509" y="5452118"/>
            <a:ext cx="1080037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pic>
        <p:nvPicPr>
          <p:cNvPr id="3" name="Imagen 2" descr="Interfaz de usuario gráfica&#10;&#10;El contenido generado por IA puede ser incorrecto.">
            <a:extLst>
              <a:ext uri="{FF2B5EF4-FFF2-40B4-BE49-F238E27FC236}">
                <a16:creationId xmlns:a16="http://schemas.microsoft.com/office/drawing/2014/main" id="{6196BD0C-9869-F248-D4A0-977C7E3922A5}"/>
              </a:ext>
            </a:extLst>
          </p:cNvPr>
          <p:cNvPicPr>
            <a:picLocks noChangeAspect="1"/>
          </p:cNvPicPr>
          <p:nvPr/>
        </p:nvPicPr>
        <p:blipFill>
          <a:blip r:embed="rId6">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6062560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0CA81-0D42-7189-2B4A-E6D0D00907FE}"/>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DA4BC2C7-47C8-CC7E-76CC-6735366BF43D}"/>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0F32C498-BEC9-9858-F18E-0F8BC3E9BE3A}"/>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01C879EC-5406-9FB9-DB97-B45548CDA3B5}"/>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Ciclo de detección</a:t>
            </a:r>
          </a:p>
        </p:txBody>
      </p:sp>
      <p:sp>
        <p:nvSpPr>
          <p:cNvPr id="3" name="TextBox 5">
            <a:extLst>
              <a:ext uri="{FF2B5EF4-FFF2-40B4-BE49-F238E27FC236}">
                <a16:creationId xmlns:a16="http://schemas.microsoft.com/office/drawing/2014/main" id="{05BA9F80-EB9F-AA3E-C45F-4616A25B8AF5}"/>
              </a:ext>
            </a:extLst>
          </p:cNvPr>
          <p:cNvSpPr txBox="1"/>
          <p:nvPr/>
        </p:nvSpPr>
        <p:spPr>
          <a:xfrm>
            <a:off x="488072" y="978876"/>
            <a:ext cx="994243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500">
                <a:latin typeface="Trebuchet MS" panose="020B0603020202020204" pitchFamily="34" charset="0"/>
                <a:ea typeface="+mn-lt"/>
                <a:cs typeface="+mn-lt"/>
              </a:rPr>
              <a:t>El </a:t>
            </a:r>
            <a:r>
              <a:rPr lang="en-US" sz="1500" err="1">
                <a:latin typeface="Trebuchet MS" panose="020B0603020202020204" pitchFamily="34" charset="0"/>
                <a:ea typeface="+mn-lt"/>
                <a:cs typeface="+mn-lt"/>
              </a:rPr>
              <a:t>ciclo</a:t>
            </a:r>
            <a:r>
              <a:rPr lang="en-US" sz="1500">
                <a:latin typeface="Trebuchet MS" panose="020B0603020202020204" pitchFamily="34" charset="0"/>
                <a:ea typeface="+mn-lt"/>
                <a:cs typeface="+mn-lt"/>
              </a:rPr>
              <a:t> de </a:t>
            </a:r>
            <a:r>
              <a:rPr lang="en-US" sz="1500" err="1">
                <a:latin typeface="Trebuchet MS" panose="020B0603020202020204" pitchFamily="34" charset="0"/>
                <a:ea typeface="+mn-lt"/>
                <a:cs typeface="+mn-lt"/>
              </a:rPr>
              <a:t>detección</a:t>
            </a:r>
            <a:r>
              <a:rPr lang="en-US" sz="1500">
                <a:latin typeface="Trebuchet MS" panose="020B0603020202020204" pitchFamily="34" charset="0"/>
                <a:ea typeface="+mn-lt"/>
                <a:cs typeface="+mn-lt"/>
              </a:rPr>
              <a:t> de la OVMG es un </a:t>
            </a:r>
            <a:r>
              <a:rPr lang="en-US" sz="1500" err="1">
                <a:latin typeface="Trebuchet MS" panose="020B0603020202020204" pitchFamily="34" charset="0"/>
                <a:ea typeface="+mn-lt"/>
                <a:cs typeface="+mn-lt"/>
              </a:rPr>
              <a:t>proceso</a:t>
            </a:r>
            <a:r>
              <a:rPr lang="en-US" sz="1500">
                <a:latin typeface="Trebuchet MS" panose="020B0603020202020204" pitchFamily="34" charset="0"/>
                <a:ea typeface="+mn-lt"/>
                <a:cs typeface="+mn-lt"/>
              </a:rPr>
              <a:t> crucial para </a:t>
            </a:r>
            <a:r>
              <a:rPr lang="en-US" sz="1500" err="1">
                <a:latin typeface="Trebuchet MS" panose="020B0603020202020204" pitchFamily="34" charset="0"/>
                <a:ea typeface="+mn-lt"/>
                <a:cs typeface="+mn-lt"/>
              </a:rPr>
              <a:t>identificar</a:t>
            </a:r>
            <a:r>
              <a:rPr lang="en-US" sz="1500">
                <a:latin typeface="Trebuchet MS" panose="020B0603020202020204" pitchFamily="34" charset="0"/>
                <a:ea typeface="+mn-lt"/>
                <a:cs typeface="+mn-lt"/>
              </a:rPr>
              <a:t> y </a:t>
            </a:r>
            <a:r>
              <a:rPr lang="en-US" sz="1500" err="1">
                <a:latin typeface="Trebuchet MS" panose="020B0603020202020204" pitchFamily="34" charset="0"/>
                <a:ea typeface="+mn-lt"/>
                <a:cs typeface="+mn-lt"/>
              </a:rPr>
              <a:t>comprender</a:t>
            </a:r>
            <a:r>
              <a:rPr lang="en-US" sz="1500">
                <a:latin typeface="Trebuchet MS" panose="020B0603020202020204" pitchFamily="34" charset="0"/>
                <a:ea typeface="+mn-lt"/>
                <a:cs typeface="+mn-lt"/>
              </a:rPr>
              <a:t> las </a:t>
            </a:r>
            <a:r>
              <a:rPr lang="en-US" sz="1500" err="1">
                <a:latin typeface="Trebuchet MS" panose="020B0603020202020204" pitchFamily="34" charset="0"/>
                <a:ea typeface="+mn-lt"/>
                <a:cs typeface="+mn-lt"/>
              </a:rPr>
              <a:t>vulnerabilidades</a:t>
            </a:r>
            <a:r>
              <a:rPr lang="en-US" sz="1500">
                <a:latin typeface="Trebuchet MS" panose="020B0603020202020204" pitchFamily="34" charset="0"/>
                <a:ea typeface="+mn-lt"/>
                <a:cs typeface="+mn-lt"/>
              </a:rPr>
              <a:t> que </a:t>
            </a:r>
            <a:r>
              <a:rPr lang="en-US" sz="1500" err="1">
                <a:latin typeface="Trebuchet MS" panose="020B0603020202020204" pitchFamily="34" charset="0"/>
                <a:ea typeface="+mn-lt"/>
                <a:cs typeface="+mn-lt"/>
              </a:rPr>
              <a:t>afectan</a:t>
            </a:r>
            <a:r>
              <a:rPr lang="en-US" sz="1500">
                <a:latin typeface="Trebuchet MS" panose="020B0603020202020204" pitchFamily="34" charset="0"/>
                <a:ea typeface="+mn-lt"/>
                <a:cs typeface="+mn-lt"/>
              </a:rPr>
              <a:t> a </a:t>
            </a:r>
            <a:r>
              <a:rPr lang="en-US" sz="1500" err="1">
                <a:latin typeface="Trebuchet MS" panose="020B0603020202020204" pitchFamily="34" charset="0"/>
                <a:ea typeface="+mn-lt"/>
                <a:cs typeface="+mn-lt"/>
              </a:rPr>
              <a:t>una</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organización</a:t>
            </a:r>
            <a:r>
              <a:rPr lang="en-US" sz="1500">
                <a:latin typeface="Trebuchet MS" panose="020B0603020202020204" pitchFamily="34" charset="0"/>
                <a:ea typeface="+mn-lt"/>
                <a:cs typeface="+mn-lt"/>
              </a:rPr>
              <a:t>. Este </a:t>
            </a:r>
            <a:r>
              <a:rPr lang="en-US" sz="1500" err="1">
                <a:latin typeface="Trebuchet MS" panose="020B0603020202020204" pitchFamily="34" charset="0"/>
                <a:ea typeface="+mn-lt"/>
                <a:cs typeface="+mn-lt"/>
              </a:rPr>
              <a:t>ciclo</a:t>
            </a:r>
            <a:r>
              <a:rPr lang="en-US" sz="1500">
                <a:latin typeface="Trebuchet MS" panose="020B0603020202020204" pitchFamily="34" charset="0"/>
                <a:ea typeface="+mn-lt"/>
                <a:cs typeface="+mn-lt"/>
              </a:rPr>
              <a:t> se centra </a:t>
            </a:r>
            <a:r>
              <a:rPr lang="en-US" sz="1500" err="1">
                <a:latin typeface="Trebuchet MS" panose="020B0603020202020204" pitchFamily="34" charset="0"/>
                <a:ea typeface="+mn-lt"/>
                <a:cs typeface="+mn-lt"/>
              </a:rPr>
              <a:t>en</a:t>
            </a:r>
            <a:r>
              <a:rPr lang="en-US" sz="1500">
                <a:latin typeface="Trebuchet MS" panose="020B0603020202020204" pitchFamily="34" charset="0"/>
                <a:ea typeface="+mn-lt"/>
                <a:cs typeface="+mn-lt"/>
              </a:rPr>
              <a:t> responder a </a:t>
            </a:r>
            <a:r>
              <a:rPr lang="en-US" sz="1500" err="1">
                <a:latin typeface="Trebuchet MS" panose="020B0603020202020204" pitchFamily="34" charset="0"/>
                <a:ea typeface="+mn-lt"/>
                <a:cs typeface="+mn-lt"/>
              </a:rPr>
              <a:t>preguntas</a:t>
            </a:r>
            <a:r>
              <a:rPr lang="en-US" sz="1500">
                <a:latin typeface="Trebuchet MS" panose="020B0603020202020204" pitchFamily="34" charset="0"/>
                <a:ea typeface="+mn-lt"/>
                <a:cs typeface="+mn-lt"/>
              </a:rPr>
              <a:t> clave </a:t>
            </a:r>
            <a:r>
              <a:rPr lang="en-US" sz="1500" err="1">
                <a:latin typeface="Trebuchet MS" panose="020B0603020202020204" pitchFamily="34" charset="0"/>
                <a:ea typeface="+mn-lt"/>
                <a:cs typeface="+mn-lt"/>
              </a:rPr>
              <a:t>como</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por</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qué</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qué</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dónde</a:t>
            </a:r>
            <a:r>
              <a:rPr lang="en-US" sz="1500">
                <a:latin typeface="Trebuchet MS" panose="020B0603020202020204" pitchFamily="34" charset="0"/>
                <a:ea typeface="+mn-lt"/>
                <a:cs typeface="+mn-lt"/>
              </a:rPr>
              <a:t>?" y "¿</a:t>
            </a:r>
            <a:r>
              <a:rPr lang="en-US" sz="1500" err="1">
                <a:latin typeface="Trebuchet MS" panose="020B0603020202020204" pitchFamily="34" charset="0"/>
                <a:ea typeface="+mn-lt"/>
                <a:cs typeface="+mn-lt"/>
              </a:rPr>
              <a:t>cómo</a:t>
            </a:r>
            <a:r>
              <a:rPr lang="en-US" sz="1500">
                <a:latin typeface="Trebuchet MS" panose="020B0603020202020204" pitchFamily="34" charset="0"/>
                <a:ea typeface="+mn-lt"/>
                <a:cs typeface="+mn-lt"/>
              </a:rPr>
              <a:t>?" para </a:t>
            </a:r>
            <a:r>
              <a:rPr lang="en-US" sz="1500" err="1">
                <a:latin typeface="Trebuchet MS" panose="020B0603020202020204" pitchFamily="34" charset="0"/>
                <a:ea typeface="+mn-lt"/>
                <a:cs typeface="+mn-lt"/>
              </a:rPr>
              <a:t>obtener</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una</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visión</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completa</a:t>
            </a:r>
            <a:r>
              <a:rPr lang="en-US" sz="1500">
                <a:latin typeface="Trebuchet MS" panose="020B0603020202020204" pitchFamily="34" charset="0"/>
                <a:ea typeface="+mn-lt"/>
                <a:cs typeface="+mn-lt"/>
              </a:rPr>
              <a:t> de </a:t>
            </a:r>
            <a:r>
              <a:rPr lang="en-US" sz="1500" err="1">
                <a:latin typeface="Trebuchet MS" panose="020B0603020202020204" pitchFamily="34" charset="0"/>
                <a:ea typeface="+mn-lt"/>
                <a:cs typeface="+mn-lt"/>
              </a:rPr>
              <a:t>los</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riesgos</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potenciales</a:t>
            </a:r>
            <a:r>
              <a:rPr lang="en-US" sz="1500">
                <a:latin typeface="Trebuchet MS" panose="020B0603020202020204" pitchFamily="34" charset="0"/>
                <a:ea typeface="+mn-lt"/>
                <a:cs typeface="+mn-lt"/>
              </a:rPr>
              <a:t>. Las </a:t>
            </a:r>
            <a:r>
              <a:rPr lang="en-US" sz="1500" b="1" err="1">
                <a:latin typeface="Trebuchet MS" panose="020B0603020202020204" pitchFamily="34" charset="0"/>
                <a:ea typeface="+mn-lt"/>
                <a:cs typeface="+mn-lt"/>
              </a:rPr>
              <a:t>tareas</a:t>
            </a:r>
            <a:r>
              <a:rPr lang="en-US" sz="1500">
                <a:latin typeface="Trebuchet MS" panose="020B0603020202020204" pitchFamily="34" charset="0"/>
                <a:ea typeface="+mn-lt"/>
                <a:cs typeface="+mn-lt"/>
              </a:rPr>
              <a:t> de </a:t>
            </a:r>
            <a:r>
              <a:rPr lang="en-US" sz="1500" err="1">
                <a:latin typeface="Trebuchet MS" panose="020B0603020202020204" pitchFamily="34" charset="0"/>
                <a:ea typeface="+mn-lt"/>
                <a:cs typeface="+mn-lt"/>
              </a:rPr>
              <a:t>este</a:t>
            </a:r>
            <a:r>
              <a:rPr lang="en-US" sz="1500">
                <a:latin typeface="Trebuchet MS" panose="020B0603020202020204" pitchFamily="34" charset="0"/>
                <a:ea typeface="+mn-lt"/>
                <a:cs typeface="+mn-lt"/>
              </a:rPr>
              <a:t> </a:t>
            </a:r>
            <a:r>
              <a:rPr lang="en-US" sz="1500" err="1">
                <a:latin typeface="Trebuchet MS" panose="020B0603020202020204" pitchFamily="34" charset="0"/>
                <a:ea typeface="+mn-lt"/>
                <a:cs typeface="+mn-lt"/>
              </a:rPr>
              <a:t>ciclo</a:t>
            </a:r>
            <a:r>
              <a:rPr lang="en-US" sz="1500">
                <a:latin typeface="Trebuchet MS" panose="020B0603020202020204" pitchFamily="34" charset="0"/>
                <a:ea typeface="+mn-lt"/>
                <a:cs typeface="+mn-lt"/>
              </a:rPr>
              <a:t> son:</a:t>
            </a:r>
            <a:endParaRPr lang="es-ES" sz="1500">
              <a:latin typeface="Trebuchet MS" panose="020B0603020202020204" pitchFamily="34" charset="0"/>
            </a:endParaRPr>
          </a:p>
        </p:txBody>
      </p:sp>
      <p:sp>
        <p:nvSpPr>
          <p:cNvPr id="6" name="CuadroTexto 5">
            <a:extLst>
              <a:ext uri="{FF2B5EF4-FFF2-40B4-BE49-F238E27FC236}">
                <a16:creationId xmlns:a16="http://schemas.microsoft.com/office/drawing/2014/main" id="{21ACE17B-1E6B-9997-78E7-CF7026D9FD1B}"/>
              </a:ext>
            </a:extLst>
          </p:cNvPr>
          <p:cNvSpPr txBox="1"/>
          <p:nvPr/>
        </p:nvSpPr>
        <p:spPr>
          <a:xfrm>
            <a:off x="2642900" y="1965089"/>
            <a:ext cx="778760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1. Definición y refinamiento de alcance: </a:t>
            </a:r>
            <a:r>
              <a:rPr lang="es-ES" sz="1500">
                <a:latin typeface="Trebuchet MS" panose="020B0603020202020204" pitchFamily="34" charset="0"/>
                <a:ea typeface="+mn-lt"/>
                <a:cs typeface="+mn-lt"/>
              </a:rPr>
              <a:t>Establecer un enfoque integral para la detección de vulnerabilidades.</a:t>
            </a:r>
            <a:endParaRPr lang="es-ES" sz="1500">
              <a:latin typeface="Trebuchet MS" panose="020B0603020202020204" pitchFamily="34" charset="0"/>
              <a:ea typeface="Calibri"/>
              <a:cs typeface="Calibri"/>
            </a:endParaRPr>
          </a:p>
        </p:txBody>
      </p:sp>
      <p:sp>
        <p:nvSpPr>
          <p:cNvPr id="7" name="CuadroTexto 6">
            <a:extLst>
              <a:ext uri="{FF2B5EF4-FFF2-40B4-BE49-F238E27FC236}">
                <a16:creationId xmlns:a16="http://schemas.microsoft.com/office/drawing/2014/main" id="{7280B4F9-E6AA-3805-6B70-EB7A7C06A790}"/>
              </a:ext>
            </a:extLst>
          </p:cNvPr>
          <p:cNvSpPr txBox="1"/>
          <p:nvPr/>
        </p:nvSpPr>
        <p:spPr>
          <a:xfrm>
            <a:off x="2642654" y="4198517"/>
            <a:ext cx="789018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Trebuchet MS" panose="020B0603020202020204" pitchFamily="34" charset="0"/>
                <a:ea typeface="+mn-lt"/>
                <a:cs typeface="+mn-lt"/>
              </a:rPr>
              <a:t>3. Ejecución de pruebas de vulnerabilidad: </a:t>
            </a:r>
            <a:r>
              <a:rPr lang="es-ES" sz="1500" dirty="0">
                <a:latin typeface="Trebuchet MS" panose="020B0603020202020204" pitchFamily="34" charset="0"/>
                <a:ea typeface="+mn-lt"/>
                <a:cs typeface="+mn-lt"/>
              </a:rPr>
              <a:t>Realizar pruebas de seguridad exhaustivas para identificar vulnerabilidades en diferentes entornos.</a:t>
            </a:r>
          </a:p>
        </p:txBody>
      </p:sp>
      <p:sp>
        <p:nvSpPr>
          <p:cNvPr id="8" name="CuadroTexto 7">
            <a:extLst>
              <a:ext uri="{FF2B5EF4-FFF2-40B4-BE49-F238E27FC236}">
                <a16:creationId xmlns:a16="http://schemas.microsoft.com/office/drawing/2014/main" id="{6CAC4BFA-AF97-512A-8B73-B93E89399891}"/>
              </a:ext>
            </a:extLst>
          </p:cNvPr>
          <p:cNvSpPr txBox="1"/>
          <p:nvPr/>
        </p:nvSpPr>
        <p:spPr>
          <a:xfrm>
            <a:off x="2642689" y="3066293"/>
            <a:ext cx="789018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Trebuchet MS" panose="020B0603020202020204" pitchFamily="34" charset="0"/>
                <a:ea typeface="+mn-lt"/>
                <a:cs typeface="+mn-lt"/>
              </a:rPr>
              <a:t>2. Organización de herramientas:</a:t>
            </a:r>
            <a:r>
              <a:rPr lang="es-ES" sz="1500" dirty="0">
                <a:latin typeface="Trebuchet MS" panose="020B0603020202020204" pitchFamily="34" charset="0"/>
                <a:ea typeface="+mn-lt"/>
                <a:cs typeface="+mn-lt"/>
              </a:rPr>
              <a:t> Seleccionar, configurar y mantener herramientas de detección de vulnerabilidades efectivas.</a:t>
            </a:r>
          </a:p>
        </p:txBody>
      </p:sp>
      <p:sp>
        <p:nvSpPr>
          <p:cNvPr id="9" name="CuadroTexto 8">
            <a:extLst>
              <a:ext uri="{FF2B5EF4-FFF2-40B4-BE49-F238E27FC236}">
                <a16:creationId xmlns:a16="http://schemas.microsoft.com/office/drawing/2014/main" id="{45C5EF26-0ED8-AF6F-3A52-EB9EEFA3DCAE}"/>
              </a:ext>
            </a:extLst>
          </p:cNvPr>
          <p:cNvSpPr txBox="1"/>
          <p:nvPr/>
        </p:nvSpPr>
        <p:spPr>
          <a:xfrm>
            <a:off x="2642455" y="5325568"/>
            <a:ext cx="778760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Trebuchet MS" panose="020B0603020202020204" pitchFamily="34" charset="0"/>
                <a:ea typeface="+mn-lt"/>
                <a:cs typeface="+mn-lt"/>
              </a:rPr>
              <a:t>4. Confirmación de hallazgos: </a:t>
            </a:r>
            <a:r>
              <a:rPr lang="es-ES" sz="1500" dirty="0">
                <a:latin typeface="Trebuchet MS" panose="020B0603020202020204" pitchFamily="34" charset="0"/>
                <a:ea typeface="+mn-lt"/>
                <a:cs typeface="+mn-lt"/>
              </a:rPr>
              <a:t>Validar los resultados de las pruebas de detección y obtener una visión completa de las vulnerabilidades.</a:t>
            </a:r>
          </a:p>
        </p:txBody>
      </p:sp>
      <p:pic>
        <p:nvPicPr>
          <p:cNvPr id="11" name="Imagen 10" descr="Project Scope Icon at Vectorified.com | Collection of Project Scope ...">
            <a:extLst>
              <a:ext uri="{FF2B5EF4-FFF2-40B4-BE49-F238E27FC236}">
                <a16:creationId xmlns:a16="http://schemas.microsoft.com/office/drawing/2014/main" id="{B0CA6D32-5CA8-1243-7CBB-59E50262371C}"/>
              </a:ext>
            </a:extLst>
          </p:cNvPr>
          <p:cNvPicPr>
            <a:picLocks noChangeAspect="1"/>
          </p:cNvPicPr>
          <p:nvPr/>
        </p:nvPicPr>
        <p:blipFill>
          <a:blip r:embed="rId4"/>
          <a:stretch>
            <a:fillRect/>
          </a:stretch>
        </p:blipFill>
        <p:spPr>
          <a:xfrm>
            <a:off x="1752996" y="1881018"/>
            <a:ext cx="815829" cy="792126"/>
          </a:xfrm>
          <a:prstGeom prst="rect">
            <a:avLst/>
          </a:prstGeom>
          <a:ln>
            <a:noFill/>
          </a:ln>
        </p:spPr>
      </p:pic>
      <p:pic>
        <p:nvPicPr>
          <p:cNvPr id="12" name="Imagen 11" descr="Optimization, optimize, functions, settings, wrench icon - Download on ...">
            <a:extLst>
              <a:ext uri="{FF2B5EF4-FFF2-40B4-BE49-F238E27FC236}">
                <a16:creationId xmlns:a16="http://schemas.microsoft.com/office/drawing/2014/main" id="{4A2314D6-5D5E-55B3-66EA-084C29A12011}"/>
              </a:ext>
            </a:extLst>
          </p:cNvPr>
          <p:cNvPicPr>
            <a:picLocks noChangeAspect="1"/>
          </p:cNvPicPr>
          <p:nvPr/>
        </p:nvPicPr>
        <p:blipFill>
          <a:blip r:embed="rId5"/>
          <a:stretch>
            <a:fillRect/>
          </a:stretch>
        </p:blipFill>
        <p:spPr>
          <a:xfrm>
            <a:off x="1659129" y="2956079"/>
            <a:ext cx="827582" cy="791887"/>
          </a:xfrm>
          <a:prstGeom prst="rect">
            <a:avLst/>
          </a:prstGeom>
          <a:ln>
            <a:noFill/>
          </a:ln>
        </p:spPr>
      </p:pic>
      <p:pic>
        <p:nvPicPr>
          <p:cNvPr id="13" name="Imagen 12" descr="Hacker - Iconos gratis de computadora">
            <a:extLst>
              <a:ext uri="{FF2B5EF4-FFF2-40B4-BE49-F238E27FC236}">
                <a16:creationId xmlns:a16="http://schemas.microsoft.com/office/drawing/2014/main" id="{A30F8188-78D8-7FE1-C00C-EC36F81D7CBC}"/>
              </a:ext>
            </a:extLst>
          </p:cNvPr>
          <p:cNvPicPr>
            <a:picLocks noChangeAspect="1"/>
          </p:cNvPicPr>
          <p:nvPr/>
        </p:nvPicPr>
        <p:blipFill>
          <a:blip r:embed="rId6"/>
          <a:stretch>
            <a:fillRect/>
          </a:stretch>
        </p:blipFill>
        <p:spPr>
          <a:xfrm>
            <a:off x="1658443" y="4085030"/>
            <a:ext cx="819101" cy="795334"/>
          </a:xfrm>
          <a:prstGeom prst="rect">
            <a:avLst/>
          </a:prstGeom>
          <a:ln>
            <a:noFill/>
          </a:ln>
        </p:spPr>
      </p:pic>
      <p:pic>
        <p:nvPicPr>
          <p:cNvPr id="14" name="Imagen 13" descr="Check, completed, confirmation, order, order completed icon - Download ...">
            <a:extLst>
              <a:ext uri="{FF2B5EF4-FFF2-40B4-BE49-F238E27FC236}">
                <a16:creationId xmlns:a16="http://schemas.microsoft.com/office/drawing/2014/main" id="{A1EA346C-3DDA-9A8B-51BF-B0F7DEECB5E5}"/>
              </a:ext>
            </a:extLst>
          </p:cNvPr>
          <p:cNvPicPr>
            <a:picLocks noChangeAspect="1"/>
          </p:cNvPicPr>
          <p:nvPr/>
        </p:nvPicPr>
        <p:blipFill>
          <a:blip r:embed="rId7"/>
          <a:stretch>
            <a:fillRect/>
          </a:stretch>
        </p:blipFill>
        <p:spPr>
          <a:xfrm>
            <a:off x="1670755" y="5211612"/>
            <a:ext cx="792346" cy="792346"/>
          </a:xfrm>
          <a:prstGeom prst="rect">
            <a:avLst/>
          </a:prstGeom>
          <a:ln>
            <a:noFill/>
          </a:ln>
        </p:spPr>
      </p:pic>
      <p:pic>
        <p:nvPicPr>
          <p:cNvPr id="2" name="Imagen 1" descr="Interfaz de usuario gráfica&#10;&#10;El contenido generado por IA puede ser incorrecto.">
            <a:extLst>
              <a:ext uri="{FF2B5EF4-FFF2-40B4-BE49-F238E27FC236}">
                <a16:creationId xmlns:a16="http://schemas.microsoft.com/office/drawing/2014/main" id="{B50AF162-C9DE-27AC-C6B1-308740538620}"/>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2293323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99957-0B14-376C-06D6-8CDEF071CCF4}"/>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8A78EB6-DAA7-9202-264B-BE2BD851C25E}"/>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EE525DA1-6169-3372-ABF9-F132D4E9AEFA}"/>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9472C7E8-234A-879C-D20A-3D6C62BC0436}"/>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Definición y refinamiento de alcance</a:t>
            </a:r>
          </a:p>
        </p:txBody>
      </p:sp>
      <p:graphicFrame>
        <p:nvGraphicFramePr>
          <p:cNvPr id="2" name="Tabla 1">
            <a:extLst>
              <a:ext uri="{FF2B5EF4-FFF2-40B4-BE49-F238E27FC236}">
                <a16:creationId xmlns:a16="http://schemas.microsoft.com/office/drawing/2014/main" id="{969A5DB3-B506-9D39-9BCB-4CE919FCC04C}"/>
              </a:ext>
            </a:extLst>
          </p:cNvPr>
          <p:cNvGraphicFramePr>
            <a:graphicFrameLocks noGrp="1"/>
          </p:cNvGraphicFramePr>
          <p:nvPr>
            <p:extLst>
              <p:ext uri="{D42A27DB-BD31-4B8C-83A1-F6EECF244321}">
                <p14:modId xmlns:p14="http://schemas.microsoft.com/office/powerpoint/2010/main" val="3608041318"/>
              </p:ext>
            </p:extLst>
          </p:nvPr>
        </p:nvGraphicFramePr>
        <p:xfrm>
          <a:off x="738772" y="1837666"/>
          <a:ext cx="9848988" cy="2922834"/>
        </p:xfrm>
        <a:graphic>
          <a:graphicData uri="http://schemas.openxmlformats.org/drawingml/2006/table">
            <a:tbl>
              <a:tblPr firstRow="1" bandRow="1">
                <a:tableStyleId>{69CF1AB2-1976-4502-BF36-3FF5EA218861}</a:tableStyleId>
              </a:tblPr>
              <a:tblGrid>
                <a:gridCol w="9848988">
                  <a:extLst>
                    <a:ext uri="{9D8B030D-6E8A-4147-A177-3AD203B41FA5}">
                      <a16:colId xmlns:a16="http://schemas.microsoft.com/office/drawing/2014/main" val="580400651"/>
                    </a:ext>
                  </a:extLst>
                </a:gridCol>
              </a:tblGrid>
              <a:tr h="501297">
                <a:tc>
                  <a:txBody>
                    <a:bodyPr/>
                    <a:lstStyle/>
                    <a:p>
                      <a:pPr lvl="0">
                        <a:buNone/>
                      </a:pPr>
                      <a:r>
                        <a:rPr lang="es-ES" sz="1800" b="0" i="0" u="none" strike="noStrike" noProof="0" dirty="0">
                          <a:latin typeface="Trebuchet MS" panose="020B0603020202020204" pitchFamily="34" charset="0"/>
                        </a:rPr>
                        <a:t>Evaluar los riesgos a los que está expuesta la empresa. </a:t>
                      </a:r>
                      <a:endParaRPr lang="es-ES" dirty="0">
                        <a:latin typeface="Trebuchet MS" panose="020B0603020202020204" pitchFamily="34" charset="0"/>
                      </a:endParaRPr>
                    </a:p>
                  </a:txBody>
                  <a:tcPr/>
                </a:tc>
                <a:extLst>
                  <a:ext uri="{0D108BD9-81ED-4DB2-BD59-A6C34878D82A}">
                    <a16:rowId xmlns:a16="http://schemas.microsoft.com/office/drawing/2014/main" val="1835896373"/>
                  </a:ext>
                </a:extLst>
              </a:tr>
              <a:tr h="638623">
                <a:tc>
                  <a:txBody>
                    <a:bodyPr/>
                    <a:lstStyle/>
                    <a:p>
                      <a:pPr lvl="0">
                        <a:buNone/>
                      </a:pPr>
                      <a:r>
                        <a:rPr lang="es-ES" sz="1800" b="0" i="0" u="none" strike="noStrike" noProof="0">
                          <a:latin typeface="Trebuchet MS" panose="020B0603020202020204" pitchFamily="34" charset="0"/>
                        </a:rPr>
                        <a:t>Identificar las limitaciones operativas y tecnológicas que pueden afectar la capacidad de detección. </a:t>
                      </a:r>
                      <a:endParaRPr lang="es-ES">
                        <a:latin typeface="Trebuchet MS" panose="020B0603020202020204" pitchFamily="34" charset="0"/>
                      </a:endParaRPr>
                    </a:p>
                  </a:txBody>
                  <a:tcPr/>
                </a:tc>
                <a:extLst>
                  <a:ext uri="{0D108BD9-81ED-4DB2-BD59-A6C34878D82A}">
                    <a16:rowId xmlns:a16="http://schemas.microsoft.com/office/drawing/2014/main" val="3780260209"/>
                  </a:ext>
                </a:extLst>
              </a:tr>
              <a:tr h="638623">
                <a:tc>
                  <a:txBody>
                    <a:bodyPr/>
                    <a:lstStyle/>
                    <a:p>
                      <a:pPr lvl="0">
                        <a:buNone/>
                      </a:pPr>
                      <a:r>
                        <a:rPr lang="es-ES" sz="1800" b="0" i="0" u="none" strike="noStrike" noProof="0">
                          <a:latin typeface="Trebuchet MS" panose="020B0603020202020204" pitchFamily="34" charset="0"/>
                        </a:rPr>
                        <a:t>Identificar las limitaciones operativas y tecnológicas que pueden afectar la capacidad de detección. </a:t>
                      </a:r>
                      <a:endParaRPr lang="es-ES">
                        <a:latin typeface="Trebuchet MS" panose="020B0603020202020204" pitchFamily="34" charset="0"/>
                      </a:endParaRPr>
                    </a:p>
                  </a:txBody>
                  <a:tcPr/>
                </a:tc>
                <a:extLst>
                  <a:ext uri="{0D108BD9-81ED-4DB2-BD59-A6C34878D82A}">
                    <a16:rowId xmlns:a16="http://schemas.microsoft.com/office/drawing/2014/main" val="396917808"/>
                  </a:ext>
                </a:extLst>
              </a:tr>
              <a:tr h="501297">
                <a:tc>
                  <a:txBody>
                    <a:bodyPr/>
                    <a:lstStyle/>
                    <a:p>
                      <a:pPr lvl="0">
                        <a:buNone/>
                      </a:pPr>
                      <a:r>
                        <a:rPr lang="es-ES" sz="1800" b="0" i="0" u="none" strike="noStrike" noProof="0">
                          <a:latin typeface="Trebuchet MS" panose="020B0603020202020204" pitchFamily="34" charset="0"/>
                        </a:rPr>
                        <a:t>Integrar la gestión de vulnerabilidades en los procesos empresariales.</a:t>
                      </a:r>
                      <a:endParaRPr lang="es-ES">
                        <a:latin typeface="Trebuchet MS" panose="020B0603020202020204" pitchFamily="34" charset="0"/>
                      </a:endParaRPr>
                    </a:p>
                  </a:txBody>
                  <a:tcPr/>
                </a:tc>
                <a:extLst>
                  <a:ext uri="{0D108BD9-81ED-4DB2-BD59-A6C34878D82A}">
                    <a16:rowId xmlns:a16="http://schemas.microsoft.com/office/drawing/2014/main" val="720121581"/>
                  </a:ext>
                </a:extLst>
              </a:tr>
              <a:tr h="638623">
                <a:tc>
                  <a:txBody>
                    <a:bodyPr/>
                    <a:lstStyle/>
                    <a:p>
                      <a:pPr lvl="0">
                        <a:buNone/>
                      </a:pPr>
                      <a:r>
                        <a:rPr lang="es-ES" sz="1800" b="0" i="0" u="none" strike="noStrike" noProof="0" dirty="0">
                          <a:latin typeface="Trebuchet MS" panose="020B0603020202020204" pitchFamily="34" charset="0"/>
                        </a:rPr>
                        <a:t>Obtener el apoyo de la gerencia para asegurar la asignación de recursos y la toma de decisiones oportunas.</a:t>
                      </a:r>
                      <a:endParaRPr lang="es-ES" dirty="0">
                        <a:latin typeface="Trebuchet MS" panose="020B0603020202020204" pitchFamily="34" charset="0"/>
                      </a:endParaRPr>
                    </a:p>
                  </a:txBody>
                  <a:tcPr/>
                </a:tc>
                <a:extLst>
                  <a:ext uri="{0D108BD9-81ED-4DB2-BD59-A6C34878D82A}">
                    <a16:rowId xmlns:a16="http://schemas.microsoft.com/office/drawing/2014/main" val="3193060473"/>
                  </a:ext>
                </a:extLst>
              </a:tr>
            </a:tbl>
          </a:graphicData>
        </a:graphic>
      </p:graphicFrame>
      <p:sp>
        <p:nvSpPr>
          <p:cNvPr id="4" name="CuadroTexto 3">
            <a:extLst>
              <a:ext uri="{FF2B5EF4-FFF2-40B4-BE49-F238E27FC236}">
                <a16:creationId xmlns:a16="http://schemas.microsoft.com/office/drawing/2014/main" id="{2DF61AF9-BF31-6C77-ED6B-0109BDF1F79D}"/>
              </a:ext>
            </a:extLst>
          </p:cNvPr>
          <p:cNvSpPr txBox="1"/>
          <p:nvPr/>
        </p:nvSpPr>
        <p:spPr>
          <a:xfrm>
            <a:off x="448590" y="1070605"/>
            <a:ext cx="986021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a:latin typeface="Trebuchet MS" panose="020B0603020202020204" pitchFamily="34" charset="0"/>
              </a:rPr>
              <a:t>Establecer un enfoque integral para la detección de vulnerabilidades.</a:t>
            </a:r>
            <a:r>
              <a:rPr lang="es-ES" sz="2000" b="1">
                <a:latin typeface="Trebuchet MS" panose="020B0603020202020204" pitchFamily="34" charset="0"/>
              </a:rPr>
              <a:t>​</a:t>
            </a:r>
          </a:p>
        </p:txBody>
      </p:sp>
      <p:sp>
        <p:nvSpPr>
          <p:cNvPr id="15" name="CuadroTexto 14">
            <a:extLst>
              <a:ext uri="{FF2B5EF4-FFF2-40B4-BE49-F238E27FC236}">
                <a16:creationId xmlns:a16="http://schemas.microsoft.com/office/drawing/2014/main" id="{AAFC1443-8C43-F09B-5A12-C261A7EC7A89}"/>
              </a:ext>
            </a:extLst>
          </p:cNvPr>
          <p:cNvSpPr txBox="1"/>
          <p:nvPr/>
        </p:nvSpPr>
        <p:spPr>
          <a:xfrm>
            <a:off x="676406" y="5147449"/>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pic>
        <p:nvPicPr>
          <p:cNvPr id="3" name="Imagen 2" descr="Interfaz de usuario gráfica&#10;&#10;El contenido generado por IA puede ser incorrecto.">
            <a:extLst>
              <a:ext uri="{FF2B5EF4-FFF2-40B4-BE49-F238E27FC236}">
                <a16:creationId xmlns:a16="http://schemas.microsoft.com/office/drawing/2014/main" id="{D5F1663E-C6F9-87E2-11D9-AC86FFA83243}"/>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660732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F8EC06C-F3D6-CC0E-7122-F26BD1B2EE62}"/>
              </a:ext>
            </a:extLst>
          </p:cNvPr>
          <p:cNvSpPr>
            <a:spLocks noGrp="1"/>
          </p:cNvSpPr>
          <p:nvPr>
            <p:ph type="sldNum" sz="quarter" idx="12"/>
          </p:nvPr>
        </p:nvSpPr>
        <p:spPr/>
        <p:txBody>
          <a:bodyPr/>
          <a:lstStyle/>
          <a:p>
            <a:fld id="{6C008F66-11C2-4C30-903C-023FCF629350}" type="slidenum">
              <a:rPr lang="es-ES" smtClean="0"/>
              <a:t>60</a:t>
            </a:fld>
            <a:endParaRPr lang="es-ES"/>
          </a:p>
        </p:txBody>
      </p:sp>
      <p:graphicFrame>
        <p:nvGraphicFramePr>
          <p:cNvPr id="6" name="Tabla 5">
            <a:extLst>
              <a:ext uri="{FF2B5EF4-FFF2-40B4-BE49-F238E27FC236}">
                <a16:creationId xmlns:a16="http://schemas.microsoft.com/office/drawing/2014/main" id="{62851E7B-85D4-E64C-0D6B-47C8B89C596C}"/>
              </a:ext>
            </a:extLst>
          </p:cNvPr>
          <p:cNvGraphicFramePr>
            <a:graphicFrameLocks noGrp="1"/>
          </p:cNvGraphicFramePr>
          <p:nvPr>
            <p:extLst>
              <p:ext uri="{D42A27DB-BD31-4B8C-83A1-F6EECF244321}">
                <p14:modId xmlns:p14="http://schemas.microsoft.com/office/powerpoint/2010/main" val="32635387"/>
              </p:ext>
            </p:extLst>
          </p:nvPr>
        </p:nvGraphicFramePr>
        <p:xfrm>
          <a:off x="721955" y="2333638"/>
          <a:ext cx="9848988" cy="3158504"/>
        </p:xfrm>
        <a:graphic>
          <a:graphicData uri="http://schemas.openxmlformats.org/drawingml/2006/table">
            <a:tbl>
              <a:tblPr firstRow="1" bandRow="1">
                <a:tableStyleId>{69CF1AB2-1976-4502-BF36-3FF5EA218861}</a:tableStyleId>
              </a:tblPr>
              <a:tblGrid>
                <a:gridCol w="9848988">
                  <a:extLst>
                    <a:ext uri="{9D8B030D-6E8A-4147-A177-3AD203B41FA5}">
                      <a16:colId xmlns:a16="http://schemas.microsoft.com/office/drawing/2014/main" val="580400651"/>
                    </a:ext>
                  </a:extLst>
                </a:gridCol>
              </a:tblGrid>
              <a:tr h="447467">
                <a:tc>
                  <a:txBody>
                    <a:bodyPr/>
                    <a:lstStyle/>
                    <a:p>
                      <a:pPr lvl="0">
                        <a:buNone/>
                      </a:pPr>
                      <a:r>
                        <a:rPr lang="es-ES" sz="1800" b="0" i="0" u="none" strike="noStrike" noProof="0">
                          <a:latin typeface="Century Gothic"/>
                        </a:rPr>
                        <a:t>Elegir las herramientas de escaneo y análisis adecuadas para el tipo de pruebas que se realizarán. </a:t>
                      </a:r>
                      <a:endParaRPr lang="es-ES">
                        <a:latin typeface="Century Gothic"/>
                      </a:endParaRPr>
                    </a:p>
                  </a:txBody>
                  <a:tcPr/>
                </a:tc>
                <a:extLst>
                  <a:ext uri="{0D108BD9-81ED-4DB2-BD59-A6C34878D82A}">
                    <a16:rowId xmlns:a16="http://schemas.microsoft.com/office/drawing/2014/main" val="1835896373"/>
                  </a:ext>
                </a:extLst>
              </a:tr>
              <a:tr h="366868">
                <a:tc>
                  <a:txBody>
                    <a:bodyPr/>
                    <a:lstStyle/>
                    <a:p>
                      <a:pPr lvl="0">
                        <a:buNone/>
                      </a:pPr>
                      <a:r>
                        <a:rPr lang="es-ES" sz="1800" b="0" i="0" u="none" strike="noStrike" noProof="0">
                          <a:latin typeface="Century Gothic"/>
                        </a:rPr>
                        <a:t>Determinar la frecuencia con la que se deben realizar las pruebas de seguridad.</a:t>
                      </a:r>
                      <a:endParaRPr lang="es-ES">
                        <a:latin typeface="Century Gothic"/>
                      </a:endParaRPr>
                    </a:p>
                  </a:txBody>
                  <a:tcPr/>
                </a:tc>
                <a:extLst>
                  <a:ext uri="{0D108BD9-81ED-4DB2-BD59-A6C34878D82A}">
                    <a16:rowId xmlns:a16="http://schemas.microsoft.com/office/drawing/2014/main" val="3780260209"/>
                  </a:ext>
                </a:extLst>
              </a:tr>
              <a:tr h="366868">
                <a:tc>
                  <a:txBody>
                    <a:bodyPr/>
                    <a:lstStyle/>
                    <a:p>
                      <a:pPr lvl="0">
                        <a:buNone/>
                      </a:pPr>
                      <a:r>
                        <a:rPr lang="es-ES" sz="1800" b="0" i="0" u="none" strike="noStrike" noProof="0">
                          <a:latin typeface="Century Gothic"/>
                        </a:rPr>
                        <a:t>Garantizar el uso de fuentes de vulnerabilidades actualizadas</a:t>
                      </a:r>
                      <a:endParaRPr lang="es-ES">
                        <a:latin typeface="Century Gothic"/>
                      </a:endParaRPr>
                    </a:p>
                  </a:txBody>
                  <a:tcPr/>
                </a:tc>
                <a:extLst>
                  <a:ext uri="{0D108BD9-81ED-4DB2-BD59-A6C34878D82A}">
                    <a16:rowId xmlns:a16="http://schemas.microsoft.com/office/drawing/2014/main" val="396917808"/>
                  </a:ext>
                </a:extLst>
              </a:tr>
              <a:tr h="447467">
                <a:tc>
                  <a:txBody>
                    <a:bodyPr/>
                    <a:lstStyle/>
                    <a:p>
                      <a:pPr lvl="0">
                        <a:buNone/>
                      </a:pPr>
                      <a:r>
                        <a:rPr lang="es-ES" sz="1800" b="0" i="0" u="none" strike="noStrike" noProof="0">
                          <a:latin typeface="Century Gothic"/>
                        </a:rPr>
                        <a:t>Establecer procedimientos para identificar y gestionar las excepciones de vulnerabilidad. </a:t>
                      </a:r>
                      <a:endParaRPr lang="es-ES">
                        <a:latin typeface="Century Gothic"/>
                      </a:endParaRPr>
                    </a:p>
                  </a:txBody>
                  <a:tcPr/>
                </a:tc>
                <a:extLst>
                  <a:ext uri="{0D108BD9-81ED-4DB2-BD59-A6C34878D82A}">
                    <a16:rowId xmlns:a16="http://schemas.microsoft.com/office/drawing/2014/main" val="720121581"/>
                  </a:ext>
                </a:extLst>
              </a:tr>
              <a:tr h="366868">
                <a:tc>
                  <a:txBody>
                    <a:bodyPr/>
                    <a:lstStyle/>
                    <a:p>
                      <a:pPr lvl="0">
                        <a:buNone/>
                      </a:pPr>
                      <a:r>
                        <a:rPr lang="es-ES" sz="1800" b="0" i="0" u="none" strike="noStrike" noProof="0">
                          <a:latin typeface="Century Gothic"/>
                        </a:rPr>
                        <a:t>Verificar la integridad y el correcto funcionamiento de las herramientas utilizadas. </a:t>
                      </a:r>
                      <a:endParaRPr lang="es-ES">
                        <a:latin typeface="Century Gothic"/>
                      </a:endParaRPr>
                    </a:p>
                  </a:txBody>
                  <a:tcPr/>
                </a:tc>
                <a:extLst>
                  <a:ext uri="{0D108BD9-81ED-4DB2-BD59-A6C34878D82A}">
                    <a16:rowId xmlns:a16="http://schemas.microsoft.com/office/drawing/2014/main" val="3193060473"/>
                  </a:ext>
                </a:extLst>
              </a:tr>
              <a:tr h="777740">
                <a:tc>
                  <a:txBody>
                    <a:bodyPr/>
                    <a:lstStyle/>
                    <a:p>
                      <a:pPr lvl="0">
                        <a:buNone/>
                      </a:pPr>
                      <a:r>
                        <a:rPr lang="es-ES" sz="1800" b="0" i="0" u="none" strike="noStrike" noProof="0">
                          <a:latin typeface="Century Gothic"/>
                        </a:rPr>
                        <a:t>Ajustar las configuraciones, preferencias y plantillas de las herramientas para optimizar su rendimiento.</a:t>
                      </a:r>
                      <a:endParaRPr lang="es-ES">
                        <a:latin typeface="Century Gothic"/>
                      </a:endParaRPr>
                    </a:p>
                  </a:txBody>
                  <a:tcPr/>
                </a:tc>
                <a:extLst>
                  <a:ext uri="{0D108BD9-81ED-4DB2-BD59-A6C34878D82A}">
                    <a16:rowId xmlns:a16="http://schemas.microsoft.com/office/drawing/2014/main" val="3234625892"/>
                  </a:ext>
                </a:extLst>
              </a:tr>
            </a:tbl>
          </a:graphicData>
        </a:graphic>
      </p:graphicFrame>
      <p:sp>
        <p:nvSpPr>
          <p:cNvPr id="7" name="CuadroTexto 6">
            <a:extLst>
              <a:ext uri="{FF2B5EF4-FFF2-40B4-BE49-F238E27FC236}">
                <a16:creationId xmlns:a16="http://schemas.microsoft.com/office/drawing/2014/main" id="{7E8F2702-BDC4-AF84-68DC-CDA78BB10E77}"/>
              </a:ext>
            </a:extLst>
          </p:cNvPr>
          <p:cNvSpPr txBox="1"/>
          <p:nvPr/>
        </p:nvSpPr>
        <p:spPr>
          <a:xfrm>
            <a:off x="431773" y="1450970"/>
            <a:ext cx="986021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a:latin typeface="Trebuchet MS" panose="020B0603020202020204" pitchFamily="34" charset="0"/>
                <a:ea typeface="+mn-lt"/>
                <a:cs typeface="+mn-lt"/>
              </a:rPr>
              <a:t>Seleccionar, configurar y mantener herramientas de detección de vulnerabilidades efectivas.</a:t>
            </a:r>
            <a:endParaRPr lang="es-ES">
              <a:latin typeface="Trebuchet MS" panose="020B0603020202020204" pitchFamily="34" charset="0"/>
              <a:ea typeface="+mn-lt"/>
              <a:cs typeface="+mn-lt"/>
            </a:endParaRPr>
          </a:p>
        </p:txBody>
      </p:sp>
      <p:pic>
        <p:nvPicPr>
          <p:cNvPr id="8" name="Imagen 7" descr="Texto&#10;&#10;El contenido generado por IA puede ser incorrecto.">
            <a:extLst>
              <a:ext uri="{FF2B5EF4-FFF2-40B4-BE49-F238E27FC236}">
                <a16:creationId xmlns:a16="http://schemas.microsoft.com/office/drawing/2014/main" id="{1D706E96-4F44-35FC-587C-3230F6B6FEBB}"/>
              </a:ext>
            </a:extLst>
          </p:cNvPr>
          <p:cNvPicPr>
            <a:picLocks noChangeAspect="1"/>
          </p:cNvPicPr>
          <p:nvPr/>
        </p:nvPicPr>
        <p:blipFill>
          <a:blip r:embed="rId2">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9" name="CuadroTexto 8">
            <a:extLst>
              <a:ext uri="{FF2B5EF4-FFF2-40B4-BE49-F238E27FC236}">
                <a16:creationId xmlns:a16="http://schemas.microsoft.com/office/drawing/2014/main" id="{ED56A995-B9D5-E35B-5A35-1699CAC507BC}"/>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Optimización de herramientas</a:t>
            </a:r>
          </a:p>
        </p:txBody>
      </p:sp>
      <p:sp>
        <p:nvSpPr>
          <p:cNvPr id="10" name="CuadroTexto 9">
            <a:extLst>
              <a:ext uri="{FF2B5EF4-FFF2-40B4-BE49-F238E27FC236}">
                <a16:creationId xmlns:a16="http://schemas.microsoft.com/office/drawing/2014/main" id="{34C8DB3F-BFA4-7434-2F40-C980BB6C24E8}"/>
              </a:ext>
            </a:extLst>
          </p:cNvPr>
          <p:cNvSpPr txBox="1"/>
          <p:nvPr/>
        </p:nvSpPr>
        <p:spPr>
          <a:xfrm>
            <a:off x="381675" y="5971383"/>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spTree>
    <p:extLst>
      <p:ext uri="{BB962C8B-B14F-4D97-AF65-F5344CB8AC3E}">
        <p14:creationId xmlns:p14="http://schemas.microsoft.com/office/powerpoint/2010/main" val="39879767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F772D-73AB-D19B-AF1A-85D3CAEB7071}"/>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26CEACEB-7862-3074-9673-2BE1907C8900}"/>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313EEA5C-4308-236A-40E8-9398837D53B5}"/>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8AC9071F-EDF9-9C64-8D82-9C29B6196E29}"/>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Ejecución de pruebas de vulnerabilidad</a:t>
            </a:r>
          </a:p>
        </p:txBody>
      </p:sp>
      <p:sp>
        <p:nvSpPr>
          <p:cNvPr id="8" name="CuadroTexto 7">
            <a:extLst>
              <a:ext uri="{FF2B5EF4-FFF2-40B4-BE49-F238E27FC236}">
                <a16:creationId xmlns:a16="http://schemas.microsoft.com/office/drawing/2014/main" id="{AA6DCC6A-08C2-97CA-14D1-183EF326478A}"/>
              </a:ext>
            </a:extLst>
          </p:cNvPr>
          <p:cNvSpPr txBox="1"/>
          <p:nvPr/>
        </p:nvSpPr>
        <p:spPr>
          <a:xfrm>
            <a:off x="454893" y="1287697"/>
            <a:ext cx="986021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a:latin typeface="Trebuchet MS" panose="020B0603020202020204" pitchFamily="34" charset="0"/>
                <a:ea typeface="+mn-lt"/>
                <a:cs typeface="+mn-lt"/>
              </a:rPr>
              <a:t>Realizar pruebas de seguridad exhaustivas para identificar vulnerabilidades en diferentes entornos.</a:t>
            </a:r>
            <a:endParaRPr lang="es-ES">
              <a:latin typeface="Trebuchet MS" panose="020B0603020202020204" pitchFamily="34" charset="0"/>
            </a:endParaRPr>
          </a:p>
        </p:txBody>
      </p:sp>
      <p:graphicFrame>
        <p:nvGraphicFramePr>
          <p:cNvPr id="9" name="Tabla 8">
            <a:extLst>
              <a:ext uri="{FF2B5EF4-FFF2-40B4-BE49-F238E27FC236}">
                <a16:creationId xmlns:a16="http://schemas.microsoft.com/office/drawing/2014/main" id="{57521595-8D16-285B-B464-DD5EE3D0B577}"/>
              </a:ext>
            </a:extLst>
          </p:cNvPr>
          <p:cNvGraphicFramePr>
            <a:graphicFrameLocks noGrp="1"/>
          </p:cNvGraphicFramePr>
          <p:nvPr>
            <p:extLst>
              <p:ext uri="{D42A27DB-BD31-4B8C-83A1-F6EECF244321}">
                <p14:modId xmlns:p14="http://schemas.microsoft.com/office/powerpoint/2010/main" val="3833293232"/>
              </p:ext>
            </p:extLst>
          </p:nvPr>
        </p:nvGraphicFramePr>
        <p:xfrm>
          <a:off x="745075" y="2155658"/>
          <a:ext cx="9848988" cy="3200400"/>
        </p:xfrm>
        <a:graphic>
          <a:graphicData uri="http://schemas.openxmlformats.org/drawingml/2006/table">
            <a:tbl>
              <a:tblPr firstRow="1" bandRow="1">
                <a:tableStyleId>{69CF1AB2-1976-4502-BF36-3FF5EA218861}</a:tableStyleId>
              </a:tblPr>
              <a:tblGrid>
                <a:gridCol w="9848988">
                  <a:extLst>
                    <a:ext uri="{9D8B030D-6E8A-4147-A177-3AD203B41FA5}">
                      <a16:colId xmlns:a16="http://schemas.microsoft.com/office/drawing/2014/main" val="580400651"/>
                    </a:ext>
                  </a:extLst>
                </a:gridCol>
              </a:tblGrid>
              <a:tr h="501297">
                <a:tc>
                  <a:txBody>
                    <a:bodyPr/>
                    <a:lstStyle/>
                    <a:p>
                      <a:pPr lvl="0">
                        <a:buNone/>
                      </a:pPr>
                      <a:r>
                        <a:rPr lang="es-ES" sz="1800" b="0" i="0" u="none" strike="noStrike" noProof="0" dirty="0">
                          <a:latin typeface="Trebuchet MS" panose="020B0603020202020204" pitchFamily="34" charset="0"/>
                        </a:rPr>
                        <a:t>Analizar las direcciones IP públicas de la organización para identificar posibles vulnerabilidades. </a:t>
                      </a:r>
                      <a:endParaRPr lang="es-ES" dirty="0">
                        <a:latin typeface="Trebuchet MS" panose="020B0603020202020204" pitchFamily="34" charset="0"/>
                      </a:endParaRPr>
                    </a:p>
                  </a:txBody>
                  <a:tcPr/>
                </a:tc>
                <a:extLst>
                  <a:ext uri="{0D108BD9-81ED-4DB2-BD59-A6C34878D82A}">
                    <a16:rowId xmlns:a16="http://schemas.microsoft.com/office/drawing/2014/main" val="1835896373"/>
                  </a:ext>
                </a:extLst>
              </a:tr>
              <a:tr h="638623">
                <a:tc>
                  <a:txBody>
                    <a:bodyPr/>
                    <a:lstStyle/>
                    <a:p>
                      <a:pPr lvl="0">
                        <a:buNone/>
                      </a:pPr>
                      <a:r>
                        <a:rPr lang="es-ES" sz="1800" b="0" i="0" u="none" strike="noStrike" noProof="0">
                          <a:latin typeface="Trebuchet MS" panose="020B0603020202020204" pitchFamily="34" charset="0"/>
                        </a:rPr>
                        <a:t>Analizar las subredes privadas de la organización para detectar vulnerabilidades en la red interna.</a:t>
                      </a:r>
                      <a:endParaRPr lang="es-ES">
                        <a:latin typeface="Trebuchet MS" panose="020B0603020202020204" pitchFamily="34" charset="0"/>
                      </a:endParaRPr>
                    </a:p>
                  </a:txBody>
                  <a:tcPr/>
                </a:tc>
                <a:extLst>
                  <a:ext uri="{0D108BD9-81ED-4DB2-BD59-A6C34878D82A}">
                    <a16:rowId xmlns:a16="http://schemas.microsoft.com/office/drawing/2014/main" val="3780260209"/>
                  </a:ext>
                </a:extLst>
              </a:tr>
              <a:tr h="638623">
                <a:tc>
                  <a:txBody>
                    <a:bodyPr/>
                    <a:lstStyle/>
                    <a:p>
                      <a:pPr lvl="0">
                        <a:buNone/>
                      </a:pPr>
                      <a:r>
                        <a:rPr lang="es-ES" sz="1800" b="0" i="0" u="none" strike="noStrike" noProof="0">
                          <a:latin typeface="Trebuchet MS" panose="020B0603020202020204" pitchFamily="34" charset="0"/>
                        </a:rPr>
                        <a:t>Realizar pruebas de seguridad en las aplicaciones web de la organización para identificar vulnerabilidades específicas. </a:t>
                      </a:r>
                      <a:endParaRPr lang="es-ES">
                        <a:latin typeface="Trebuchet MS" panose="020B0603020202020204" pitchFamily="34" charset="0"/>
                      </a:endParaRPr>
                    </a:p>
                  </a:txBody>
                  <a:tcPr/>
                </a:tc>
                <a:extLst>
                  <a:ext uri="{0D108BD9-81ED-4DB2-BD59-A6C34878D82A}">
                    <a16:rowId xmlns:a16="http://schemas.microsoft.com/office/drawing/2014/main" val="396917808"/>
                  </a:ext>
                </a:extLst>
              </a:tr>
              <a:tr h="501297">
                <a:tc>
                  <a:txBody>
                    <a:bodyPr/>
                    <a:lstStyle/>
                    <a:p>
                      <a:pPr lvl="0">
                        <a:buNone/>
                      </a:pPr>
                      <a:r>
                        <a:rPr lang="es-ES" sz="1800" b="0" i="0" u="none" strike="noStrike" noProof="0">
                          <a:latin typeface="Trebuchet MS" panose="020B0603020202020204" pitchFamily="34" charset="0"/>
                        </a:rPr>
                        <a:t>Realizar pruebas de seguridad en las aplicaciones móviles de la organización para detectar vulnerabilidades en dispositivos móviles.</a:t>
                      </a:r>
                      <a:endParaRPr lang="es-ES">
                        <a:latin typeface="Trebuchet MS" panose="020B0603020202020204" pitchFamily="34" charset="0"/>
                      </a:endParaRPr>
                    </a:p>
                  </a:txBody>
                  <a:tcPr/>
                </a:tc>
                <a:extLst>
                  <a:ext uri="{0D108BD9-81ED-4DB2-BD59-A6C34878D82A}">
                    <a16:rowId xmlns:a16="http://schemas.microsoft.com/office/drawing/2014/main" val="720121581"/>
                  </a:ext>
                </a:extLst>
              </a:tr>
              <a:tr h="638623">
                <a:tc>
                  <a:txBody>
                    <a:bodyPr/>
                    <a:lstStyle/>
                    <a:p>
                      <a:pPr lvl="0">
                        <a:buNone/>
                      </a:pPr>
                      <a:r>
                        <a:rPr lang="es-ES" sz="1800" b="0" i="0" u="none" strike="noStrike" noProof="0" dirty="0">
                          <a:latin typeface="Trebuchet MS" panose="020B0603020202020204" pitchFamily="34" charset="0"/>
                        </a:rPr>
                        <a:t>Realizar pruebas de phishing e ingeniería social para evaluar la susceptibilidad de los usuarios a ataques de este tipo.</a:t>
                      </a:r>
                      <a:endParaRPr lang="es-ES" dirty="0">
                        <a:latin typeface="Trebuchet MS" panose="020B0603020202020204" pitchFamily="34" charset="0"/>
                      </a:endParaRPr>
                    </a:p>
                  </a:txBody>
                  <a:tcPr/>
                </a:tc>
                <a:extLst>
                  <a:ext uri="{0D108BD9-81ED-4DB2-BD59-A6C34878D82A}">
                    <a16:rowId xmlns:a16="http://schemas.microsoft.com/office/drawing/2014/main" val="3193060473"/>
                  </a:ext>
                </a:extLst>
              </a:tr>
            </a:tbl>
          </a:graphicData>
        </a:graphic>
      </p:graphicFrame>
      <p:sp>
        <p:nvSpPr>
          <p:cNvPr id="11" name="CuadroTexto 10">
            <a:extLst>
              <a:ext uri="{FF2B5EF4-FFF2-40B4-BE49-F238E27FC236}">
                <a16:creationId xmlns:a16="http://schemas.microsoft.com/office/drawing/2014/main" id="{EDF0287D-2B43-0AD1-0181-89DF07B64BBD}"/>
              </a:ext>
            </a:extLst>
          </p:cNvPr>
          <p:cNvSpPr txBox="1"/>
          <p:nvPr/>
        </p:nvSpPr>
        <p:spPr>
          <a:xfrm>
            <a:off x="454893" y="5516131"/>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pic>
        <p:nvPicPr>
          <p:cNvPr id="2" name="Imagen 1" descr="Interfaz de usuario gráfica&#10;&#10;El contenido generado por IA puede ser incorrecto.">
            <a:extLst>
              <a:ext uri="{FF2B5EF4-FFF2-40B4-BE49-F238E27FC236}">
                <a16:creationId xmlns:a16="http://schemas.microsoft.com/office/drawing/2014/main" id="{A18C5A2D-E646-6260-117D-02A7E31DB07E}"/>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5750782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9E320-3FC1-3E17-9803-40C6A0121563}"/>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27E3D083-DDEB-C1D7-DDD9-11F8584F3553}"/>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8AD4B2E1-FB15-8960-FD5F-B3065FD42604}"/>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337BBB7C-BBCE-5675-BF7F-A1A52C2922B2}"/>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Confirmación de hallazgos</a:t>
            </a:r>
          </a:p>
        </p:txBody>
      </p:sp>
      <p:sp>
        <p:nvSpPr>
          <p:cNvPr id="2" name="CuadroTexto 1">
            <a:extLst>
              <a:ext uri="{FF2B5EF4-FFF2-40B4-BE49-F238E27FC236}">
                <a16:creationId xmlns:a16="http://schemas.microsoft.com/office/drawing/2014/main" id="{EF7F1190-65BF-2FBF-5DB0-2F1558550190}"/>
              </a:ext>
            </a:extLst>
          </p:cNvPr>
          <p:cNvSpPr txBox="1"/>
          <p:nvPr/>
        </p:nvSpPr>
        <p:spPr>
          <a:xfrm>
            <a:off x="461200" y="1196732"/>
            <a:ext cx="986021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a:latin typeface="Trebuchet MS" panose="020B0603020202020204" pitchFamily="34" charset="0"/>
                <a:ea typeface="+mn-lt"/>
                <a:cs typeface="+mn-lt"/>
              </a:rPr>
              <a:t>Validar los resultados de las pruebas de detección y obtener una visión completa de las vulnerabilidades.</a:t>
            </a:r>
            <a:endParaRPr lang="es-ES">
              <a:latin typeface="Trebuchet MS" panose="020B0603020202020204" pitchFamily="34" charset="0"/>
            </a:endParaRPr>
          </a:p>
        </p:txBody>
      </p:sp>
      <p:graphicFrame>
        <p:nvGraphicFramePr>
          <p:cNvPr id="3" name="Tabla 2">
            <a:extLst>
              <a:ext uri="{FF2B5EF4-FFF2-40B4-BE49-F238E27FC236}">
                <a16:creationId xmlns:a16="http://schemas.microsoft.com/office/drawing/2014/main" id="{AF6B493F-B921-75E6-BFF4-6B465ABDC1FC}"/>
              </a:ext>
            </a:extLst>
          </p:cNvPr>
          <p:cNvGraphicFramePr>
            <a:graphicFrameLocks noGrp="1"/>
          </p:cNvGraphicFramePr>
          <p:nvPr>
            <p:extLst>
              <p:ext uri="{D42A27DB-BD31-4B8C-83A1-F6EECF244321}">
                <p14:modId xmlns:p14="http://schemas.microsoft.com/office/powerpoint/2010/main" val="574958906"/>
              </p:ext>
            </p:extLst>
          </p:nvPr>
        </p:nvGraphicFramePr>
        <p:xfrm>
          <a:off x="756512" y="2119150"/>
          <a:ext cx="9848988" cy="2788405"/>
        </p:xfrm>
        <a:graphic>
          <a:graphicData uri="http://schemas.openxmlformats.org/drawingml/2006/table">
            <a:tbl>
              <a:tblPr firstRow="1" bandRow="1">
                <a:tableStyleId>{69CF1AB2-1976-4502-BF36-3FF5EA218861}</a:tableStyleId>
              </a:tblPr>
              <a:tblGrid>
                <a:gridCol w="9848988">
                  <a:extLst>
                    <a:ext uri="{9D8B030D-6E8A-4147-A177-3AD203B41FA5}">
                      <a16:colId xmlns:a16="http://schemas.microsoft.com/office/drawing/2014/main" val="580400651"/>
                    </a:ext>
                  </a:extLst>
                </a:gridCol>
              </a:tblGrid>
              <a:tr h="501297">
                <a:tc>
                  <a:txBody>
                    <a:bodyPr/>
                    <a:lstStyle/>
                    <a:p>
                      <a:pPr lvl="0">
                        <a:buNone/>
                      </a:pPr>
                      <a:r>
                        <a:rPr lang="es-ES" sz="1800" b="0" i="0" u="none" strike="noStrike" noProof="0">
                          <a:latin typeface="Trebuchet MS" panose="020B0603020202020204" pitchFamily="34" charset="0"/>
                        </a:rPr>
                        <a:t>Verificar los resultados de las pruebas para garantizar su precisión y confiabilidad. </a:t>
                      </a:r>
                      <a:endParaRPr lang="es-ES">
                        <a:latin typeface="Trebuchet MS" panose="020B0603020202020204" pitchFamily="34" charset="0"/>
                      </a:endParaRPr>
                    </a:p>
                  </a:txBody>
                  <a:tcPr/>
                </a:tc>
                <a:extLst>
                  <a:ext uri="{0D108BD9-81ED-4DB2-BD59-A6C34878D82A}">
                    <a16:rowId xmlns:a16="http://schemas.microsoft.com/office/drawing/2014/main" val="1835896373"/>
                  </a:ext>
                </a:extLst>
              </a:tr>
              <a:tr h="366868">
                <a:tc>
                  <a:txBody>
                    <a:bodyPr/>
                    <a:lstStyle/>
                    <a:p>
                      <a:pPr lvl="0">
                        <a:buNone/>
                      </a:pPr>
                      <a:r>
                        <a:rPr lang="es-ES" sz="1800" b="0" i="0" u="none" strike="noStrike" noProof="0">
                          <a:latin typeface="Trebuchet MS" panose="020B0603020202020204" pitchFamily="34" charset="0"/>
                        </a:rPr>
                        <a:t>Analizar y validar las huellas digitales del sistema o dispositivo en todas las pruebas. </a:t>
                      </a:r>
                      <a:endParaRPr lang="es-ES">
                        <a:latin typeface="Trebuchet MS" panose="020B0603020202020204" pitchFamily="34" charset="0"/>
                      </a:endParaRPr>
                    </a:p>
                  </a:txBody>
                  <a:tcPr/>
                </a:tc>
                <a:extLst>
                  <a:ext uri="{0D108BD9-81ED-4DB2-BD59-A6C34878D82A}">
                    <a16:rowId xmlns:a16="http://schemas.microsoft.com/office/drawing/2014/main" val="3780260209"/>
                  </a:ext>
                </a:extLst>
              </a:tr>
              <a:tr h="638623">
                <a:tc>
                  <a:txBody>
                    <a:bodyPr/>
                    <a:lstStyle/>
                    <a:p>
                      <a:pPr lvl="0">
                        <a:buNone/>
                      </a:pPr>
                      <a:r>
                        <a:rPr lang="es-ES" sz="1800" b="0" i="0" u="none" strike="noStrike" noProof="0">
                          <a:latin typeface="Trebuchet MS" panose="020B0603020202020204" pitchFamily="34" charset="0"/>
                        </a:rPr>
                        <a:t>Verificar que los servicios en ejecución sean los esperados y no representen riesgos adicionales. </a:t>
                      </a:r>
                      <a:endParaRPr lang="es-ES">
                        <a:latin typeface="Trebuchet MS" panose="020B0603020202020204" pitchFamily="34" charset="0"/>
                      </a:endParaRPr>
                    </a:p>
                  </a:txBody>
                  <a:tcPr/>
                </a:tc>
                <a:extLst>
                  <a:ext uri="{0D108BD9-81ED-4DB2-BD59-A6C34878D82A}">
                    <a16:rowId xmlns:a16="http://schemas.microsoft.com/office/drawing/2014/main" val="396917808"/>
                  </a:ext>
                </a:extLst>
              </a:tr>
              <a:tr h="501297">
                <a:tc>
                  <a:txBody>
                    <a:bodyPr/>
                    <a:lstStyle/>
                    <a:p>
                      <a:pPr lvl="0">
                        <a:buNone/>
                      </a:pPr>
                      <a:r>
                        <a:rPr lang="es-ES" sz="1800" b="0" i="0" u="none" strike="noStrike" noProof="0">
                          <a:latin typeface="Trebuchet MS" panose="020B0603020202020204" pitchFamily="34" charset="0"/>
                        </a:rPr>
                        <a:t>Detectar anomalías en los resultados de las pruebas e investigar sus causas para identificar posibles vulnerabilidades no detectadas. </a:t>
                      </a:r>
                      <a:endParaRPr lang="es-ES">
                        <a:latin typeface="Trebuchet MS" panose="020B0603020202020204" pitchFamily="34" charset="0"/>
                      </a:endParaRPr>
                    </a:p>
                  </a:txBody>
                  <a:tcPr/>
                </a:tc>
                <a:extLst>
                  <a:ext uri="{0D108BD9-81ED-4DB2-BD59-A6C34878D82A}">
                    <a16:rowId xmlns:a16="http://schemas.microsoft.com/office/drawing/2014/main" val="720121581"/>
                  </a:ext>
                </a:extLst>
              </a:tr>
              <a:tr h="638623">
                <a:tc>
                  <a:txBody>
                    <a:bodyPr/>
                    <a:lstStyle/>
                    <a:p>
                      <a:pPr lvl="0">
                        <a:buNone/>
                      </a:pPr>
                      <a:r>
                        <a:rPr lang="es-ES" sz="1800" b="0" i="0" u="none" strike="noStrike" noProof="0" dirty="0">
                          <a:latin typeface="Trebuchet MS" panose="020B0603020202020204" pitchFamily="34" charset="0"/>
                        </a:rPr>
                        <a:t>Seleccionar vulnerabilidades aleatorias y validarlas con otro programa o manualmente para confirmar su existencia y gravedad.</a:t>
                      </a:r>
                      <a:endParaRPr lang="es-ES" dirty="0">
                        <a:latin typeface="Trebuchet MS" panose="020B0603020202020204" pitchFamily="34" charset="0"/>
                      </a:endParaRPr>
                    </a:p>
                  </a:txBody>
                  <a:tcPr/>
                </a:tc>
                <a:extLst>
                  <a:ext uri="{0D108BD9-81ED-4DB2-BD59-A6C34878D82A}">
                    <a16:rowId xmlns:a16="http://schemas.microsoft.com/office/drawing/2014/main" val="3193060473"/>
                  </a:ext>
                </a:extLst>
              </a:tr>
            </a:tbl>
          </a:graphicData>
        </a:graphic>
      </p:graphicFrame>
      <p:sp>
        <p:nvSpPr>
          <p:cNvPr id="4" name="CuadroTexto 3">
            <a:extLst>
              <a:ext uri="{FF2B5EF4-FFF2-40B4-BE49-F238E27FC236}">
                <a16:creationId xmlns:a16="http://schemas.microsoft.com/office/drawing/2014/main" id="{72B4A716-F87C-B2A1-0695-D7A4297AB2FB}"/>
              </a:ext>
            </a:extLst>
          </p:cNvPr>
          <p:cNvSpPr txBox="1"/>
          <p:nvPr/>
        </p:nvSpPr>
        <p:spPr>
          <a:xfrm>
            <a:off x="468300" y="5352160"/>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pic>
        <p:nvPicPr>
          <p:cNvPr id="6" name="Imagen 5" descr="Interfaz de usuario gráfica&#10;&#10;El contenido generado por IA puede ser incorrecto.">
            <a:extLst>
              <a:ext uri="{FF2B5EF4-FFF2-40B4-BE49-F238E27FC236}">
                <a16:creationId xmlns:a16="http://schemas.microsoft.com/office/drawing/2014/main" id="{CAE77E4C-B6D7-FD2F-796C-8B277408BEF7}"/>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948067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A7AE3-B6C1-4CC0-4C3C-D586BB8226B4}"/>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30D09BB0-CAC7-4145-EF76-48D29118E92F}"/>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1C1707F6-28FD-0ADB-34EC-6A8FE7541F75}"/>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5B4CFA77-097A-8384-FB6A-4349A5FD6EC2}"/>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Ciclo de divulgación</a:t>
            </a:r>
          </a:p>
        </p:txBody>
      </p:sp>
      <p:sp>
        <p:nvSpPr>
          <p:cNvPr id="6" name="TextBox 5">
            <a:extLst>
              <a:ext uri="{FF2B5EF4-FFF2-40B4-BE49-F238E27FC236}">
                <a16:creationId xmlns:a16="http://schemas.microsoft.com/office/drawing/2014/main" id="{F30D65C2-1092-6788-0984-2E4082A2CE53}"/>
              </a:ext>
            </a:extLst>
          </p:cNvPr>
          <p:cNvSpPr txBox="1"/>
          <p:nvPr/>
        </p:nvSpPr>
        <p:spPr>
          <a:xfrm>
            <a:off x="488072" y="953655"/>
            <a:ext cx="994243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500" dirty="0">
                <a:latin typeface="Trebuchet MS" panose="020B0603020202020204" pitchFamily="34" charset="0"/>
                <a:ea typeface="+mn-lt"/>
                <a:cs typeface="+mn-lt"/>
              </a:rPr>
              <a:t>El </a:t>
            </a:r>
            <a:r>
              <a:rPr lang="en-US" sz="1500" dirty="0" err="1">
                <a:latin typeface="Trebuchet MS" panose="020B0603020202020204" pitchFamily="34" charset="0"/>
                <a:ea typeface="+mn-lt"/>
                <a:cs typeface="+mn-lt"/>
              </a:rPr>
              <a:t>ciclo</a:t>
            </a:r>
            <a:r>
              <a:rPr lang="en-US" sz="1500" dirty="0">
                <a:latin typeface="Trebuchet MS" panose="020B0603020202020204" pitchFamily="34" charset="0"/>
                <a:ea typeface="+mn-lt"/>
                <a:cs typeface="+mn-lt"/>
              </a:rPr>
              <a:t> de </a:t>
            </a:r>
            <a:r>
              <a:rPr lang="en-US" sz="1500" dirty="0" err="1">
                <a:latin typeface="Trebuchet MS" panose="020B0603020202020204" pitchFamily="34" charset="0"/>
                <a:ea typeface="+mn-lt"/>
                <a:cs typeface="+mn-lt"/>
              </a:rPr>
              <a:t>divulgación</a:t>
            </a:r>
            <a:r>
              <a:rPr lang="en-US" sz="1500" dirty="0">
                <a:latin typeface="Trebuchet MS" panose="020B0603020202020204" pitchFamily="34" charset="0"/>
                <a:ea typeface="+mn-lt"/>
                <a:cs typeface="+mn-lt"/>
              </a:rPr>
              <a:t> de la OVMG es un </a:t>
            </a:r>
            <a:r>
              <a:rPr lang="en-US" sz="1500" dirty="0" err="1">
                <a:latin typeface="Trebuchet MS" panose="020B0603020202020204" pitchFamily="34" charset="0"/>
                <a:ea typeface="+mn-lt"/>
                <a:cs typeface="+mn-lt"/>
              </a:rPr>
              <a:t>proceso</a:t>
            </a:r>
            <a:r>
              <a:rPr lang="en-US" sz="1500" dirty="0">
                <a:latin typeface="Trebuchet MS" panose="020B0603020202020204" pitchFamily="34" charset="0"/>
                <a:ea typeface="+mn-lt"/>
                <a:cs typeface="+mn-lt"/>
              </a:rPr>
              <a:t> crucial para </a:t>
            </a:r>
            <a:r>
              <a:rPr lang="en-US" sz="1500" dirty="0" err="1">
                <a:latin typeface="Trebuchet MS" panose="020B0603020202020204" pitchFamily="34" charset="0"/>
                <a:ea typeface="+mn-lt"/>
                <a:cs typeface="+mn-lt"/>
              </a:rPr>
              <a:t>transformar</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datos</a:t>
            </a:r>
            <a:r>
              <a:rPr lang="en-US" sz="1500" dirty="0">
                <a:latin typeface="Trebuchet MS" panose="020B0603020202020204" pitchFamily="34" charset="0"/>
                <a:ea typeface="+mn-lt"/>
                <a:cs typeface="+mn-lt"/>
              </a:rPr>
              <a:t> de </a:t>
            </a:r>
            <a:r>
              <a:rPr lang="en-US" sz="1500" dirty="0" err="1">
                <a:latin typeface="Trebuchet MS" panose="020B0603020202020204" pitchFamily="34" charset="0"/>
                <a:ea typeface="+mn-lt"/>
                <a:cs typeface="+mn-lt"/>
              </a:rPr>
              <a:t>vulnerabilidad</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en</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información</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útil</a:t>
            </a:r>
            <a:r>
              <a:rPr lang="en-US" sz="1500" dirty="0">
                <a:latin typeface="Trebuchet MS" panose="020B0603020202020204" pitchFamily="34" charset="0"/>
                <a:ea typeface="+mn-lt"/>
                <a:cs typeface="+mn-lt"/>
              </a:rPr>
              <a:t> para la </a:t>
            </a:r>
            <a:r>
              <a:rPr lang="en-US" sz="1500" dirty="0" err="1">
                <a:latin typeface="Trebuchet MS" panose="020B0603020202020204" pitchFamily="34" charset="0"/>
                <a:ea typeface="+mn-lt"/>
                <a:cs typeface="+mn-lt"/>
              </a:rPr>
              <a:t>organización</a:t>
            </a:r>
            <a:r>
              <a:rPr lang="en-US" sz="1500" dirty="0">
                <a:latin typeface="Trebuchet MS" panose="020B0603020202020204" pitchFamily="34" charset="0"/>
                <a:ea typeface="+mn-lt"/>
                <a:cs typeface="+mn-lt"/>
              </a:rPr>
              <a:t>. Su </a:t>
            </a:r>
            <a:r>
              <a:rPr lang="en-US" sz="1500" dirty="0" err="1">
                <a:latin typeface="Trebuchet MS" panose="020B0603020202020204" pitchFamily="34" charset="0"/>
                <a:ea typeface="+mn-lt"/>
                <a:cs typeface="+mn-lt"/>
              </a:rPr>
              <a:t>objetivo</a:t>
            </a:r>
            <a:r>
              <a:rPr lang="en-US" sz="1500" dirty="0">
                <a:latin typeface="Trebuchet MS" panose="020B0603020202020204" pitchFamily="34" charset="0"/>
                <a:ea typeface="+mn-lt"/>
                <a:cs typeface="+mn-lt"/>
              </a:rPr>
              <a:t> es </a:t>
            </a:r>
            <a:r>
              <a:rPr lang="en-US" sz="1500" dirty="0" err="1">
                <a:latin typeface="Trebuchet MS" panose="020B0603020202020204" pitchFamily="34" charset="0"/>
                <a:ea typeface="+mn-lt"/>
                <a:cs typeface="+mn-lt"/>
              </a:rPr>
              <a:t>cuantificar</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el</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riesgo</a:t>
            </a:r>
            <a:r>
              <a:rPr lang="en-US" sz="1500" dirty="0">
                <a:latin typeface="Trebuchet MS" panose="020B0603020202020204" pitchFamily="34" charset="0"/>
                <a:ea typeface="+mn-lt"/>
                <a:cs typeface="+mn-lt"/>
              </a:rPr>
              <a:t> de </a:t>
            </a:r>
            <a:r>
              <a:rPr lang="en-US" sz="1500" dirty="0" err="1">
                <a:latin typeface="Trebuchet MS" panose="020B0603020202020204" pitchFamily="34" charset="0"/>
                <a:ea typeface="+mn-lt"/>
                <a:cs typeface="+mn-lt"/>
              </a:rPr>
              <a:t>seguridad</a:t>
            </a:r>
            <a:r>
              <a:rPr lang="en-US" sz="1500" dirty="0">
                <a:latin typeface="Trebuchet MS" panose="020B0603020202020204" pitchFamily="34" charset="0"/>
                <a:ea typeface="+mn-lt"/>
                <a:cs typeface="+mn-lt"/>
              </a:rPr>
              <a:t> y </a:t>
            </a:r>
            <a:r>
              <a:rPr lang="en-US" sz="1500" dirty="0" err="1">
                <a:latin typeface="Trebuchet MS" panose="020B0603020202020204" pitchFamily="34" charset="0"/>
                <a:ea typeface="+mn-lt"/>
                <a:cs typeface="+mn-lt"/>
              </a:rPr>
              <a:t>facilitar</a:t>
            </a:r>
            <a:r>
              <a:rPr lang="en-US" sz="1500" dirty="0">
                <a:latin typeface="Trebuchet MS" panose="020B0603020202020204" pitchFamily="34" charset="0"/>
                <a:ea typeface="+mn-lt"/>
                <a:cs typeface="+mn-lt"/>
              </a:rPr>
              <a:t> la </a:t>
            </a:r>
            <a:r>
              <a:rPr lang="en-US" sz="1500" dirty="0" err="1">
                <a:latin typeface="Trebuchet MS" panose="020B0603020202020204" pitchFamily="34" charset="0"/>
                <a:ea typeface="+mn-lt"/>
                <a:cs typeface="+mn-lt"/>
              </a:rPr>
              <a:t>toma</a:t>
            </a:r>
            <a:r>
              <a:rPr lang="en-US" sz="1500" dirty="0">
                <a:latin typeface="Trebuchet MS" panose="020B0603020202020204" pitchFamily="34" charset="0"/>
                <a:ea typeface="+mn-lt"/>
                <a:cs typeface="+mn-lt"/>
              </a:rPr>
              <a:t> de </a:t>
            </a:r>
            <a:r>
              <a:rPr lang="en-US" sz="1500" dirty="0" err="1">
                <a:latin typeface="Trebuchet MS" panose="020B0603020202020204" pitchFamily="34" charset="0"/>
                <a:ea typeface="+mn-lt"/>
                <a:cs typeface="+mn-lt"/>
              </a:rPr>
              <a:t>decisiones</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estratégicas</a:t>
            </a:r>
            <a:r>
              <a:rPr lang="en-US" sz="1500" dirty="0">
                <a:latin typeface="Trebuchet MS" panose="020B0603020202020204" pitchFamily="34" charset="0"/>
                <a:ea typeface="+mn-lt"/>
                <a:cs typeface="+mn-lt"/>
              </a:rPr>
              <a:t> para </a:t>
            </a:r>
            <a:r>
              <a:rPr lang="en-US" sz="1500" dirty="0" err="1">
                <a:latin typeface="Trebuchet MS" panose="020B0603020202020204" pitchFamily="34" charset="0"/>
                <a:ea typeface="+mn-lt"/>
                <a:cs typeface="+mn-lt"/>
              </a:rPr>
              <a:t>mitigarlo</a:t>
            </a:r>
            <a:r>
              <a:rPr lang="en-US" sz="1500" dirty="0">
                <a:latin typeface="Trebuchet MS" panose="020B0603020202020204" pitchFamily="34" charset="0"/>
                <a:ea typeface="+mn-lt"/>
                <a:cs typeface="+mn-lt"/>
              </a:rPr>
              <a:t>. Este </a:t>
            </a:r>
            <a:r>
              <a:rPr lang="en-US" sz="1500" dirty="0" err="1">
                <a:latin typeface="Trebuchet MS" panose="020B0603020202020204" pitchFamily="34" charset="0"/>
                <a:ea typeface="+mn-lt"/>
                <a:cs typeface="+mn-lt"/>
              </a:rPr>
              <a:t>ciclo</a:t>
            </a:r>
            <a:r>
              <a:rPr lang="en-US" sz="1500" dirty="0">
                <a:latin typeface="Trebuchet MS" panose="020B0603020202020204" pitchFamily="34" charset="0"/>
                <a:ea typeface="+mn-lt"/>
                <a:cs typeface="+mn-lt"/>
              </a:rPr>
              <a:t> se </a:t>
            </a:r>
            <a:r>
              <a:rPr lang="en-US" sz="1500" dirty="0" err="1">
                <a:latin typeface="Trebuchet MS" panose="020B0603020202020204" pitchFamily="34" charset="0"/>
                <a:ea typeface="+mn-lt"/>
                <a:cs typeface="+mn-lt"/>
              </a:rPr>
              <a:t>compone</a:t>
            </a:r>
            <a:r>
              <a:rPr lang="en-US" sz="1500" dirty="0">
                <a:latin typeface="Trebuchet MS" panose="020B0603020202020204" pitchFamily="34" charset="0"/>
                <a:ea typeface="+mn-lt"/>
                <a:cs typeface="+mn-lt"/>
              </a:rPr>
              <a:t> de cuatro </a:t>
            </a:r>
            <a:r>
              <a:rPr lang="en-US" sz="1500" dirty="0" err="1">
                <a:latin typeface="Trebuchet MS" panose="020B0603020202020204" pitchFamily="34" charset="0"/>
                <a:ea typeface="+mn-lt"/>
                <a:cs typeface="+mn-lt"/>
              </a:rPr>
              <a:t>tareas</a:t>
            </a:r>
            <a:r>
              <a:rPr lang="en-US" sz="1500" dirty="0">
                <a:latin typeface="Trebuchet MS" panose="020B0603020202020204" pitchFamily="34" charset="0"/>
                <a:ea typeface="+mn-lt"/>
                <a:cs typeface="+mn-lt"/>
              </a:rPr>
              <a:t> </a:t>
            </a:r>
            <a:r>
              <a:rPr lang="en-US" sz="1500" dirty="0" err="1">
                <a:latin typeface="Trebuchet MS" panose="020B0603020202020204" pitchFamily="34" charset="0"/>
                <a:ea typeface="+mn-lt"/>
                <a:cs typeface="+mn-lt"/>
              </a:rPr>
              <a:t>principales</a:t>
            </a:r>
            <a:r>
              <a:rPr lang="en-US" sz="1500" dirty="0">
                <a:latin typeface="Trebuchet MS" panose="020B0603020202020204" pitchFamily="34" charset="0"/>
                <a:ea typeface="+mn-lt"/>
                <a:cs typeface="+mn-lt"/>
              </a:rPr>
              <a:t>:</a:t>
            </a:r>
            <a:endParaRPr lang="es-ES" dirty="0">
              <a:latin typeface="Trebuchet MS" panose="020B0603020202020204" pitchFamily="34" charset="0"/>
              <a:ea typeface="+mn-lt"/>
              <a:cs typeface="+mn-lt"/>
            </a:endParaRPr>
          </a:p>
        </p:txBody>
      </p:sp>
      <p:sp>
        <p:nvSpPr>
          <p:cNvPr id="7" name="CuadroTexto 6">
            <a:extLst>
              <a:ext uri="{FF2B5EF4-FFF2-40B4-BE49-F238E27FC236}">
                <a16:creationId xmlns:a16="http://schemas.microsoft.com/office/drawing/2014/main" id="{ABD1FBB0-2411-3266-0E00-D20EE4C20819}"/>
              </a:ext>
            </a:extLst>
          </p:cNvPr>
          <p:cNvSpPr txBox="1"/>
          <p:nvPr/>
        </p:nvSpPr>
        <p:spPr>
          <a:xfrm>
            <a:off x="2642900" y="1902982"/>
            <a:ext cx="712541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Trebuchet MS" panose="020B0603020202020204" pitchFamily="34" charset="0"/>
                <a:ea typeface="+mn-lt"/>
                <a:cs typeface="+mn-lt"/>
              </a:rPr>
              <a:t>1. Creación de grupos de activos: </a:t>
            </a:r>
            <a:r>
              <a:rPr lang="es-ES" sz="1500" dirty="0">
                <a:latin typeface="Trebuchet MS" panose="020B0603020202020204" pitchFamily="34" charset="0"/>
                <a:ea typeface="+mn-lt"/>
                <a:cs typeface="+mn-lt"/>
              </a:rPr>
              <a:t>Organizar los activos de la empresa en categorías significativas para facilitar el análisis y la presentación de información específica.</a:t>
            </a:r>
            <a:endParaRPr lang="es-ES" sz="1500" dirty="0">
              <a:latin typeface="Trebuchet MS" panose="020B0603020202020204" pitchFamily="34" charset="0"/>
              <a:ea typeface="Calibri"/>
              <a:cs typeface="Calibri"/>
            </a:endParaRPr>
          </a:p>
        </p:txBody>
      </p:sp>
      <p:sp>
        <p:nvSpPr>
          <p:cNvPr id="8" name="CuadroTexto 7">
            <a:extLst>
              <a:ext uri="{FF2B5EF4-FFF2-40B4-BE49-F238E27FC236}">
                <a16:creationId xmlns:a16="http://schemas.microsoft.com/office/drawing/2014/main" id="{459C3078-116B-7360-C11E-48D9365DE5A0}"/>
              </a:ext>
            </a:extLst>
          </p:cNvPr>
          <p:cNvSpPr txBox="1"/>
          <p:nvPr/>
        </p:nvSpPr>
        <p:spPr>
          <a:xfrm>
            <a:off x="2642655" y="4136410"/>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3. Creación de pista de auditoría: </a:t>
            </a:r>
            <a:r>
              <a:rPr lang="es-ES" sz="1500">
                <a:latin typeface="Trebuchet MS" panose="020B0603020202020204" pitchFamily="34" charset="0"/>
                <a:ea typeface="+mn-lt"/>
                <a:cs typeface="+mn-lt"/>
              </a:rPr>
              <a:t>Documentar las acciones correctivas relacionadas con las vulnerabilidades detectadas.</a:t>
            </a:r>
          </a:p>
        </p:txBody>
      </p:sp>
      <p:sp>
        <p:nvSpPr>
          <p:cNvPr id="9" name="CuadroTexto 8">
            <a:extLst>
              <a:ext uri="{FF2B5EF4-FFF2-40B4-BE49-F238E27FC236}">
                <a16:creationId xmlns:a16="http://schemas.microsoft.com/office/drawing/2014/main" id="{9A69EEF0-9AC6-359B-CB5B-32BDD2E42B49}"/>
              </a:ext>
            </a:extLst>
          </p:cNvPr>
          <p:cNvSpPr txBox="1"/>
          <p:nvPr/>
        </p:nvSpPr>
        <p:spPr>
          <a:xfrm>
            <a:off x="2642689" y="3004186"/>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2. Definición y refinamiento de métricas:</a:t>
            </a:r>
            <a:r>
              <a:rPr lang="es-ES" sz="1500">
                <a:latin typeface="Trebuchet MS" panose="020B0603020202020204" pitchFamily="34" charset="0"/>
                <a:ea typeface="+mn-lt"/>
                <a:cs typeface="+mn-lt"/>
              </a:rPr>
              <a:t> Generar métricas confiables y relevantes para la gestión de vulnerabilidades.</a:t>
            </a:r>
          </a:p>
        </p:txBody>
      </p:sp>
      <p:sp>
        <p:nvSpPr>
          <p:cNvPr id="11" name="CuadroTexto 10">
            <a:extLst>
              <a:ext uri="{FF2B5EF4-FFF2-40B4-BE49-F238E27FC236}">
                <a16:creationId xmlns:a16="http://schemas.microsoft.com/office/drawing/2014/main" id="{1AB3CD8D-7293-0CCD-72C4-5CAB54ECACB3}"/>
              </a:ext>
            </a:extLst>
          </p:cNvPr>
          <p:cNvSpPr txBox="1"/>
          <p:nvPr/>
        </p:nvSpPr>
        <p:spPr>
          <a:xfrm>
            <a:off x="2642455" y="5263461"/>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Trebuchet MS" panose="020B0603020202020204" pitchFamily="34" charset="0"/>
                <a:ea typeface="+mn-lt"/>
                <a:cs typeface="+mn-lt"/>
              </a:rPr>
              <a:t>4. Creación de informes: </a:t>
            </a:r>
            <a:r>
              <a:rPr lang="es-ES" sz="1500">
                <a:latin typeface="Trebuchet MS" panose="020B0603020202020204" pitchFamily="34" charset="0"/>
                <a:ea typeface="+mn-lt"/>
                <a:cs typeface="+mn-lt"/>
              </a:rPr>
              <a:t>Presentar los hallazgos de manera clara y comprensible para la audiencia.</a:t>
            </a:r>
            <a:endParaRPr lang="es-ES">
              <a:latin typeface="Trebuchet MS" panose="020B0603020202020204" pitchFamily="34" charset="0"/>
            </a:endParaRPr>
          </a:p>
        </p:txBody>
      </p:sp>
      <p:pic>
        <p:nvPicPr>
          <p:cNvPr id="12" name="Imagen 11" descr="1,415 assets icons - Iconfinder">
            <a:extLst>
              <a:ext uri="{FF2B5EF4-FFF2-40B4-BE49-F238E27FC236}">
                <a16:creationId xmlns:a16="http://schemas.microsoft.com/office/drawing/2014/main" id="{937AB7E8-D351-D167-E94E-68038F263C81}"/>
              </a:ext>
            </a:extLst>
          </p:cNvPr>
          <p:cNvPicPr>
            <a:picLocks noChangeAspect="1"/>
          </p:cNvPicPr>
          <p:nvPr/>
        </p:nvPicPr>
        <p:blipFill>
          <a:blip r:embed="rId4"/>
          <a:stretch>
            <a:fillRect/>
          </a:stretch>
        </p:blipFill>
        <p:spPr>
          <a:xfrm>
            <a:off x="1655870" y="1817770"/>
            <a:ext cx="832993" cy="887493"/>
          </a:xfrm>
          <a:prstGeom prst="rect">
            <a:avLst/>
          </a:prstGeom>
          <a:ln>
            <a:noFill/>
          </a:ln>
        </p:spPr>
      </p:pic>
      <p:pic>
        <p:nvPicPr>
          <p:cNvPr id="13" name="Imagen 12" descr="Energía (Ventaja (Debilidad (dropped image link), Agotamiento (dropped…">
            <a:extLst>
              <a:ext uri="{FF2B5EF4-FFF2-40B4-BE49-F238E27FC236}">
                <a16:creationId xmlns:a16="http://schemas.microsoft.com/office/drawing/2014/main" id="{680F648F-3C2D-CF4A-4185-8F0E5081181C}"/>
              </a:ext>
            </a:extLst>
          </p:cNvPr>
          <p:cNvPicPr>
            <a:picLocks noChangeAspect="1"/>
          </p:cNvPicPr>
          <p:nvPr/>
        </p:nvPicPr>
        <p:blipFill>
          <a:blip r:embed="rId5"/>
          <a:stretch>
            <a:fillRect/>
          </a:stretch>
        </p:blipFill>
        <p:spPr>
          <a:xfrm>
            <a:off x="1649760" y="2906583"/>
            <a:ext cx="791887" cy="791887"/>
          </a:xfrm>
          <a:prstGeom prst="rect">
            <a:avLst/>
          </a:prstGeom>
          <a:ln>
            <a:noFill/>
          </a:ln>
        </p:spPr>
      </p:pic>
      <p:pic>
        <p:nvPicPr>
          <p:cNvPr id="14" name="Imagen 13" descr="Audit Trail Icon at Vectorified.com | Collection of Audit Trail Icon ...">
            <a:extLst>
              <a:ext uri="{FF2B5EF4-FFF2-40B4-BE49-F238E27FC236}">
                <a16:creationId xmlns:a16="http://schemas.microsoft.com/office/drawing/2014/main" id="{B0FB7F12-E518-FDDA-581F-E417F2310E2E}"/>
              </a:ext>
            </a:extLst>
          </p:cNvPr>
          <p:cNvPicPr>
            <a:picLocks noChangeAspect="1"/>
          </p:cNvPicPr>
          <p:nvPr/>
        </p:nvPicPr>
        <p:blipFill>
          <a:blip r:embed="rId6"/>
          <a:stretch>
            <a:fillRect/>
          </a:stretch>
        </p:blipFill>
        <p:spPr>
          <a:xfrm>
            <a:off x="1697542" y="4035534"/>
            <a:ext cx="795334" cy="795334"/>
          </a:xfrm>
          <a:prstGeom prst="rect">
            <a:avLst/>
          </a:prstGeom>
          <a:ln>
            <a:noFill/>
          </a:ln>
        </p:spPr>
      </p:pic>
      <p:pic>
        <p:nvPicPr>
          <p:cNvPr id="15" name="Imagen 14" descr="Reports, analysis, diagram, information, news, report icon - Download ...">
            <a:extLst>
              <a:ext uri="{FF2B5EF4-FFF2-40B4-BE49-F238E27FC236}">
                <a16:creationId xmlns:a16="http://schemas.microsoft.com/office/drawing/2014/main" id="{4B33C23C-64B8-C82D-43A6-C7E67075786D}"/>
              </a:ext>
            </a:extLst>
          </p:cNvPr>
          <p:cNvPicPr>
            <a:picLocks noChangeAspect="1"/>
          </p:cNvPicPr>
          <p:nvPr/>
        </p:nvPicPr>
        <p:blipFill>
          <a:blip r:embed="rId7"/>
          <a:stretch>
            <a:fillRect/>
          </a:stretch>
        </p:blipFill>
        <p:spPr>
          <a:xfrm>
            <a:off x="1670755" y="5155812"/>
            <a:ext cx="792346" cy="792346"/>
          </a:xfrm>
          <a:prstGeom prst="rect">
            <a:avLst/>
          </a:prstGeom>
          <a:ln>
            <a:noFill/>
          </a:ln>
        </p:spPr>
      </p:pic>
      <p:pic>
        <p:nvPicPr>
          <p:cNvPr id="2" name="Imagen 1" descr="Interfaz de usuario gráfica&#10;&#10;El contenido generado por IA puede ser incorrecto.">
            <a:extLst>
              <a:ext uri="{FF2B5EF4-FFF2-40B4-BE49-F238E27FC236}">
                <a16:creationId xmlns:a16="http://schemas.microsoft.com/office/drawing/2014/main" id="{185326A6-F7FA-0B26-4D34-AE227382BD49}"/>
              </a:ext>
            </a:extLst>
          </p:cNvPr>
          <p:cNvPicPr>
            <a:picLocks noChangeAspect="1"/>
          </p:cNvPicPr>
          <p:nvPr/>
        </p:nvPicPr>
        <p:blipFill>
          <a:blip r:embed="rId8">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7877985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2C30D-004A-4545-6682-EF2A206320E2}"/>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5C89EA6C-F3F3-AF64-A0F2-54DB569C66EA}"/>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47BF1ED3-C395-F85D-F060-C55703520E7B}"/>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28373C90-B2F1-64AC-A87F-36C51C56185E}"/>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Creación de grupos de activos</a:t>
            </a:r>
          </a:p>
        </p:txBody>
      </p:sp>
      <p:pic>
        <p:nvPicPr>
          <p:cNvPr id="6" name="Imagen 5" descr="Interfaz de usuario gráfica&#10;&#10;El contenido generado por IA puede ser incorrecto.">
            <a:extLst>
              <a:ext uri="{FF2B5EF4-FFF2-40B4-BE49-F238E27FC236}">
                <a16:creationId xmlns:a16="http://schemas.microsoft.com/office/drawing/2014/main" id="{17234D7A-FFF1-F8D5-CFA7-673ACF695ACB}"/>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5" name="CuadroTexto 4">
            <a:extLst>
              <a:ext uri="{FF2B5EF4-FFF2-40B4-BE49-F238E27FC236}">
                <a16:creationId xmlns:a16="http://schemas.microsoft.com/office/drawing/2014/main" id="{826A99D9-1040-42B4-9C72-37D432D6A0A9}"/>
              </a:ext>
            </a:extLst>
          </p:cNvPr>
          <p:cNvSpPr txBox="1"/>
          <p:nvPr/>
        </p:nvSpPr>
        <p:spPr>
          <a:xfrm>
            <a:off x="472031" y="1444158"/>
            <a:ext cx="986021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latin typeface="Trebuchet MS" panose="020B0603020202020204" pitchFamily="34" charset="0"/>
                <a:ea typeface="+mn-lt"/>
                <a:cs typeface="+mn-lt"/>
              </a:rPr>
              <a:t>Organizar los activos de la empresa en categorías significativas para facilitar el análisis y la presentación de información específica.</a:t>
            </a:r>
          </a:p>
        </p:txBody>
      </p:sp>
      <p:graphicFrame>
        <p:nvGraphicFramePr>
          <p:cNvPr id="7" name="Tabla 6">
            <a:extLst>
              <a:ext uri="{FF2B5EF4-FFF2-40B4-BE49-F238E27FC236}">
                <a16:creationId xmlns:a16="http://schemas.microsoft.com/office/drawing/2014/main" id="{683040E4-C457-9C1D-BBB3-2944DDDD5411}"/>
              </a:ext>
            </a:extLst>
          </p:cNvPr>
          <p:cNvGraphicFramePr>
            <a:graphicFrameLocks noGrp="1"/>
          </p:cNvGraphicFramePr>
          <p:nvPr>
            <p:extLst>
              <p:ext uri="{D42A27DB-BD31-4B8C-83A1-F6EECF244321}">
                <p14:modId xmlns:p14="http://schemas.microsoft.com/office/powerpoint/2010/main" val="582747836"/>
              </p:ext>
            </p:extLst>
          </p:nvPr>
        </p:nvGraphicFramePr>
        <p:xfrm>
          <a:off x="515964" y="2426412"/>
          <a:ext cx="9550660" cy="774500"/>
        </p:xfrm>
        <a:graphic>
          <a:graphicData uri="http://schemas.openxmlformats.org/drawingml/2006/table">
            <a:tbl>
              <a:tblPr firstRow="1" bandRow="1">
                <a:tableStyleId>{69CF1AB2-1976-4502-BF36-3FF5EA218861}</a:tableStyleId>
              </a:tblPr>
              <a:tblGrid>
                <a:gridCol w="9550660">
                  <a:extLst>
                    <a:ext uri="{9D8B030D-6E8A-4147-A177-3AD203B41FA5}">
                      <a16:colId xmlns:a16="http://schemas.microsoft.com/office/drawing/2014/main" val="4175657569"/>
                    </a:ext>
                  </a:extLst>
                </a:gridCol>
              </a:tblGrid>
              <a:tr h="774500">
                <a:tc>
                  <a:txBody>
                    <a:bodyPr/>
                    <a:lstStyle/>
                    <a:p>
                      <a:pPr lvl="0">
                        <a:buNone/>
                      </a:pPr>
                      <a:r>
                        <a:rPr lang="es-ES" sz="1800" b="0" u="none" strike="noStrike" noProof="0" dirty="0">
                          <a:latin typeface="Trebuchet MS" panose="020B0603020202020204" pitchFamily="34" charset="0"/>
                        </a:rPr>
                        <a:t>Agrupar activos por función, tipo de entorno, sistema operativo, autoridad de numeración CVE, infraestructura asociada o tipo de vulnerabilidad.</a:t>
                      </a:r>
                      <a:endParaRPr lang="es-ES" b="0" dirty="0">
                        <a:latin typeface="Trebuchet MS" panose="020B0603020202020204" pitchFamily="34" charset="0"/>
                      </a:endParaRPr>
                    </a:p>
                  </a:txBody>
                  <a:tcPr/>
                </a:tc>
                <a:extLst>
                  <a:ext uri="{0D108BD9-81ED-4DB2-BD59-A6C34878D82A}">
                    <a16:rowId xmlns:a16="http://schemas.microsoft.com/office/drawing/2014/main" val="3800467457"/>
                  </a:ext>
                </a:extLst>
              </a:tr>
            </a:tbl>
          </a:graphicData>
        </a:graphic>
      </p:graphicFrame>
      <p:sp>
        <p:nvSpPr>
          <p:cNvPr id="8" name="CuadroTexto 7">
            <a:extLst>
              <a:ext uri="{FF2B5EF4-FFF2-40B4-BE49-F238E27FC236}">
                <a16:creationId xmlns:a16="http://schemas.microsoft.com/office/drawing/2014/main" id="{204EC763-9757-E0F5-366E-CC95B786BF70}"/>
              </a:ext>
            </a:extLst>
          </p:cNvPr>
          <p:cNvSpPr txBox="1"/>
          <p:nvPr/>
        </p:nvSpPr>
        <p:spPr>
          <a:xfrm>
            <a:off x="472031" y="4048011"/>
            <a:ext cx="101228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latin typeface="Trebuchet MS" panose="020B0603020202020204" pitchFamily="34" charset="0"/>
                <a:ea typeface="Calibri"/>
                <a:cs typeface="Calibri"/>
              </a:rPr>
              <a:t>Para más detalles de todo el proceso visita </a:t>
            </a:r>
            <a:r>
              <a:rPr lang="es-ES" b="1" dirty="0">
                <a:latin typeface="Trebuchet MS" panose="020B0603020202020204" pitchFamily="34" charset="0"/>
                <a:ea typeface="+mn-lt"/>
                <a:cs typeface="+mn-lt"/>
              </a:rPr>
              <a:t>https://owasp.org/www-project-vulnerability-management-guide/OWASP-Vuln-Mgm-Guide-Jun05-2020.pdf</a:t>
            </a:r>
            <a:endParaRPr lang="es-ES" b="1" dirty="0">
              <a:latin typeface="Trebuchet MS" panose="020B0603020202020204" pitchFamily="34" charset="0"/>
            </a:endParaRPr>
          </a:p>
        </p:txBody>
      </p:sp>
    </p:spTree>
    <p:extLst>
      <p:ext uri="{BB962C8B-B14F-4D97-AF65-F5344CB8AC3E}">
        <p14:creationId xmlns:p14="http://schemas.microsoft.com/office/powerpoint/2010/main" val="2178797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E7FB0-AF55-46A8-FE7F-36300F9EA346}"/>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24F2F6AB-D95A-75BE-696D-58C605821AFF}"/>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3B7F3448-BFA9-DF62-5E8E-4CE204462D4F}"/>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D8E979E1-2B64-C5E5-5130-C5C904A47DBB}"/>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Definición y refinamiento de métricas</a:t>
            </a:r>
          </a:p>
        </p:txBody>
      </p:sp>
      <p:pic>
        <p:nvPicPr>
          <p:cNvPr id="6" name="Imagen 5" descr="Interfaz de usuario gráfica&#10;&#10;El contenido generado por IA puede ser incorrecto.">
            <a:extLst>
              <a:ext uri="{FF2B5EF4-FFF2-40B4-BE49-F238E27FC236}">
                <a16:creationId xmlns:a16="http://schemas.microsoft.com/office/drawing/2014/main" id="{2C2DB11C-15FE-9913-E6B6-211A1A11440F}"/>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2" name="CuadroTexto 1">
            <a:extLst>
              <a:ext uri="{FF2B5EF4-FFF2-40B4-BE49-F238E27FC236}">
                <a16:creationId xmlns:a16="http://schemas.microsoft.com/office/drawing/2014/main" id="{7F77790A-4E9C-30BB-2459-AA3A0DD033C7}"/>
              </a:ext>
            </a:extLst>
          </p:cNvPr>
          <p:cNvSpPr txBox="1"/>
          <p:nvPr/>
        </p:nvSpPr>
        <p:spPr>
          <a:xfrm>
            <a:off x="446154" y="1383774"/>
            <a:ext cx="986021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dirty="0">
                <a:latin typeface="Trebuchet MS" panose="020B0603020202020204" pitchFamily="34" charset="0"/>
                <a:ea typeface="+mn-lt"/>
                <a:cs typeface="+mn-lt"/>
              </a:rPr>
              <a:t>Generar métricas confiables y relevantes para la gestión de vulnerabilidades</a:t>
            </a:r>
            <a:endParaRPr lang="es-ES" dirty="0">
              <a:latin typeface="Trebuchet MS" panose="020B0603020202020204" pitchFamily="34" charset="0"/>
            </a:endParaRPr>
          </a:p>
        </p:txBody>
      </p:sp>
      <p:graphicFrame>
        <p:nvGraphicFramePr>
          <p:cNvPr id="3" name="Tabla 2">
            <a:extLst>
              <a:ext uri="{FF2B5EF4-FFF2-40B4-BE49-F238E27FC236}">
                <a16:creationId xmlns:a16="http://schemas.microsoft.com/office/drawing/2014/main" id="{B8641C78-5FBE-71AD-C27E-2FC3AB800143}"/>
              </a:ext>
            </a:extLst>
          </p:cNvPr>
          <p:cNvGraphicFramePr>
            <a:graphicFrameLocks noGrp="1"/>
          </p:cNvGraphicFramePr>
          <p:nvPr>
            <p:extLst>
              <p:ext uri="{D42A27DB-BD31-4B8C-83A1-F6EECF244321}">
                <p14:modId xmlns:p14="http://schemas.microsoft.com/office/powerpoint/2010/main" val="3028259744"/>
              </p:ext>
            </p:extLst>
          </p:nvPr>
        </p:nvGraphicFramePr>
        <p:xfrm>
          <a:off x="591622" y="2143149"/>
          <a:ext cx="9550660" cy="1647028"/>
        </p:xfrm>
        <a:graphic>
          <a:graphicData uri="http://schemas.openxmlformats.org/drawingml/2006/table">
            <a:tbl>
              <a:tblPr firstRow="1" bandRow="1">
                <a:tableStyleId>{69CF1AB2-1976-4502-BF36-3FF5EA218861}</a:tableStyleId>
              </a:tblPr>
              <a:tblGrid>
                <a:gridCol w="9550660">
                  <a:extLst>
                    <a:ext uri="{9D8B030D-6E8A-4147-A177-3AD203B41FA5}">
                      <a16:colId xmlns:a16="http://schemas.microsoft.com/office/drawing/2014/main" val="4175657569"/>
                    </a:ext>
                  </a:extLst>
                </a:gridCol>
              </a:tblGrid>
              <a:tr h="638623">
                <a:tc>
                  <a:txBody>
                    <a:bodyPr/>
                    <a:lstStyle/>
                    <a:p>
                      <a:pPr lvl="0">
                        <a:buNone/>
                      </a:pPr>
                      <a:r>
                        <a:rPr lang="es-ES" sz="1800" b="0" i="0" u="none" strike="noStrike" noProof="0" dirty="0">
                          <a:latin typeface="Trebuchet MS" panose="020B0603020202020204" pitchFamily="34" charset="0"/>
                        </a:rPr>
                        <a:t>Evaluar la cantidad y porcentaje de activos vulnerables, su gravedad según el puntaje CVSS, la aparición de nuevas vulnerabilidades y su evolución en el tiempo.</a:t>
                      </a:r>
                      <a:endParaRPr lang="es-ES" i="0" dirty="0">
                        <a:latin typeface="Trebuchet MS" panose="020B0603020202020204" pitchFamily="34" charset="0"/>
                      </a:endParaRPr>
                    </a:p>
                  </a:txBody>
                  <a:tcPr/>
                </a:tc>
                <a:extLst>
                  <a:ext uri="{0D108BD9-81ED-4DB2-BD59-A6C34878D82A}">
                    <a16:rowId xmlns:a16="http://schemas.microsoft.com/office/drawing/2014/main" val="3800467457"/>
                  </a:ext>
                </a:extLst>
              </a:tr>
              <a:tr h="638623">
                <a:tc>
                  <a:txBody>
                    <a:bodyPr/>
                    <a:lstStyle/>
                    <a:p>
                      <a:pPr lvl="0">
                        <a:buNone/>
                      </a:pPr>
                      <a:r>
                        <a:rPr lang="es-ES" sz="1800" b="0" i="0" u="none" strike="noStrike" noProof="0" dirty="0">
                          <a:latin typeface="Trebuchet MS" panose="020B0603020202020204" pitchFamily="34" charset="0"/>
                        </a:rPr>
                        <a:t>Identificar tendencias en la distribución de vulnerabilidades por grupo de activos, tipo de entorno, sistema operativo y tipo de vulnerabilidad. </a:t>
                      </a:r>
                      <a:endParaRPr lang="es-ES" dirty="0">
                        <a:latin typeface="Trebuchet MS" panose="020B0603020202020204" pitchFamily="34" charset="0"/>
                      </a:endParaRPr>
                    </a:p>
                  </a:txBody>
                  <a:tcPr/>
                </a:tc>
                <a:extLst>
                  <a:ext uri="{0D108BD9-81ED-4DB2-BD59-A6C34878D82A}">
                    <a16:rowId xmlns:a16="http://schemas.microsoft.com/office/drawing/2014/main" val="2285186589"/>
                  </a:ext>
                </a:extLst>
              </a:tr>
              <a:tr h="366868">
                <a:tc>
                  <a:txBody>
                    <a:bodyPr/>
                    <a:lstStyle/>
                    <a:p>
                      <a:pPr lvl="0">
                        <a:buNone/>
                      </a:pPr>
                      <a:r>
                        <a:rPr lang="es-ES" sz="1800" b="0" i="0" u="none" strike="noStrike" noProof="0" dirty="0">
                          <a:latin typeface="Trebuchet MS" panose="020B0603020202020204" pitchFamily="34" charset="0"/>
                        </a:rPr>
                        <a:t>Analizar la capacidad de explotación de los activos vulnerables.</a:t>
                      </a:r>
                      <a:endParaRPr lang="es-ES" dirty="0">
                        <a:latin typeface="Trebuchet MS" panose="020B0603020202020204" pitchFamily="34" charset="0"/>
                      </a:endParaRPr>
                    </a:p>
                  </a:txBody>
                  <a:tcPr/>
                </a:tc>
                <a:extLst>
                  <a:ext uri="{0D108BD9-81ED-4DB2-BD59-A6C34878D82A}">
                    <a16:rowId xmlns:a16="http://schemas.microsoft.com/office/drawing/2014/main" val="3675286783"/>
                  </a:ext>
                </a:extLst>
              </a:tr>
            </a:tbl>
          </a:graphicData>
        </a:graphic>
      </p:graphicFrame>
      <p:sp>
        <p:nvSpPr>
          <p:cNvPr id="4" name="CuadroTexto 3">
            <a:extLst>
              <a:ext uri="{FF2B5EF4-FFF2-40B4-BE49-F238E27FC236}">
                <a16:creationId xmlns:a16="http://schemas.microsoft.com/office/drawing/2014/main" id="{60202B3D-5DC8-96A7-7C8B-974FB618792D}"/>
              </a:ext>
            </a:extLst>
          </p:cNvPr>
          <p:cNvSpPr txBox="1"/>
          <p:nvPr/>
        </p:nvSpPr>
        <p:spPr>
          <a:xfrm>
            <a:off x="446154" y="4694824"/>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spTree>
    <p:extLst>
      <p:ext uri="{BB962C8B-B14F-4D97-AF65-F5344CB8AC3E}">
        <p14:creationId xmlns:p14="http://schemas.microsoft.com/office/powerpoint/2010/main" val="1448145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9FD0F-C549-82A7-2F8A-592BAE6097E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34D3F849-00F5-57A9-9F0F-71CC300337A8}"/>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74D75D9B-F20F-4CC8-2EC9-5016711B4956}"/>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6BA8A614-52DD-E39E-3F51-3DAAA22B6200}"/>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Creación de pista de auditoría</a:t>
            </a:r>
          </a:p>
        </p:txBody>
      </p:sp>
      <p:pic>
        <p:nvPicPr>
          <p:cNvPr id="6" name="Imagen 5" descr="Interfaz de usuario gráfica&#10;&#10;El contenido generado por IA puede ser incorrecto.">
            <a:extLst>
              <a:ext uri="{FF2B5EF4-FFF2-40B4-BE49-F238E27FC236}">
                <a16:creationId xmlns:a16="http://schemas.microsoft.com/office/drawing/2014/main" id="{9221CE4E-5A75-EA4E-967D-C8515890CB42}"/>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5" name="CuadroTexto 4">
            <a:extLst>
              <a:ext uri="{FF2B5EF4-FFF2-40B4-BE49-F238E27FC236}">
                <a16:creationId xmlns:a16="http://schemas.microsoft.com/office/drawing/2014/main" id="{D0103AF9-9C20-FD9E-6573-5D2D01AAA754}"/>
              </a:ext>
            </a:extLst>
          </p:cNvPr>
          <p:cNvSpPr txBox="1"/>
          <p:nvPr/>
        </p:nvSpPr>
        <p:spPr>
          <a:xfrm>
            <a:off x="429768" y="1436182"/>
            <a:ext cx="1090534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a:latin typeface="Trebuchet MS" panose="020B0603020202020204" pitchFamily="34" charset="0"/>
                <a:ea typeface="+mn-lt"/>
                <a:cs typeface="+mn-lt"/>
              </a:rPr>
              <a:t>Documentar las acciones correctivas y relevantes para la gestión de vulnerabilidades.</a:t>
            </a:r>
            <a:endParaRPr lang="es-ES">
              <a:latin typeface="Trebuchet MS" panose="020B0603020202020204" pitchFamily="34" charset="0"/>
            </a:endParaRPr>
          </a:p>
        </p:txBody>
      </p:sp>
      <p:graphicFrame>
        <p:nvGraphicFramePr>
          <p:cNvPr id="7" name="Tabla 6">
            <a:extLst>
              <a:ext uri="{FF2B5EF4-FFF2-40B4-BE49-F238E27FC236}">
                <a16:creationId xmlns:a16="http://schemas.microsoft.com/office/drawing/2014/main" id="{88522D0D-DDD6-5C25-B028-89122CC2CD8A}"/>
              </a:ext>
            </a:extLst>
          </p:cNvPr>
          <p:cNvGraphicFramePr>
            <a:graphicFrameLocks noGrp="1"/>
          </p:cNvGraphicFramePr>
          <p:nvPr>
            <p:extLst>
              <p:ext uri="{D42A27DB-BD31-4B8C-83A1-F6EECF244321}">
                <p14:modId xmlns:p14="http://schemas.microsoft.com/office/powerpoint/2010/main" val="2058142139"/>
              </p:ext>
            </p:extLst>
          </p:nvPr>
        </p:nvGraphicFramePr>
        <p:xfrm>
          <a:off x="523478" y="2240279"/>
          <a:ext cx="10122862" cy="1188720"/>
        </p:xfrm>
        <a:graphic>
          <a:graphicData uri="http://schemas.openxmlformats.org/drawingml/2006/table">
            <a:tbl>
              <a:tblPr firstRow="1" bandRow="1">
                <a:tableStyleId>{69CF1AB2-1976-4502-BF36-3FF5EA218861}</a:tableStyleId>
              </a:tblPr>
              <a:tblGrid>
                <a:gridCol w="10122862">
                  <a:extLst>
                    <a:ext uri="{9D8B030D-6E8A-4147-A177-3AD203B41FA5}">
                      <a16:colId xmlns:a16="http://schemas.microsoft.com/office/drawing/2014/main" val="4175657569"/>
                    </a:ext>
                  </a:extLst>
                </a:gridCol>
              </a:tblGrid>
              <a:tr h="774500">
                <a:tc>
                  <a:txBody>
                    <a:bodyPr/>
                    <a:lstStyle/>
                    <a:p>
                      <a:pPr lvl="0">
                        <a:buNone/>
                      </a:pPr>
                      <a:r>
                        <a:rPr lang="es-ES" sz="1800" b="0" i="0" u="none" strike="noStrike" noProof="0" dirty="0">
                          <a:latin typeface="Trebuchet MS" panose="020B0603020202020204" pitchFamily="34" charset="0"/>
                        </a:rPr>
                        <a:t>Utilizar el sistema de tickets de la organización para registrar cada caso, incluyendo una descripción del problema, los resultados obtenidos de las herramientas de escaneo, la asignación de responsabilidades a los equipos o personas encargadas de la corrección y la notificación a la gerencia o al CISO.</a:t>
                      </a:r>
                      <a:endParaRPr lang="es-ES" i="0" dirty="0">
                        <a:latin typeface="Trebuchet MS" panose="020B0603020202020204" pitchFamily="34" charset="0"/>
                      </a:endParaRPr>
                    </a:p>
                  </a:txBody>
                  <a:tcPr/>
                </a:tc>
                <a:extLst>
                  <a:ext uri="{0D108BD9-81ED-4DB2-BD59-A6C34878D82A}">
                    <a16:rowId xmlns:a16="http://schemas.microsoft.com/office/drawing/2014/main" val="3800467457"/>
                  </a:ext>
                </a:extLst>
              </a:tr>
            </a:tbl>
          </a:graphicData>
        </a:graphic>
      </p:graphicFrame>
      <p:sp>
        <p:nvSpPr>
          <p:cNvPr id="8" name="CuadroTexto 7">
            <a:extLst>
              <a:ext uri="{FF2B5EF4-FFF2-40B4-BE49-F238E27FC236}">
                <a16:creationId xmlns:a16="http://schemas.microsoft.com/office/drawing/2014/main" id="{81774EB9-4BA1-D16D-9EF3-34EB1C38727D}"/>
              </a:ext>
            </a:extLst>
          </p:cNvPr>
          <p:cNvSpPr txBox="1"/>
          <p:nvPr/>
        </p:nvSpPr>
        <p:spPr>
          <a:xfrm>
            <a:off x="429768" y="4179408"/>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spTree>
    <p:extLst>
      <p:ext uri="{BB962C8B-B14F-4D97-AF65-F5344CB8AC3E}">
        <p14:creationId xmlns:p14="http://schemas.microsoft.com/office/powerpoint/2010/main" val="26289215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F9BD-49C6-5AF1-C0D7-B7FC764150BC}"/>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860D13AF-94F6-BAFA-D00D-559DBB09B9C4}"/>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909CBCE9-0ACF-7A4B-FC0F-4D336B7797AB}"/>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A18354C7-0CD5-70D8-5109-3F1A4266CC93}"/>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Creación de informes</a:t>
            </a:r>
          </a:p>
        </p:txBody>
      </p:sp>
      <p:pic>
        <p:nvPicPr>
          <p:cNvPr id="6" name="Imagen 5" descr="Interfaz de usuario gráfica&#10;&#10;El contenido generado por IA puede ser incorrecto.">
            <a:extLst>
              <a:ext uri="{FF2B5EF4-FFF2-40B4-BE49-F238E27FC236}">
                <a16:creationId xmlns:a16="http://schemas.microsoft.com/office/drawing/2014/main" id="{B2D81B73-C627-109B-C9B5-19C09E16375D}"/>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2" name="CuadroTexto 1">
            <a:extLst>
              <a:ext uri="{FF2B5EF4-FFF2-40B4-BE49-F238E27FC236}">
                <a16:creationId xmlns:a16="http://schemas.microsoft.com/office/drawing/2014/main" id="{BEEE18CC-6338-2757-C30B-2ACB06CC6585}"/>
              </a:ext>
            </a:extLst>
          </p:cNvPr>
          <p:cNvSpPr txBox="1"/>
          <p:nvPr/>
        </p:nvSpPr>
        <p:spPr>
          <a:xfrm>
            <a:off x="480651" y="1047343"/>
            <a:ext cx="986021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a:latin typeface="Trebuchet MS" panose="020B0603020202020204" pitchFamily="34" charset="0"/>
                <a:ea typeface="+mn-lt"/>
                <a:cs typeface="+mn-lt"/>
              </a:rPr>
              <a:t>Presentar los hallazgos de manera clara y comprensible para la audiencia.</a:t>
            </a:r>
            <a:endParaRPr lang="es-ES">
              <a:latin typeface="Trebuchet MS" panose="020B0603020202020204" pitchFamily="34" charset="0"/>
            </a:endParaRPr>
          </a:p>
        </p:txBody>
      </p:sp>
      <p:graphicFrame>
        <p:nvGraphicFramePr>
          <p:cNvPr id="3" name="Tabla 2">
            <a:extLst>
              <a:ext uri="{FF2B5EF4-FFF2-40B4-BE49-F238E27FC236}">
                <a16:creationId xmlns:a16="http://schemas.microsoft.com/office/drawing/2014/main" id="{2EA9F0D3-6030-41BB-CAF0-32B9D7A9D24F}"/>
              </a:ext>
            </a:extLst>
          </p:cNvPr>
          <p:cNvGraphicFramePr>
            <a:graphicFrameLocks noGrp="1"/>
          </p:cNvGraphicFramePr>
          <p:nvPr>
            <p:extLst>
              <p:ext uri="{D42A27DB-BD31-4B8C-83A1-F6EECF244321}">
                <p14:modId xmlns:p14="http://schemas.microsoft.com/office/powerpoint/2010/main" val="1302643517"/>
              </p:ext>
            </p:extLst>
          </p:nvPr>
        </p:nvGraphicFramePr>
        <p:xfrm>
          <a:off x="773069" y="1527014"/>
          <a:ext cx="9848988" cy="3880932"/>
        </p:xfrm>
        <a:graphic>
          <a:graphicData uri="http://schemas.openxmlformats.org/drawingml/2006/table">
            <a:tbl>
              <a:tblPr firstRow="1" bandRow="1">
                <a:tableStyleId>{69CF1AB2-1976-4502-BF36-3FF5EA218861}</a:tableStyleId>
              </a:tblPr>
              <a:tblGrid>
                <a:gridCol w="9848988">
                  <a:extLst>
                    <a:ext uri="{9D8B030D-6E8A-4147-A177-3AD203B41FA5}">
                      <a16:colId xmlns:a16="http://schemas.microsoft.com/office/drawing/2014/main" val="580400651"/>
                    </a:ext>
                  </a:extLst>
                </a:gridCol>
              </a:tblGrid>
              <a:tr h="501297">
                <a:tc>
                  <a:txBody>
                    <a:bodyPr/>
                    <a:lstStyle/>
                    <a:p>
                      <a:pPr lvl="0">
                        <a:buNone/>
                      </a:pPr>
                      <a:r>
                        <a:rPr lang="es-ES" sz="1600" b="0" i="0" u="none" strike="noStrike" noProof="0" dirty="0">
                          <a:latin typeface="Trebuchet MS" panose="020B0603020202020204" pitchFamily="34" charset="0"/>
                        </a:rPr>
                        <a:t>Establecer una frecuencia adecuada para la generación de informes, permitiendo monitorear cambios en el estado de las vulnerabilidades. </a:t>
                      </a:r>
                      <a:endParaRPr lang="es-ES" sz="1600" dirty="0">
                        <a:latin typeface="Trebuchet MS" panose="020B0603020202020204" pitchFamily="34" charset="0"/>
                      </a:endParaRPr>
                    </a:p>
                  </a:txBody>
                  <a:tcPr/>
                </a:tc>
                <a:extLst>
                  <a:ext uri="{0D108BD9-81ED-4DB2-BD59-A6C34878D82A}">
                    <a16:rowId xmlns:a16="http://schemas.microsoft.com/office/drawing/2014/main" val="1835896373"/>
                  </a:ext>
                </a:extLst>
              </a:tr>
              <a:tr h="366868">
                <a:tc>
                  <a:txBody>
                    <a:bodyPr/>
                    <a:lstStyle/>
                    <a:p>
                      <a:pPr lvl="0">
                        <a:buNone/>
                      </a:pPr>
                      <a:r>
                        <a:rPr lang="es-ES" sz="1600" b="0" i="0" u="none" strike="noStrike" noProof="0" dirty="0">
                          <a:latin typeface="Trebuchet MS" panose="020B0603020202020204" pitchFamily="34" charset="0"/>
                        </a:rPr>
                        <a:t>Consolidar los datos obtenidos de las mediciones. </a:t>
                      </a:r>
                      <a:endParaRPr lang="es-ES" sz="1600" dirty="0">
                        <a:latin typeface="Trebuchet MS" panose="020B0603020202020204" pitchFamily="34" charset="0"/>
                      </a:endParaRPr>
                    </a:p>
                  </a:txBody>
                  <a:tcPr/>
                </a:tc>
                <a:extLst>
                  <a:ext uri="{0D108BD9-81ED-4DB2-BD59-A6C34878D82A}">
                    <a16:rowId xmlns:a16="http://schemas.microsoft.com/office/drawing/2014/main" val="3780260209"/>
                  </a:ext>
                </a:extLst>
              </a:tr>
              <a:tr h="366868">
                <a:tc>
                  <a:txBody>
                    <a:bodyPr/>
                    <a:lstStyle/>
                    <a:p>
                      <a:pPr lvl="0">
                        <a:buNone/>
                      </a:pPr>
                      <a:r>
                        <a:rPr lang="es-ES" sz="1600" b="0" i="0" u="none" strike="noStrike" noProof="0" dirty="0">
                          <a:latin typeface="Trebuchet MS" panose="020B0603020202020204" pitchFamily="34" charset="0"/>
                        </a:rPr>
                        <a:t>Realizar un análisis detallado de las vulnerabilidades utilizando el sistema CVSS.</a:t>
                      </a:r>
                      <a:endParaRPr lang="es-ES" sz="1600" dirty="0">
                        <a:latin typeface="Trebuchet MS" panose="020B0603020202020204" pitchFamily="34" charset="0"/>
                      </a:endParaRPr>
                    </a:p>
                  </a:txBody>
                  <a:tcPr/>
                </a:tc>
                <a:extLst>
                  <a:ext uri="{0D108BD9-81ED-4DB2-BD59-A6C34878D82A}">
                    <a16:rowId xmlns:a16="http://schemas.microsoft.com/office/drawing/2014/main" val="396917808"/>
                  </a:ext>
                </a:extLst>
              </a:tr>
              <a:tr h="366868">
                <a:tc>
                  <a:txBody>
                    <a:bodyPr/>
                    <a:lstStyle/>
                    <a:p>
                      <a:pPr lvl="0">
                        <a:buNone/>
                      </a:pPr>
                      <a:r>
                        <a:rPr lang="es-ES" sz="1600" b="0" i="0" u="none" strike="noStrike" noProof="0" dirty="0">
                          <a:latin typeface="Trebuchet MS" panose="020B0603020202020204" pitchFamily="34" charset="0"/>
                        </a:rPr>
                        <a:t>Identificar tendencias y realizar predicciones sobre el comportamiento futuro de las vulnerabilidades. </a:t>
                      </a:r>
                      <a:endParaRPr lang="es-ES" sz="1600" dirty="0">
                        <a:latin typeface="Trebuchet MS" panose="020B0603020202020204" pitchFamily="34" charset="0"/>
                      </a:endParaRPr>
                    </a:p>
                  </a:txBody>
                  <a:tcPr/>
                </a:tc>
                <a:extLst>
                  <a:ext uri="{0D108BD9-81ED-4DB2-BD59-A6C34878D82A}">
                    <a16:rowId xmlns:a16="http://schemas.microsoft.com/office/drawing/2014/main" val="720121581"/>
                  </a:ext>
                </a:extLst>
              </a:tr>
              <a:tr h="366868">
                <a:tc>
                  <a:txBody>
                    <a:bodyPr/>
                    <a:lstStyle/>
                    <a:p>
                      <a:pPr lvl="0">
                        <a:buNone/>
                      </a:pPr>
                      <a:r>
                        <a:rPr lang="es-ES" sz="1600" b="0" i="0" u="none" strike="noStrike" noProof="0" dirty="0">
                          <a:latin typeface="Trebuchet MS" panose="020B0603020202020204" pitchFamily="34" charset="0"/>
                        </a:rPr>
                        <a:t>Incluir recomendaciones para la mejora del proceso de gestión de vulnerabilidades. </a:t>
                      </a:r>
                      <a:endParaRPr lang="es-ES" sz="1600" dirty="0">
                        <a:latin typeface="Trebuchet MS" panose="020B0603020202020204" pitchFamily="34" charset="0"/>
                      </a:endParaRPr>
                    </a:p>
                  </a:txBody>
                  <a:tcPr/>
                </a:tc>
                <a:extLst>
                  <a:ext uri="{0D108BD9-81ED-4DB2-BD59-A6C34878D82A}">
                    <a16:rowId xmlns:a16="http://schemas.microsoft.com/office/drawing/2014/main" val="3193060473"/>
                  </a:ext>
                </a:extLst>
              </a:tr>
              <a:tr h="366868">
                <a:tc>
                  <a:txBody>
                    <a:bodyPr/>
                    <a:lstStyle/>
                    <a:p>
                      <a:pPr lvl="0">
                        <a:buNone/>
                      </a:pPr>
                      <a:r>
                        <a:rPr lang="es-ES" sz="1600" b="0" i="0" u="none" strike="noStrike" noProof="0" dirty="0">
                          <a:latin typeface="Trebuchet MS" panose="020B0603020202020204" pitchFamily="34" charset="0"/>
                        </a:rPr>
                        <a:t>Clasificar la información según su sensibilidad. </a:t>
                      </a:r>
                      <a:endParaRPr lang="es-ES" sz="1600" dirty="0">
                        <a:latin typeface="Trebuchet MS" panose="020B0603020202020204" pitchFamily="34" charset="0"/>
                      </a:endParaRPr>
                    </a:p>
                  </a:txBody>
                  <a:tcPr/>
                </a:tc>
                <a:extLst>
                  <a:ext uri="{0D108BD9-81ED-4DB2-BD59-A6C34878D82A}">
                    <a16:rowId xmlns:a16="http://schemas.microsoft.com/office/drawing/2014/main" val="1677023473"/>
                  </a:ext>
                </a:extLst>
              </a:tr>
              <a:tr h="366868">
                <a:tc>
                  <a:txBody>
                    <a:bodyPr/>
                    <a:lstStyle/>
                    <a:p>
                      <a:pPr lvl="0">
                        <a:buNone/>
                      </a:pPr>
                      <a:r>
                        <a:rPr lang="es-ES" sz="1600" b="0" i="0" u="none" strike="noStrike" noProof="0" dirty="0">
                          <a:latin typeface="Trebuchet MS" panose="020B0603020202020204" pitchFamily="34" charset="0"/>
                        </a:rPr>
                        <a:t>Establecer una extensión máxima de dos páginas para el informe. </a:t>
                      </a:r>
                      <a:endParaRPr lang="es-ES" sz="1600" dirty="0">
                        <a:latin typeface="Trebuchet MS" panose="020B0603020202020204" pitchFamily="34" charset="0"/>
                      </a:endParaRPr>
                    </a:p>
                  </a:txBody>
                  <a:tcPr/>
                </a:tc>
                <a:extLst>
                  <a:ext uri="{0D108BD9-81ED-4DB2-BD59-A6C34878D82A}">
                    <a16:rowId xmlns:a16="http://schemas.microsoft.com/office/drawing/2014/main" val="2351488244"/>
                  </a:ext>
                </a:extLst>
              </a:tr>
              <a:tr h="366868">
                <a:tc>
                  <a:txBody>
                    <a:bodyPr/>
                    <a:lstStyle/>
                    <a:p>
                      <a:pPr lvl="0">
                        <a:buNone/>
                      </a:pPr>
                      <a:r>
                        <a:rPr lang="es-ES" sz="1600" b="0" i="0" u="none" strike="noStrike" noProof="0" dirty="0">
                          <a:latin typeface="Trebuchet MS" panose="020B0603020202020204" pitchFamily="34" charset="0"/>
                        </a:rPr>
                        <a:t>Distribuir el informe completo y un resumen ejecutivo al gerente o CISO. </a:t>
                      </a:r>
                      <a:endParaRPr lang="es-ES" sz="1600" dirty="0">
                        <a:latin typeface="Trebuchet MS" panose="020B0603020202020204" pitchFamily="34" charset="0"/>
                      </a:endParaRPr>
                    </a:p>
                  </a:txBody>
                  <a:tcPr/>
                </a:tc>
                <a:extLst>
                  <a:ext uri="{0D108BD9-81ED-4DB2-BD59-A6C34878D82A}">
                    <a16:rowId xmlns:a16="http://schemas.microsoft.com/office/drawing/2014/main" val="3898315039"/>
                  </a:ext>
                </a:extLst>
              </a:tr>
              <a:tr h="366868">
                <a:tc>
                  <a:txBody>
                    <a:bodyPr/>
                    <a:lstStyle/>
                    <a:p>
                      <a:pPr lvl="0">
                        <a:buNone/>
                      </a:pPr>
                      <a:r>
                        <a:rPr lang="es-ES" sz="1600" b="0" i="0" u="none" strike="noStrike" noProof="0" dirty="0">
                          <a:latin typeface="Trebuchet MS" panose="020B0603020202020204" pitchFamily="34" charset="0"/>
                        </a:rPr>
                        <a:t>Crear y mantener un repositorio interno de vulnerabilidades para auditorías internas o externas. </a:t>
                      </a:r>
                      <a:endParaRPr lang="es-ES" sz="1600" dirty="0">
                        <a:latin typeface="Trebuchet MS" panose="020B0603020202020204" pitchFamily="34" charset="0"/>
                      </a:endParaRPr>
                    </a:p>
                  </a:txBody>
                  <a:tcPr/>
                </a:tc>
                <a:extLst>
                  <a:ext uri="{0D108BD9-81ED-4DB2-BD59-A6C34878D82A}">
                    <a16:rowId xmlns:a16="http://schemas.microsoft.com/office/drawing/2014/main" val="3021673335"/>
                  </a:ext>
                </a:extLst>
              </a:tr>
              <a:tr h="366868">
                <a:tc>
                  <a:txBody>
                    <a:bodyPr/>
                    <a:lstStyle/>
                    <a:p>
                      <a:pPr lvl="0">
                        <a:buNone/>
                      </a:pPr>
                      <a:r>
                        <a:rPr lang="es-ES" sz="1600" b="0" i="0" u="none" strike="noStrike" noProof="0" dirty="0">
                          <a:latin typeface="Trebuchet MS" panose="020B0603020202020204" pitchFamily="34" charset="0"/>
                        </a:rPr>
                        <a:t>Adquirir la capacidad de explicar los detalles de la detección y el reporte de vulnerabilidades.</a:t>
                      </a:r>
                      <a:endParaRPr lang="es-ES" sz="1600" dirty="0">
                        <a:latin typeface="Trebuchet MS" panose="020B0603020202020204" pitchFamily="34" charset="0"/>
                      </a:endParaRPr>
                    </a:p>
                  </a:txBody>
                  <a:tcPr/>
                </a:tc>
                <a:extLst>
                  <a:ext uri="{0D108BD9-81ED-4DB2-BD59-A6C34878D82A}">
                    <a16:rowId xmlns:a16="http://schemas.microsoft.com/office/drawing/2014/main" val="1786744770"/>
                  </a:ext>
                </a:extLst>
              </a:tr>
            </a:tbl>
          </a:graphicData>
        </a:graphic>
      </p:graphicFrame>
    </p:spTree>
    <p:extLst>
      <p:ext uri="{BB962C8B-B14F-4D97-AF65-F5344CB8AC3E}">
        <p14:creationId xmlns:p14="http://schemas.microsoft.com/office/powerpoint/2010/main" val="21647879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15C2A-3620-0DDE-633E-B4EE9EC9887E}"/>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979641D0-8014-001A-927D-39A2FDC59B29}"/>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179CDC25-6FCB-AE36-3A76-FE4AED3CACCA}"/>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514C4013-4B7F-FFA4-5C1C-DD1454E3666D}"/>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Ciclo de remediación</a:t>
            </a:r>
          </a:p>
        </p:txBody>
      </p:sp>
      <p:sp>
        <p:nvSpPr>
          <p:cNvPr id="2" name="TextBox 5">
            <a:extLst>
              <a:ext uri="{FF2B5EF4-FFF2-40B4-BE49-F238E27FC236}">
                <a16:creationId xmlns:a16="http://schemas.microsoft.com/office/drawing/2014/main" id="{001588C8-FD62-6E2A-2C5A-F922D030EAA7}"/>
              </a:ext>
            </a:extLst>
          </p:cNvPr>
          <p:cNvSpPr txBox="1"/>
          <p:nvPr/>
        </p:nvSpPr>
        <p:spPr>
          <a:xfrm>
            <a:off x="450233" y="953652"/>
            <a:ext cx="994243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500" dirty="0">
                <a:latin typeface="Century Gothic"/>
                <a:ea typeface="+mn-lt"/>
                <a:cs typeface="+mn-lt"/>
              </a:rPr>
              <a:t>El </a:t>
            </a:r>
            <a:r>
              <a:rPr lang="en-US" sz="1500" dirty="0" err="1">
                <a:latin typeface="Century Gothic"/>
                <a:ea typeface="+mn-lt"/>
                <a:cs typeface="+mn-lt"/>
              </a:rPr>
              <a:t>ciclo</a:t>
            </a:r>
            <a:r>
              <a:rPr lang="en-US" sz="1500" dirty="0">
                <a:latin typeface="Century Gothic"/>
                <a:ea typeface="+mn-lt"/>
                <a:cs typeface="+mn-lt"/>
              </a:rPr>
              <a:t> de </a:t>
            </a:r>
            <a:r>
              <a:rPr lang="en-US" sz="1500" dirty="0" err="1">
                <a:latin typeface="Century Gothic"/>
                <a:ea typeface="+mn-lt"/>
                <a:cs typeface="+mn-lt"/>
              </a:rPr>
              <a:t>remediación</a:t>
            </a:r>
            <a:r>
              <a:rPr lang="en-US" sz="1500" dirty="0">
                <a:latin typeface="Century Gothic"/>
                <a:ea typeface="+mn-lt"/>
                <a:cs typeface="+mn-lt"/>
              </a:rPr>
              <a:t> se centra </a:t>
            </a:r>
            <a:r>
              <a:rPr lang="en-US" sz="1500" dirty="0" err="1">
                <a:latin typeface="Century Gothic"/>
                <a:ea typeface="+mn-lt"/>
                <a:cs typeface="+mn-lt"/>
              </a:rPr>
              <a:t>en</a:t>
            </a:r>
            <a:r>
              <a:rPr lang="en-US" sz="1500" dirty="0">
                <a:latin typeface="Century Gothic"/>
                <a:ea typeface="+mn-lt"/>
                <a:cs typeface="+mn-lt"/>
              </a:rPr>
              <a:t> las </a:t>
            </a:r>
            <a:r>
              <a:rPr lang="en-US" sz="1500" dirty="0" err="1">
                <a:latin typeface="Century Gothic"/>
                <a:ea typeface="+mn-lt"/>
                <a:cs typeface="+mn-lt"/>
              </a:rPr>
              <a:t>actividades</a:t>
            </a:r>
            <a:r>
              <a:rPr lang="en-US" sz="1500" dirty="0">
                <a:latin typeface="Century Gothic"/>
                <a:ea typeface="+mn-lt"/>
                <a:cs typeface="+mn-lt"/>
              </a:rPr>
              <a:t> </a:t>
            </a:r>
            <a:r>
              <a:rPr lang="en-US" sz="1500" dirty="0" err="1">
                <a:latin typeface="Century Gothic"/>
                <a:ea typeface="+mn-lt"/>
                <a:cs typeface="+mn-lt"/>
              </a:rPr>
              <a:t>que</a:t>
            </a:r>
            <a:r>
              <a:rPr lang="en-US" sz="1500" dirty="0">
                <a:latin typeface="Century Gothic"/>
                <a:ea typeface="+mn-lt"/>
                <a:cs typeface="+mn-lt"/>
              </a:rPr>
              <a:t> </a:t>
            </a:r>
            <a:r>
              <a:rPr lang="en-US" sz="1500" dirty="0" err="1">
                <a:latin typeface="Century Gothic"/>
                <a:ea typeface="+mn-lt"/>
                <a:cs typeface="+mn-lt"/>
              </a:rPr>
              <a:t>ayudan</a:t>
            </a:r>
            <a:r>
              <a:rPr lang="en-US" sz="1500" dirty="0">
                <a:latin typeface="Century Gothic"/>
                <a:ea typeface="+mn-lt"/>
                <a:cs typeface="+mn-lt"/>
              </a:rPr>
              <a:t> a </a:t>
            </a:r>
            <a:r>
              <a:rPr lang="en-US" sz="1500" dirty="0" err="1">
                <a:latin typeface="Century Gothic"/>
                <a:ea typeface="+mn-lt"/>
                <a:cs typeface="+mn-lt"/>
              </a:rPr>
              <a:t>mitigar</a:t>
            </a:r>
            <a:r>
              <a:rPr lang="en-US" sz="1500" dirty="0">
                <a:latin typeface="Century Gothic"/>
                <a:ea typeface="+mn-lt"/>
                <a:cs typeface="+mn-lt"/>
              </a:rPr>
              <a:t> o </a:t>
            </a:r>
            <a:r>
              <a:rPr lang="en-US" sz="1500" dirty="0" err="1">
                <a:latin typeface="Century Gothic"/>
                <a:ea typeface="+mn-lt"/>
                <a:cs typeface="+mn-lt"/>
              </a:rPr>
              <a:t>eliminar</a:t>
            </a:r>
            <a:r>
              <a:rPr lang="en-US" sz="1500" dirty="0">
                <a:latin typeface="Century Gothic"/>
                <a:ea typeface="+mn-lt"/>
                <a:cs typeface="+mn-lt"/>
              </a:rPr>
              <a:t> </a:t>
            </a:r>
            <a:r>
              <a:rPr lang="en-US" sz="1500" dirty="0" err="1">
                <a:latin typeface="Century Gothic"/>
                <a:ea typeface="+mn-lt"/>
                <a:cs typeface="+mn-lt"/>
              </a:rPr>
              <a:t>vulnerabilidades</a:t>
            </a:r>
            <a:r>
              <a:rPr lang="en-US" sz="1500" dirty="0">
                <a:latin typeface="Century Gothic"/>
                <a:ea typeface="+mn-lt"/>
                <a:cs typeface="+mn-lt"/>
              </a:rPr>
              <a:t>, </a:t>
            </a:r>
            <a:r>
              <a:rPr lang="en-US" sz="1500" dirty="0" err="1">
                <a:latin typeface="Century Gothic"/>
                <a:ea typeface="+mn-lt"/>
                <a:cs typeface="+mn-lt"/>
              </a:rPr>
              <a:t>además</a:t>
            </a:r>
            <a:r>
              <a:rPr lang="en-US" sz="1500" dirty="0">
                <a:latin typeface="Century Gothic"/>
                <a:ea typeface="+mn-lt"/>
                <a:cs typeface="+mn-lt"/>
              </a:rPr>
              <a:t> de </a:t>
            </a:r>
            <a:r>
              <a:rPr lang="en-US" sz="1500" dirty="0" err="1">
                <a:latin typeface="Century Gothic"/>
                <a:ea typeface="+mn-lt"/>
                <a:cs typeface="+mn-lt"/>
              </a:rPr>
              <a:t>demostrar</a:t>
            </a:r>
            <a:r>
              <a:rPr lang="en-US" sz="1500" dirty="0">
                <a:latin typeface="Century Gothic"/>
                <a:ea typeface="+mn-lt"/>
                <a:cs typeface="+mn-lt"/>
              </a:rPr>
              <a:t> </a:t>
            </a:r>
            <a:r>
              <a:rPr lang="en-US" sz="1500" dirty="0" err="1">
                <a:latin typeface="Century Gothic"/>
                <a:ea typeface="+mn-lt"/>
                <a:cs typeface="+mn-lt"/>
              </a:rPr>
              <a:t>que</a:t>
            </a:r>
            <a:r>
              <a:rPr lang="en-US" sz="1500" dirty="0">
                <a:latin typeface="Century Gothic"/>
                <a:ea typeface="+mn-lt"/>
                <a:cs typeface="+mn-lt"/>
              </a:rPr>
              <a:t> </a:t>
            </a:r>
            <a:r>
              <a:rPr lang="en-US" sz="1500" dirty="0" err="1">
                <a:latin typeface="Century Gothic"/>
                <a:ea typeface="+mn-lt"/>
                <a:cs typeface="+mn-lt"/>
              </a:rPr>
              <a:t>una</a:t>
            </a:r>
            <a:r>
              <a:rPr lang="en-US" sz="1500" dirty="0">
                <a:latin typeface="Century Gothic"/>
                <a:ea typeface="+mn-lt"/>
                <a:cs typeface="+mn-lt"/>
              </a:rPr>
              <a:t> </a:t>
            </a:r>
            <a:r>
              <a:rPr lang="en-US" sz="1500" dirty="0" err="1">
                <a:latin typeface="Century Gothic"/>
                <a:ea typeface="+mn-lt"/>
                <a:cs typeface="+mn-lt"/>
              </a:rPr>
              <a:t>vulnerabilidad</a:t>
            </a:r>
            <a:r>
              <a:rPr lang="en-US" sz="1500" dirty="0">
                <a:latin typeface="Century Gothic"/>
                <a:ea typeface="+mn-lt"/>
                <a:cs typeface="+mn-lt"/>
              </a:rPr>
              <a:t> no </a:t>
            </a:r>
            <a:r>
              <a:rPr lang="en-US" sz="1500" dirty="0" err="1">
                <a:latin typeface="Century Gothic"/>
                <a:ea typeface="+mn-lt"/>
                <a:cs typeface="+mn-lt"/>
              </a:rPr>
              <a:t>representa</a:t>
            </a:r>
            <a:r>
              <a:rPr lang="en-US" sz="1500" dirty="0">
                <a:latin typeface="Century Gothic"/>
                <a:ea typeface="+mn-lt"/>
                <a:cs typeface="+mn-lt"/>
              </a:rPr>
              <a:t> un </a:t>
            </a:r>
            <a:r>
              <a:rPr lang="en-US" sz="1500" dirty="0" err="1">
                <a:latin typeface="Century Gothic"/>
                <a:ea typeface="+mn-lt"/>
                <a:cs typeface="+mn-lt"/>
              </a:rPr>
              <a:t>peligro</a:t>
            </a:r>
            <a:r>
              <a:rPr lang="en-US" sz="1500" dirty="0">
                <a:latin typeface="Century Gothic"/>
                <a:ea typeface="+mn-lt"/>
                <a:cs typeface="+mn-lt"/>
              </a:rPr>
              <a:t> real. Las </a:t>
            </a:r>
            <a:r>
              <a:rPr lang="en-US" sz="1500" dirty="0" err="1">
                <a:latin typeface="Century Gothic"/>
                <a:ea typeface="+mn-lt"/>
                <a:cs typeface="+mn-lt"/>
              </a:rPr>
              <a:t>tareas</a:t>
            </a:r>
            <a:r>
              <a:rPr lang="en-US" sz="1500" dirty="0">
                <a:latin typeface="Century Gothic"/>
                <a:ea typeface="+mn-lt"/>
                <a:cs typeface="+mn-lt"/>
              </a:rPr>
              <a:t> clave </a:t>
            </a:r>
            <a:r>
              <a:rPr lang="en-US" sz="1500" dirty="0" err="1">
                <a:latin typeface="Century Gothic"/>
                <a:ea typeface="+mn-lt"/>
                <a:cs typeface="+mn-lt"/>
              </a:rPr>
              <a:t>incluyen</a:t>
            </a:r>
            <a:r>
              <a:rPr lang="en-US" sz="1500" dirty="0">
                <a:latin typeface="Century Gothic"/>
                <a:ea typeface="+mn-lt"/>
                <a:cs typeface="+mn-lt"/>
              </a:rPr>
              <a:t>:</a:t>
            </a:r>
            <a:endParaRPr lang="es-ES" dirty="0">
              <a:latin typeface="Century Gothic"/>
              <a:ea typeface="+mn-lt"/>
              <a:cs typeface="+mn-lt"/>
            </a:endParaRPr>
          </a:p>
        </p:txBody>
      </p:sp>
      <p:sp>
        <p:nvSpPr>
          <p:cNvPr id="3" name="CuadroTexto 2">
            <a:extLst>
              <a:ext uri="{FF2B5EF4-FFF2-40B4-BE49-F238E27FC236}">
                <a16:creationId xmlns:a16="http://schemas.microsoft.com/office/drawing/2014/main" id="{6BF73E5F-A600-85A0-CF43-9B685C570B10}"/>
              </a:ext>
            </a:extLst>
          </p:cNvPr>
          <p:cNvSpPr txBox="1"/>
          <p:nvPr/>
        </p:nvSpPr>
        <p:spPr>
          <a:xfrm>
            <a:off x="2550629" y="1671040"/>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dirty="0">
                <a:latin typeface="Century Gothic"/>
                <a:ea typeface="Calibri"/>
                <a:cs typeface="Calibri"/>
              </a:rPr>
              <a:t>1. Priorización de vulnerabilidades: </a:t>
            </a:r>
            <a:r>
              <a:rPr lang="es-ES" sz="1500" dirty="0">
                <a:latin typeface="Century Gothic"/>
                <a:ea typeface="Calibri"/>
                <a:cs typeface="Calibri"/>
              </a:rPr>
              <a:t>Definir un enfoque basado en la información para priorizar las vulnerabilidades.</a:t>
            </a:r>
          </a:p>
        </p:txBody>
      </p:sp>
      <p:sp>
        <p:nvSpPr>
          <p:cNvPr id="4" name="CuadroTexto 3">
            <a:extLst>
              <a:ext uri="{FF2B5EF4-FFF2-40B4-BE49-F238E27FC236}">
                <a16:creationId xmlns:a16="http://schemas.microsoft.com/office/drawing/2014/main" id="{6DB12EC5-F74F-AC29-F34C-7082246F34AD}"/>
              </a:ext>
            </a:extLst>
          </p:cNvPr>
          <p:cNvSpPr txBox="1"/>
          <p:nvPr/>
        </p:nvSpPr>
        <p:spPr>
          <a:xfrm>
            <a:off x="2550385" y="3904468"/>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Century Gothic"/>
                <a:ea typeface="+mn-lt"/>
                <a:cs typeface="+mn-lt"/>
              </a:rPr>
              <a:t>3. Investigación de falsos positivos: </a:t>
            </a:r>
            <a:r>
              <a:rPr lang="es-ES" sz="1500">
                <a:latin typeface="Century Gothic"/>
                <a:ea typeface="+mn-lt"/>
                <a:cs typeface="+mn-lt"/>
              </a:rPr>
              <a:t>Establecer criterios básicos para determinar si una vulnerabilidad es un falso positivo.</a:t>
            </a:r>
          </a:p>
        </p:txBody>
      </p:sp>
      <p:sp>
        <p:nvSpPr>
          <p:cNvPr id="9" name="CuadroTexto 8">
            <a:extLst>
              <a:ext uri="{FF2B5EF4-FFF2-40B4-BE49-F238E27FC236}">
                <a16:creationId xmlns:a16="http://schemas.microsoft.com/office/drawing/2014/main" id="{FABF8F60-DE9D-467F-960A-9D7A976D6D39}"/>
              </a:ext>
            </a:extLst>
          </p:cNvPr>
          <p:cNvSpPr txBox="1"/>
          <p:nvPr/>
        </p:nvSpPr>
        <p:spPr>
          <a:xfrm>
            <a:off x="2550418" y="2772244"/>
            <a:ext cx="712541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Century Gothic"/>
                <a:ea typeface="+mn-lt"/>
                <a:cs typeface="+mn-lt"/>
              </a:rPr>
              <a:t>2. Trabajo de remediación: </a:t>
            </a:r>
            <a:r>
              <a:rPr lang="es-ES" sz="1500">
                <a:latin typeface="Century Gothic"/>
                <a:ea typeface="+mn-lt"/>
                <a:cs typeface="+mn-lt"/>
              </a:rPr>
              <a:t>Llevar a cabo el proceso de reparación de vulnerabilidades.</a:t>
            </a:r>
          </a:p>
        </p:txBody>
      </p:sp>
      <p:sp>
        <p:nvSpPr>
          <p:cNvPr id="11" name="CuadroTexto 10">
            <a:extLst>
              <a:ext uri="{FF2B5EF4-FFF2-40B4-BE49-F238E27FC236}">
                <a16:creationId xmlns:a16="http://schemas.microsoft.com/office/drawing/2014/main" id="{4FF09CC8-6B34-3947-4BC1-DB03A84D39E2}"/>
              </a:ext>
            </a:extLst>
          </p:cNvPr>
          <p:cNvSpPr txBox="1"/>
          <p:nvPr/>
        </p:nvSpPr>
        <p:spPr>
          <a:xfrm>
            <a:off x="2550185" y="5031519"/>
            <a:ext cx="712541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latin typeface="Century Gothic"/>
                <a:ea typeface="+mn-lt"/>
                <a:cs typeface="+mn-lt"/>
              </a:rPr>
              <a:t>4. Proceso de control de excepción de vulnerabilidades: </a:t>
            </a:r>
            <a:r>
              <a:rPr lang="es-ES" sz="1500">
                <a:latin typeface="Century Gothic"/>
                <a:ea typeface="+mn-lt"/>
                <a:cs typeface="+mn-lt"/>
              </a:rPr>
              <a:t>Garantizar que cualquier </a:t>
            </a:r>
            <a:r>
              <a:rPr lang="es-ES" sz="1500" err="1">
                <a:latin typeface="Century Gothic"/>
                <a:ea typeface="+mn-lt"/>
                <a:cs typeface="+mn-lt"/>
              </a:rPr>
              <a:t>procedi</a:t>
            </a:r>
            <a:r>
              <a:rPr lang="es-ES" sz="1500">
                <a:latin typeface="Century Gothic"/>
                <a:ea typeface="+mn-lt"/>
                <a:cs typeface="+mn-lt"/>
              </a:rPr>
              <a:t>​miento de no cumplimiento esté autorizado por la alta gerencia y registrado en el repositorio central de la empresa.</a:t>
            </a:r>
            <a:endParaRPr lang="es-ES" sz="1500">
              <a:latin typeface="Century Gothic"/>
              <a:ea typeface="Calibri"/>
              <a:cs typeface="Calibri"/>
            </a:endParaRPr>
          </a:p>
        </p:txBody>
      </p:sp>
      <p:pic>
        <p:nvPicPr>
          <p:cNvPr id="12" name="Imagen 11" descr="Prioritize - Free business and finance icons">
            <a:extLst>
              <a:ext uri="{FF2B5EF4-FFF2-40B4-BE49-F238E27FC236}">
                <a16:creationId xmlns:a16="http://schemas.microsoft.com/office/drawing/2014/main" id="{081C3FA6-B427-63FC-58AC-59CC0DE58CF2}"/>
              </a:ext>
            </a:extLst>
          </p:cNvPr>
          <p:cNvPicPr>
            <a:picLocks noChangeAspect="1"/>
          </p:cNvPicPr>
          <p:nvPr/>
        </p:nvPicPr>
        <p:blipFill>
          <a:blip r:embed="rId4"/>
          <a:stretch>
            <a:fillRect/>
          </a:stretch>
        </p:blipFill>
        <p:spPr>
          <a:xfrm>
            <a:off x="1563600" y="1600467"/>
            <a:ext cx="832993" cy="832993"/>
          </a:xfrm>
          <a:prstGeom prst="rect">
            <a:avLst/>
          </a:prstGeom>
          <a:ln>
            <a:noFill/>
          </a:ln>
        </p:spPr>
      </p:pic>
      <p:pic>
        <p:nvPicPr>
          <p:cNvPr id="13" name="Imagen 12" descr="Bug, fix, fixing, program icon - Download on Iconfinder">
            <a:extLst>
              <a:ext uri="{FF2B5EF4-FFF2-40B4-BE49-F238E27FC236}">
                <a16:creationId xmlns:a16="http://schemas.microsoft.com/office/drawing/2014/main" id="{706B7FAB-DCD4-38CD-DEFD-89491917421A}"/>
              </a:ext>
            </a:extLst>
          </p:cNvPr>
          <p:cNvPicPr>
            <a:picLocks noChangeAspect="1"/>
          </p:cNvPicPr>
          <p:nvPr/>
        </p:nvPicPr>
        <p:blipFill>
          <a:blip r:embed="rId5"/>
          <a:stretch>
            <a:fillRect/>
          </a:stretch>
        </p:blipFill>
        <p:spPr>
          <a:xfrm>
            <a:off x="1557490" y="2662030"/>
            <a:ext cx="791887" cy="791887"/>
          </a:xfrm>
          <a:prstGeom prst="rect">
            <a:avLst/>
          </a:prstGeom>
          <a:ln>
            <a:noFill/>
          </a:ln>
        </p:spPr>
      </p:pic>
      <p:pic>
        <p:nvPicPr>
          <p:cNvPr id="14" name="Imagen 13">
            <a:extLst>
              <a:ext uri="{FF2B5EF4-FFF2-40B4-BE49-F238E27FC236}">
                <a16:creationId xmlns:a16="http://schemas.microsoft.com/office/drawing/2014/main" id="{A9F237FE-8E1A-3775-C600-1103D5449443}"/>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1209630" y="3767850"/>
            <a:ext cx="1503687" cy="840995"/>
          </a:xfrm>
          <a:prstGeom prst="rect">
            <a:avLst/>
          </a:prstGeom>
          <a:ln>
            <a:noFill/>
          </a:ln>
        </p:spPr>
      </p:pic>
      <p:pic>
        <p:nvPicPr>
          <p:cNvPr id="15" name="Imagen 14" descr="Exception, gears, list, management, project, report icon - Download on ...">
            <a:extLst>
              <a:ext uri="{FF2B5EF4-FFF2-40B4-BE49-F238E27FC236}">
                <a16:creationId xmlns:a16="http://schemas.microsoft.com/office/drawing/2014/main" id="{C0230911-2373-BA8A-A653-52AA384F48C3}"/>
              </a:ext>
            </a:extLst>
          </p:cNvPr>
          <p:cNvPicPr>
            <a:picLocks noChangeAspect="1"/>
          </p:cNvPicPr>
          <p:nvPr/>
        </p:nvPicPr>
        <p:blipFill>
          <a:blip r:embed="rId8"/>
          <a:stretch>
            <a:fillRect/>
          </a:stretch>
        </p:blipFill>
        <p:spPr>
          <a:xfrm>
            <a:off x="1488152" y="4962691"/>
            <a:ext cx="865678" cy="790217"/>
          </a:xfrm>
          <a:prstGeom prst="rect">
            <a:avLst/>
          </a:prstGeom>
          <a:ln>
            <a:noFill/>
          </a:ln>
        </p:spPr>
      </p:pic>
      <p:pic>
        <p:nvPicPr>
          <p:cNvPr id="6" name="Imagen 5" descr="Interfaz de usuario gráfica&#10;&#10;El contenido generado por IA puede ser incorrecto.">
            <a:extLst>
              <a:ext uri="{FF2B5EF4-FFF2-40B4-BE49-F238E27FC236}">
                <a16:creationId xmlns:a16="http://schemas.microsoft.com/office/drawing/2014/main" id="{9EAC4E5B-35BB-60DE-73B2-EB0A102D5C81}"/>
              </a:ext>
            </a:extLst>
          </p:cNvPr>
          <p:cNvPicPr>
            <a:picLocks noChangeAspect="1"/>
          </p:cNvPicPr>
          <p:nvPr/>
        </p:nvPicPr>
        <p:blipFill>
          <a:blip r:embed="rId9">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33407153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5C26E-FC62-B2B2-8FA8-297AD9AB4512}"/>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94DEA32C-D20B-A229-88C0-456427032219}"/>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1AB81F1F-8239-63D5-5398-EEEA9BCCB001}"/>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10DAE78B-287F-EC62-EDA0-96115A5D328D}"/>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Priorización de vulnerabilidades</a:t>
            </a:r>
          </a:p>
        </p:txBody>
      </p:sp>
      <p:sp>
        <p:nvSpPr>
          <p:cNvPr id="2" name="CuadroTexto 1">
            <a:extLst>
              <a:ext uri="{FF2B5EF4-FFF2-40B4-BE49-F238E27FC236}">
                <a16:creationId xmlns:a16="http://schemas.microsoft.com/office/drawing/2014/main" id="{D3F95A69-5FE5-6B91-B948-E9FA95566547}"/>
              </a:ext>
            </a:extLst>
          </p:cNvPr>
          <p:cNvSpPr txBox="1"/>
          <p:nvPr/>
        </p:nvSpPr>
        <p:spPr>
          <a:xfrm>
            <a:off x="429672" y="1650776"/>
            <a:ext cx="986021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dirty="0">
                <a:latin typeface="Trebuchet MS" panose="020B0603020202020204" pitchFamily="34" charset="0"/>
                <a:ea typeface="+mn-lt"/>
                <a:cs typeface="+mn-lt"/>
              </a:rPr>
              <a:t>Definir un enfoque basado en la información para priorizar las vulnerabilidades.</a:t>
            </a:r>
            <a:endParaRPr lang="es-ES" dirty="0">
              <a:latin typeface="Trebuchet MS" panose="020B0603020202020204" pitchFamily="34" charset="0"/>
            </a:endParaRPr>
          </a:p>
        </p:txBody>
      </p:sp>
      <p:graphicFrame>
        <p:nvGraphicFramePr>
          <p:cNvPr id="3" name="Tabla 2">
            <a:extLst>
              <a:ext uri="{FF2B5EF4-FFF2-40B4-BE49-F238E27FC236}">
                <a16:creationId xmlns:a16="http://schemas.microsoft.com/office/drawing/2014/main" id="{C7E1CA77-DA62-19BD-9E0C-BD82018EBC52}"/>
              </a:ext>
            </a:extLst>
          </p:cNvPr>
          <p:cNvGraphicFramePr>
            <a:graphicFrameLocks noGrp="1"/>
          </p:cNvGraphicFramePr>
          <p:nvPr>
            <p:extLst>
              <p:ext uri="{D42A27DB-BD31-4B8C-83A1-F6EECF244321}">
                <p14:modId xmlns:p14="http://schemas.microsoft.com/office/powerpoint/2010/main" val="185500488"/>
              </p:ext>
            </p:extLst>
          </p:nvPr>
        </p:nvGraphicFramePr>
        <p:xfrm>
          <a:off x="549916" y="2428454"/>
          <a:ext cx="9550660" cy="1834340"/>
        </p:xfrm>
        <a:graphic>
          <a:graphicData uri="http://schemas.openxmlformats.org/drawingml/2006/table">
            <a:tbl>
              <a:tblPr firstRow="1" bandRow="1">
                <a:tableStyleId>{69CF1AB2-1976-4502-BF36-3FF5EA218861}</a:tableStyleId>
              </a:tblPr>
              <a:tblGrid>
                <a:gridCol w="9550660">
                  <a:extLst>
                    <a:ext uri="{9D8B030D-6E8A-4147-A177-3AD203B41FA5}">
                      <a16:colId xmlns:a16="http://schemas.microsoft.com/office/drawing/2014/main" val="4175657569"/>
                    </a:ext>
                  </a:extLst>
                </a:gridCol>
              </a:tblGrid>
              <a:tr h="366868">
                <a:tc>
                  <a:txBody>
                    <a:bodyPr/>
                    <a:lstStyle/>
                    <a:p>
                      <a:pPr lvl="0">
                        <a:buNone/>
                      </a:pPr>
                      <a:r>
                        <a:rPr lang="es-ES" sz="1800" b="0" i="0" u="none" strike="noStrike" noProof="0" dirty="0">
                          <a:latin typeface="Trebuchet MS" panose="020B0603020202020204" pitchFamily="34" charset="0"/>
                        </a:rPr>
                        <a:t>Utilizar informes de seguridad.</a:t>
                      </a:r>
                      <a:endParaRPr lang="es-ES" i="0" dirty="0">
                        <a:latin typeface="Trebuchet MS" panose="020B0603020202020204" pitchFamily="34" charset="0"/>
                      </a:endParaRPr>
                    </a:p>
                  </a:txBody>
                  <a:tcPr/>
                </a:tc>
                <a:extLst>
                  <a:ext uri="{0D108BD9-81ED-4DB2-BD59-A6C34878D82A}">
                    <a16:rowId xmlns:a16="http://schemas.microsoft.com/office/drawing/2014/main" val="3800467457"/>
                  </a:ext>
                </a:extLst>
              </a:tr>
              <a:tr h="366868">
                <a:tc>
                  <a:txBody>
                    <a:bodyPr/>
                    <a:lstStyle/>
                    <a:p>
                      <a:pPr lvl="0">
                        <a:buNone/>
                      </a:pPr>
                      <a:r>
                        <a:rPr lang="es-ES" sz="1800" b="0" i="0" u="none" strike="noStrike" noProof="0">
                          <a:latin typeface="Trebuchet MS" panose="020B0603020202020204" pitchFamily="34" charset="0"/>
                        </a:rPr>
                        <a:t>Analizar tendencias de aparición de vulnerabilidades. </a:t>
                      </a:r>
                      <a:endParaRPr lang="es-ES">
                        <a:latin typeface="Trebuchet MS" panose="020B0603020202020204" pitchFamily="34" charset="0"/>
                      </a:endParaRPr>
                    </a:p>
                  </a:txBody>
                  <a:tcPr/>
                </a:tc>
                <a:extLst>
                  <a:ext uri="{0D108BD9-81ED-4DB2-BD59-A6C34878D82A}">
                    <a16:rowId xmlns:a16="http://schemas.microsoft.com/office/drawing/2014/main" val="1883118501"/>
                  </a:ext>
                </a:extLst>
              </a:tr>
              <a:tr h="366868">
                <a:tc>
                  <a:txBody>
                    <a:bodyPr/>
                    <a:lstStyle/>
                    <a:p>
                      <a:pPr lvl="0">
                        <a:buNone/>
                      </a:pPr>
                      <a:r>
                        <a:rPr lang="es-ES" sz="1800" b="0" i="0" u="none" strike="noStrike" noProof="0">
                          <a:latin typeface="Trebuchet MS" panose="020B0603020202020204" pitchFamily="34" charset="0"/>
                        </a:rPr>
                        <a:t>Consultar otras fuentes de conocimiento relacionadas a la seguridad. </a:t>
                      </a:r>
                      <a:endParaRPr lang="es-ES">
                        <a:latin typeface="Trebuchet MS" panose="020B0603020202020204" pitchFamily="34" charset="0"/>
                      </a:endParaRPr>
                    </a:p>
                  </a:txBody>
                  <a:tcPr/>
                </a:tc>
                <a:extLst>
                  <a:ext uri="{0D108BD9-81ED-4DB2-BD59-A6C34878D82A}">
                    <a16:rowId xmlns:a16="http://schemas.microsoft.com/office/drawing/2014/main" val="551564909"/>
                  </a:ext>
                </a:extLst>
              </a:tr>
              <a:tr h="366868">
                <a:tc>
                  <a:txBody>
                    <a:bodyPr/>
                    <a:lstStyle/>
                    <a:p>
                      <a:pPr lvl="0">
                        <a:buNone/>
                      </a:pPr>
                      <a:r>
                        <a:rPr lang="es-ES" sz="1800" b="0" i="0" u="none" strike="noStrike" noProof="0">
                          <a:latin typeface="Trebuchet MS" panose="020B0603020202020204" pitchFamily="34" charset="0"/>
                        </a:rPr>
                        <a:t>Considerar elementos del entorno informático.</a:t>
                      </a:r>
                      <a:endParaRPr lang="es-ES">
                        <a:latin typeface="Trebuchet MS" panose="020B0603020202020204" pitchFamily="34" charset="0"/>
                      </a:endParaRPr>
                    </a:p>
                  </a:txBody>
                  <a:tcPr/>
                </a:tc>
                <a:extLst>
                  <a:ext uri="{0D108BD9-81ED-4DB2-BD59-A6C34878D82A}">
                    <a16:rowId xmlns:a16="http://schemas.microsoft.com/office/drawing/2014/main" val="3175792155"/>
                  </a:ext>
                </a:extLst>
              </a:tr>
              <a:tr h="366868">
                <a:tc>
                  <a:txBody>
                    <a:bodyPr/>
                    <a:lstStyle/>
                    <a:p>
                      <a:pPr lvl="0">
                        <a:buNone/>
                      </a:pPr>
                      <a:r>
                        <a:rPr lang="es-ES" sz="1800" b="0" i="0" u="none" strike="noStrike" noProof="0" dirty="0">
                          <a:latin typeface="Trebuchet MS" panose="020B0603020202020204" pitchFamily="34" charset="0"/>
                        </a:rPr>
                        <a:t>Comunicarse con todas las partes responsables involucradas.</a:t>
                      </a:r>
                      <a:endParaRPr lang="es-ES" dirty="0">
                        <a:latin typeface="Trebuchet MS" panose="020B0603020202020204" pitchFamily="34" charset="0"/>
                      </a:endParaRPr>
                    </a:p>
                  </a:txBody>
                  <a:tcPr/>
                </a:tc>
                <a:extLst>
                  <a:ext uri="{0D108BD9-81ED-4DB2-BD59-A6C34878D82A}">
                    <a16:rowId xmlns:a16="http://schemas.microsoft.com/office/drawing/2014/main" val="2336418080"/>
                  </a:ext>
                </a:extLst>
              </a:tr>
            </a:tbl>
          </a:graphicData>
        </a:graphic>
      </p:graphicFrame>
      <p:sp>
        <p:nvSpPr>
          <p:cNvPr id="4" name="CuadroTexto 3">
            <a:extLst>
              <a:ext uri="{FF2B5EF4-FFF2-40B4-BE49-F238E27FC236}">
                <a16:creationId xmlns:a16="http://schemas.microsoft.com/office/drawing/2014/main" id="{7ABFB2DC-ECE2-DF34-D080-46DC57F5A482}"/>
              </a:ext>
            </a:extLst>
          </p:cNvPr>
          <p:cNvSpPr txBox="1"/>
          <p:nvPr/>
        </p:nvSpPr>
        <p:spPr>
          <a:xfrm>
            <a:off x="487217" y="5001096"/>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pic>
        <p:nvPicPr>
          <p:cNvPr id="6" name="Imagen 5" descr="Interfaz de usuario gráfica&#10;&#10;El contenido generado por IA puede ser incorrecto.">
            <a:extLst>
              <a:ext uri="{FF2B5EF4-FFF2-40B4-BE49-F238E27FC236}">
                <a16:creationId xmlns:a16="http://schemas.microsoft.com/office/drawing/2014/main" id="{5ADDD904-9316-185C-124A-84B82220CEAB}"/>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1271118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C1E7-C1FE-F0CF-B40D-334084952A9B}"/>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A09F38C0-08D2-8686-E6C4-4C16876AFB54}"/>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91D7F4B9-43FC-1E89-3398-15DA6E0C87D4}"/>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32CC76E0-5A94-B402-239C-5BB8F2F15CFB}"/>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Trabajo de remediación</a:t>
            </a:r>
          </a:p>
        </p:txBody>
      </p:sp>
      <p:sp>
        <p:nvSpPr>
          <p:cNvPr id="6" name="CuadroTexto 5">
            <a:extLst>
              <a:ext uri="{FF2B5EF4-FFF2-40B4-BE49-F238E27FC236}">
                <a16:creationId xmlns:a16="http://schemas.microsoft.com/office/drawing/2014/main" id="{1759FFE0-2C75-7312-275A-E9C86C629FAF}"/>
              </a:ext>
            </a:extLst>
          </p:cNvPr>
          <p:cNvSpPr txBox="1"/>
          <p:nvPr/>
        </p:nvSpPr>
        <p:spPr>
          <a:xfrm>
            <a:off x="530571" y="849944"/>
            <a:ext cx="986021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dirty="0">
                <a:latin typeface="Trebuchet MS" panose="020B0603020202020204" pitchFamily="34" charset="0"/>
                <a:ea typeface="+mn-lt"/>
                <a:cs typeface="+mn-lt"/>
              </a:rPr>
              <a:t>Llevar a cabo el proceso de reparación de vulnerabilidades.</a:t>
            </a:r>
            <a:endParaRPr lang="es-ES" dirty="0">
              <a:latin typeface="Trebuchet MS" panose="020B0603020202020204" pitchFamily="34" charset="0"/>
            </a:endParaRPr>
          </a:p>
        </p:txBody>
      </p:sp>
      <p:graphicFrame>
        <p:nvGraphicFramePr>
          <p:cNvPr id="7" name="Tabla 6">
            <a:extLst>
              <a:ext uri="{FF2B5EF4-FFF2-40B4-BE49-F238E27FC236}">
                <a16:creationId xmlns:a16="http://schemas.microsoft.com/office/drawing/2014/main" id="{0C49B810-C029-1BE1-3A49-00F5CC229571}"/>
              </a:ext>
            </a:extLst>
          </p:cNvPr>
          <p:cNvGraphicFramePr>
            <a:graphicFrameLocks noGrp="1"/>
          </p:cNvGraphicFramePr>
          <p:nvPr>
            <p:extLst>
              <p:ext uri="{D42A27DB-BD31-4B8C-83A1-F6EECF244321}">
                <p14:modId xmlns:p14="http://schemas.microsoft.com/office/powerpoint/2010/main" val="200983880"/>
              </p:ext>
            </p:extLst>
          </p:nvPr>
        </p:nvGraphicFramePr>
        <p:xfrm>
          <a:off x="689647" y="1397875"/>
          <a:ext cx="9550660" cy="4121445"/>
        </p:xfrm>
        <a:graphic>
          <a:graphicData uri="http://schemas.openxmlformats.org/drawingml/2006/table">
            <a:tbl>
              <a:tblPr firstRow="1" bandRow="1">
                <a:tableStyleId>{69CF1AB2-1976-4502-BF36-3FF5EA218861}</a:tableStyleId>
              </a:tblPr>
              <a:tblGrid>
                <a:gridCol w="9550660">
                  <a:extLst>
                    <a:ext uri="{9D8B030D-6E8A-4147-A177-3AD203B41FA5}">
                      <a16:colId xmlns:a16="http://schemas.microsoft.com/office/drawing/2014/main" val="4175657569"/>
                    </a:ext>
                  </a:extLst>
                </a:gridCol>
              </a:tblGrid>
              <a:tr h="366868">
                <a:tc>
                  <a:txBody>
                    <a:bodyPr/>
                    <a:lstStyle/>
                    <a:p>
                      <a:pPr lvl="0">
                        <a:buNone/>
                      </a:pPr>
                      <a:r>
                        <a:rPr lang="es-ES" sz="1800" b="0" i="0" u="none" strike="noStrike" noProof="0">
                          <a:latin typeface="Trebuchet MS" panose="020B0603020202020204" pitchFamily="34" charset="0"/>
                        </a:rPr>
                        <a:t>Determinar a los responsables de la corrección. </a:t>
                      </a:r>
                      <a:endParaRPr lang="es-ES">
                        <a:latin typeface="Trebuchet MS" panose="020B0603020202020204" pitchFamily="34" charset="0"/>
                      </a:endParaRPr>
                    </a:p>
                  </a:txBody>
                  <a:tcPr/>
                </a:tc>
                <a:extLst>
                  <a:ext uri="{0D108BD9-81ED-4DB2-BD59-A6C34878D82A}">
                    <a16:rowId xmlns:a16="http://schemas.microsoft.com/office/drawing/2014/main" val="3800467457"/>
                  </a:ext>
                </a:extLst>
              </a:tr>
              <a:tr h="366868">
                <a:tc>
                  <a:txBody>
                    <a:bodyPr/>
                    <a:lstStyle/>
                    <a:p>
                      <a:pPr lvl="0">
                        <a:buNone/>
                      </a:pPr>
                      <a:r>
                        <a:rPr lang="es-ES" sz="1800" b="0" i="0" u="none" strike="noStrike" noProof="0">
                          <a:latin typeface="Trebuchet MS" panose="020B0603020202020204" pitchFamily="34" charset="0"/>
                        </a:rPr>
                        <a:t>Comunicarles los resultados utilizando sus herramientas y métodos preferidos. </a:t>
                      </a:r>
                      <a:endParaRPr lang="es-ES">
                        <a:latin typeface="Trebuchet MS" panose="020B0603020202020204" pitchFamily="34" charset="0"/>
                      </a:endParaRPr>
                    </a:p>
                  </a:txBody>
                  <a:tcPr/>
                </a:tc>
                <a:extLst>
                  <a:ext uri="{0D108BD9-81ED-4DB2-BD59-A6C34878D82A}">
                    <a16:rowId xmlns:a16="http://schemas.microsoft.com/office/drawing/2014/main" val="2285186589"/>
                  </a:ext>
                </a:extLst>
              </a:tr>
              <a:tr h="366868">
                <a:tc>
                  <a:txBody>
                    <a:bodyPr/>
                    <a:lstStyle/>
                    <a:p>
                      <a:pPr lvl="0">
                        <a:buNone/>
                      </a:pPr>
                      <a:r>
                        <a:rPr lang="es-ES" sz="1800" b="0" i="0" u="none" strike="noStrike" noProof="0">
                          <a:latin typeface="Trebuchet MS" panose="020B0603020202020204" pitchFamily="34" charset="0"/>
                        </a:rPr>
                        <a:t>Establecer un cronograma para aplicar parches, modificar código y capacitar personal. </a:t>
                      </a:r>
                      <a:endParaRPr lang="es-ES">
                        <a:latin typeface="Trebuchet MS" panose="020B0603020202020204" pitchFamily="34" charset="0"/>
                      </a:endParaRPr>
                    </a:p>
                  </a:txBody>
                  <a:tcPr/>
                </a:tc>
                <a:extLst>
                  <a:ext uri="{0D108BD9-81ED-4DB2-BD59-A6C34878D82A}">
                    <a16:rowId xmlns:a16="http://schemas.microsoft.com/office/drawing/2014/main" val="3675286783"/>
                  </a:ext>
                </a:extLst>
              </a:tr>
              <a:tr h="366867">
                <a:tc>
                  <a:txBody>
                    <a:bodyPr/>
                    <a:lstStyle/>
                    <a:p>
                      <a:pPr lvl="0">
                        <a:buNone/>
                      </a:pPr>
                      <a:r>
                        <a:rPr lang="es-ES" sz="1800" b="0" i="0" u="none" strike="noStrike" noProof="0">
                          <a:latin typeface="Trebuchet MS" panose="020B0603020202020204" pitchFamily="34" charset="0"/>
                        </a:rPr>
                        <a:t>Definir un grupo específico de activos para las pruebas de remediación. </a:t>
                      </a:r>
                      <a:endParaRPr lang="es-ES">
                        <a:latin typeface="Trebuchet MS" panose="020B0603020202020204" pitchFamily="34" charset="0"/>
                      </a:endParaRPr>
                    </a:p>
                  </a:txBody>
                  <a:tcPr/>
                </a:tc>
                <a:extLst>
                  <a:ext uri="{0D108BD9-81ED-4DB2-BD59-A6C34878D82A}">
                    <a16:rowId xmlns:a16="http://schemas.microsoft.com/office/drawing/2014/main" val="2471260967"/>
                  </a:ext>
                </a:extLst>
              </a:tr>
              <a:tr h="366867">
                <a:tc>
                  <a:txBody>
                    <a:bodyPr/>
                    <a:lstStyle/>
                    <a:p>
                      <a:pPr lvl="0">
                        <a:buNone/>
                      </a:pPr>
                      <a:r>
                        <a:rPr lang="es-ES" sz="1800" b="0" i="0" u="none" strike="noStrike" noProof="0">
                          <a:latin typeface="Trebuchet MS" panose="020B0603020202020204" pitchFamily="34" charset="0"/>
                        </a:rPr>
                        <a:t>Informar a las partes interesadas sobre los resultados de las pruebas.</a:t>
                      </a:r>
                      <a:endParaRPr lang="es-ES">
                        <a:latin typeface="Trebuchet MS" panose="020B0603020202020204" pitchFamily="34" charset="0"/>
                      </a:endParaRPr>
                    </a:p>
                  </a:txBody>
                  <a:tcPr/>
                </a:tc>
                <a:extLst>
                  <a:ext uri="{0D108BD9-81ED-4DB2-BD59-A6C34878D82A}">
                    <a16:rowId xmlns:a16="http://schemas.microsoft.com/office/drawing/2014/main" val="1354334608"/>
                  </a:ext>
                </a:extLst>
              </a:tr>
              <a:tr h="366867">
                <a:tc>
                  <a:txBody>
                    <a:bodyPr/>
                    <a:lstStyle/>
                    <a:p>
                      <a:pPr lvl="0">
                        <a:buNone/>
                      </a:pPr>
                      <a:r>
                        <a:rPr lang="es-ES" sz="1800" b="0" i="0" u="none" strike="noStrike" noProof="0">
                          <a:latin typeface="Trebuchet MS" panose="020B0603020202020204" pitchFamily="34" charset="0"/>
                        </a:rPr>
                        <a:t>Resolver problemas relacionados a la gestión de la remediación utilizando un sistema de tickets o gestión de cambios. </a:t>
                      </a:r>
                      <a:endParaRPr lang="es-ES">
                        <a:latin typeface="Trebuchet MS" panose="020B0603020202020204" pitchFamily="34" charset="0"/>
                      </a:endParaRPr>
                    </a:p>
                  </a:txBody>
                  <a:tcPr/>
                </a:tc>
                <a:extLst>
                  <a:ext uri="{0D108BD9-81ED-4DB2-BD59-A6C34878D82A}">
                    <a16:rowId xmlns:a16="http://schemas.microsoft.com/office/drawing/2014/main" val="1961723190"/>
                  </a:ext>
                </a:extLst>
              </a:tr>
              <a:tr h="366867">
                <a:tc>
                  <a:txBody>
                    <a:bodyPr/>
                    <a:lstStyle/>
                    <a:p>
                      <a:pPr lvl="0">
                        <a:buNone/>
                      </a:pPr>
                      <a:r>
                        <a:rPr lang="es-ES" sz="1800" b="0" i="0" u="none" strike="noStrike" noProof="0">
                          <a:latin typeface="Trebuchet MS" panose="020B0603020202020204" pitchFamily="34" charset="0"/>
                        </a:rPr>
                        <a:t>Asignar tareas de remediación de forma consistente.</a:t>
                      </a:r>
                      <a:endParaRPr lang="es-ES">
                        <a:latin typeface="Trebuchet MS" panose="020B0603020202020204" pitchFamily="34" charset="0"/>
                      </a:endParaRPr>
                    </a:p>
                  </a:txBody>
                  <a:tcPr/>
                </a:tc>
                <a:extLst>
                  <a:ext uri="{0D108BD9-81ED-4DB2-BD59-A6C34878D82A}">
                    <a16:rowId xmlns:a16="http://schemas.microsoft.com/office/drawing/2014/main" val="1024694880"/>
                  </a:ext>
                </a:extLst>
              </a:tr>
              <a:tr h="366867">
                <a:tc>
                  <a:txBody>
                    <a:bodyPr/>
                    <a:lstStyle/>
                    <a:p>
                      <a:pPr lvl="0">
                        <a:buNone/>
                      </a:pPr>
                      <a:r>
                        <a:rPr lang="es-ES" sz="1800" b="0" i="0" u="none" strike="noStrike" noProof="0">
                          <a:latin typeface="Trebuchet MS" panose="020B0603020202020204" pitchFamily="34" charset="0"/>
                        </a:rPr>
                        <a:t>Incluir a los responsables y aquellos que necesitan información sobre problemas sin resolver. </a:t>
                      </a:r>
                      <a:endParaRPr lang="es-ES">
                        <a:latin typeface="Trebuchet MS" panose="020B0603020202020204" pitchFamily="34" charset="0"/>
                      </a:endParaRPr>
                    </a:p>
                  </a:txBody>
                  <a:tcPr/>
                </a:tc>
                <a:extLst>
                  <a:ext uri="{0D108BD9-81ED-4DB2-BD59-A6C34878D82A}">
                    <a16:rowId xmlns:a16="http://schemas.microsoft.com/office/drawing/2014/main" val="3491539946"/>
                  </a:ext>
                </a:extLst>
              </a:tr>
              <a:tr h="366867">
                <a:tc>
                  <a:txBody>
                    <a:bodyPr/>
                    <a:lstStyle/>
                    <a:p>
                      <a:pPr lvl="0">
                        <a:buNone/>
                      </a:pPr>
                      <a:r>
                        <a:rPr lang="es-ES" sz="1800" b="0" i="0" u="none" strike="noStrike" noProof="0" dirty="0">
                          <a:latin typeface="Trebuchet MS" panose="020B0603020202020204" pitchFamily="34" charset="0"/>
                        </a:rPr>
                        <a:t>Garantizar que los problemas abiertos se aborden utilizando la frecuencia del ciclo de generación de informes.</a:t>
                      </a:r>
                      <a:endParaRPr lang="es-ES" dirty="0">
                        <a:latin typeface="Trebuchet MS" panose="020B0603020202020204" pitchFamily="34" charset="0"/>
                      </a:endParaRPr>
                    </a:p>
                  </a:txBody>
                  <a:tcPr/>
                </a:tc>
                <a:extLst>
                  <a:ext uri="{0D108BD9-81ED-4DB2-BD59-A6C34878D82A}">
                    <a16:rowId xmlns:a16="http://schemas.microsoft.com/office/drawing/2014/main" val="3717683788"/>
                  </a:ext>
                </a:extLst>
              </a:tr>
            </a:tbl>
          </a:graphicData>
        </a:graphic>
      </p:graphicFrame>
      <p:sp>
        <p:nvSpPr>
          <p:cNvPr id="8" name="CuadroTexto 7">
            <a:extLst>
              <a:ext uri="{FF2B5EF4-FFF2-40B4-BE49-F238E27FC236}">
                <a16:creationId xmlns:a16="http://schemas.microsoft.com/office/drawing/2014/main" id="{97622A63-2BD6-883F-352E-CF9A13CE4784}"/>
              </a:ext>
            </a:extLst>
          </p:cNvPr>
          <p:cNvSpPr txBox="1"/>
          <p:nvPr/>
        </p:nvSpPr>
        <p:spPr>
          <a:xfrm>
            <a:off x="480919" y="5605480"/>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pic>
        <p:nvPicPr>
          <p:cNvPr id="2" name="Imagen 1" descr="Interfaz de usuario gráfica&#10;&#10;El contenido generado por IA puede ser incorrecto.">
            <a:extLst>
              <a:ext uri="{FF2B5EF4-FFF2-40B4-BE49-F238E27FC236}">
                <a16:creationId xmlns:a16="http://schemas.microsoft.com/office/drawing/2014/main" id="{5A3B71C4-8967-E332-77AD-98D19C11EB41}"/>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4191968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FCD99-48A1-9258-8489-E50664687E66}"/>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C5E4E014-E894-C0AB-C604-3F19F2821DFA}"/>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E33751B9-9406-7F5B-863E-AE4CD188C10B}"/>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BA5E1D55-7923-9DF8-58D7-35AE39767318}"/>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Investigación de falsos positivos</a:t>
            </a:r>
          </a:p>
        </p:txBody>
      </p:sp>
      <p:sp>
        <p:nvSpPr>
          <p:cNvPr id="2" name="CuadroTexto 1">
            <a:extLst>
              <a:ext uri="{FF2B5EF4-FFF2-40B4-BE49-F238E27FC236}">
                <a16:creationId xmlns:a16="http://schemas.microsoft.com/office/drawing/2014/main" id="{1BA5E506-384E-5252-1B36-6094B1F88C3F}"/>
              </a:ext>
            </a:extLst>
          </p:cNvPr>
          <p:cNvSpPr txBox="1"/>
          <p:nvPr/>
        </p:nvSpPr>
        <p:spPr>
          <a:xfrm>
            <a:off x="461203" y="1234569"/>
            <a:ext cx="986021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000">
                <a:latin typeface="Trebuchet MS" panose="020B0603020202020204" pitchFamily="34" charset="0"/>
                <a:ea typeface="+mn-lt"/>
                <a:cs typeface="+mn-lt"/>
              </a:rPr>
              <a:t>Establecer criterios básicos para determinar si una vulnerabilidad es un falso positivo.</a:t>
            </a:r>
            <a:endParaRPr lang="es-ES" sz="2000">
              <a:latin typeface="Trebuchet MS" panose="020B0603020202020204" pitchFamily="34" charset="0"/>
              <a:ea typeface="Calibri"/>
              <a:cs typeface="Calibri"/>
            </a:endParaRPr>
          </a:p>
        </p:txBody>
      </p:sp>
      <p:graphicFrame>
        <p:nvGraphicFramePr>
          <p:cNvPr id="3" name="Tabla 2">
            <a:extLst>
              <a:ext uri="{FF2B5EF4-FFF2-40B4-BE49-F238E27FC236}">
                <a16:creationId xmlns:a16="http://schemas.microsoft.com/office/drawing/2014/main" id="{4BEA7632-54ED-3578-824C-8070CB63C2B2}"/>
              </a:ext>
            </a:extLst>
          </p:cNvPr>
          <p:cNvGraphicFramePr>
            <a:graphicFrameLocks noGrp="1"/>
          </p:cNvGraphicFramePr>
          <p:nvPr>
            <p:extLst>
              <p:ext uri="{D42A27DB-BD31-4B8C-83A1-F6EECF244321}">
                <p14:modId xmlns:p14="http://schemas.microsoft.com/office/powerpoint/2010/main" val="844140821"/>
              </p:ext>
            </p:extLst>
          </p:nvPr>
        </p:nvGraphicFramePr>
        <p:xfrm>
          <a:off x="606671" y="2226658"/>
          <a:ext cx="9550660" cy="3208150"/>
        </p:xfrm>
        <a:graphic>
          <a:graphicData uri="http://schemas.openxmlformats.org/drawingml/2006/table">
            <a:tbl>
              <a:tblPr firstRow="1" bandRow="1">
                <a:tableStyleId>{69CF1AB2-1976-4502-BF36-3FF5EA218861}</a:tableStyleId>
              </a:tblPr>
              <a:tblGrid>
                <a:gridCol w="9550660">
                  <a:extLst>
                    <a:ext uri="{9D8B030D-6E8A-4147-A177-3AD203B41FA5}">
                      <a16:colId xmlns:a16="http://schemas.microsoft.com/office/drawing/2014/main" val="4175657569"/>
                    </a:ext>
                  </a:extLst>
                </a:gridCol>
              </a:tblGrid>
              <a:tr h="366868">
                <a:tc>
                  <a:txBody>
                    <a:bodyPr/>
                    <a:lstStyle/>
                    <a:p>
                      <a:pPr lvl="0">
                        <a:buNone/>
                      </a:pPr>
                      <a:r>
                        <a:rPr lang="es-ES" sz="1800" b="0" i="0" u="none" strike="noStrike" noProof="0" dirty="0">
                          <a:latin typeface="Trebuchet MS" panose="020B0603020202020204" pitchFamily="34" charset="0"/>
                        </a:rPr>
                        <a:t>Verificar la validez de un aviso de falso positivo. </a:t>
                      </a:r>
                      <a:endParaRPr lang="es-ES" dirty="0">
                        <a:latin typeface="Trebuchet MS" panose="020B0603020202020204" pitchFamily="34" charset="0"/>
                      </a:endParaRPr>
                    </a:p>
                  </a:txBody>
                  <a:tcPr/>
                </a:tc>
                <a:extLst>
                  <a:ext uri="{0D108BD9-81ED-4DB2-BD59-A6C34878D82A}">
                    <a16:rowId xmlns:a16="http://schemas.microsoft.com/office/drawing/2014/main" val="3800467457"/>
                  </a:ext>
                </a:extLst>
              </a:tr>
              <a:tr h="366867">
                <a:tc>
                  <a:txBody>
                    <a:bodyPr/>
                    <a:lstStyle/>
                    <a:p>
                      <a:pPr lvl="0">
                        <a:buNone/>
                      </a:pPr>
                      <a:r>
                        <a:rPr lang="es-ES" sz="1800" b="0" i="0" u="none" strike="noStrike" noProof="0" dirty="0">
                          <a:latin typeface="Trebuchet MS" panose="020B0603020202020204" pitchFamily="34" charset="0"/>
                        </a:rPr>
                        <a:t>Desarrollar un proceso empresarial repetible para la investigación. </a:t>
                      </a:r>
                      <a:endParaRPr lang="es-ES" dirty="0">
                        <a:latin typeface="Trebuchet MS" panose="020B0603020202020204" pitchFamily="34" charset="0"/>
                      </a:endParaRPr>
                    </a:p>
                  </a:txBody>
                  <a:tcPr/>
                </a:tc>
                <a:extLst>
                  <a:ext uri="{0D108BD9-81ED-4DB2-BD59-A6C34878D82A}">
                    <a16:rowId xmlns:a16="http://schemas.microsoft.com/office/drawing/2014/main" val="236852747"/>
                  </a:ext>
                </a:extLst>
              </a:tr>
              <a:tr h="366867">
                <a:tc>
                  <a:txBody>
                    <a:bodyPr/>
                    <a:lstStyle/>
                    <a:p>
                      <a:pPr lvl="0">
                        <a:buNone/>
                      </a:pPr>
                      <a:r>
                        <a:rPr lang="es-ES" sz="1800" b="0" i="0" u="none" strike="noStrike" noProof="0" dirty="0">
                          <a:latin typeface="Trebuchet MS" panose="020B0603020202020204" pitchFamily="34" charset="0"/>
                        </a:rPr>
                        <a:t>Mantener un registro de todos los avisos de falsos positivos.</a:t>
                      </a:r>
                      <a:endParaRPr lang="es-ES" dirty="0">
                        <a:latin typeface="Trebuchet MS" panose="020B0603020202020204" pitchFamily="34" charset="0"/>
                      </a:endParaRPr>
                    </a:p>
                  </a:txBody>
                  <a:tcPr/>
                </a:tc>
                <a:extLst>
                  <a:ext uri="{0D108BD9-81ED-4DB2-BD59-A6C34878D82A}">
                    <a16:rowId xmlns:a16="http://schemas.microsoft.com/office/drawing/2014/main" val="3545209961"/>
                  </a:ext>
                </a:extLst>
              </a:tr>
              <a:tr h="366867">
                <a:tc>
                  <a:txBody>
                    <a:bodyPr/>
                    <a:lstStyle/>
                    <a:p>
                      <a:pPr lvl="0">
                        <a:buNone/>
                      </a:pPr>
                      <a:r>
                        <a:rPr lang="es-ES" sz="1800" b="0" i="0" u="none" strike="noStrike" noProof="0" dirty="0">
                          <a:latin typeface="Trebuchet MS" panose="020B0603020202020204" pitchFamily="34" charset="0"/>
                        </a:rPr>
                        <a:t>Identificar a un experto en la materia que pueda aprobar o refutar un aviso de falso positivo. </a:t>
                      </a:r>
                      <a:endParaRPr lang="es-ES" dirty="0">
                        <a:latin typeface="Trebuchet MS" panose="020B0603020202020204" pitchFamily="34" charset="0"/>
                      </a:endParaRPr>
                    </a:p>
                  </a:txBody>
                  <a:tcPr/>
                </a:tc>
                <a:extLst>
                  <a:ext uri="{0D108BD9-81ED-4DB2-BD59-A6C34878D82A}">
                    <a16:rowId xmlns:a16="http://schemas.microsoft.com/office/drawing/2014/main" val="2849183812"/>
                  </a:ext>
                </a:extLst>
              </a:tr>
              <a:tr h="366867">
                <a:tc>
                  <a:txBody>
                    <a:bodyPr/>
                    <a:lstStyle/>
                    <a:p>
                      <a:pPr lvl="0">
                        <a:buNone/>
                      </a:pPr>
                      <a:r>
                        <a:rPr lang="es-ES" sz="1800" b="0" i="0" u="none" strike="noStrike" noProof="0" dirty="0">
                          <a:latin typeface="Trebuchet MS" panose="020B0603020202020204" pitchFamily="34" charset="0"/>
                        </a:rPr>
                        <a:t>Definir un plazo para reevaluar los falsos positivos. </a:t>
                      </a:r>
                      <a:endParaRPr lang="es-ES" dirty="0">
                        <a:latin typeface="Trebuchet MS" panose="020B0603020202020204" pitchFamily="34" charset="0"/>
                      </a:endParaRPr>
                    </a:p>
                  </a:txBody>
                  <a:tcPr/>
                </a:tc>
                <a:extLst>
                  <a:ext uri="{0D108BD9-81ED-4DB2-BD59-A6C34878D82A}">
                    <a16:rowId xmlns:a16="http://schemas.microsoft.com/office/drawing/2014/main" val="953356404"/>
                  </a:ext>
                </a:extLst>
              </a:tr>
              <a:tr h="366867">
                <a:tc>
                  <a:txBody>
                    <a:bodyPr/>
                    <a:lstStyle/>
                    <a:p>
                      <a:pPr lvl="0">
                        <a:buNone/>
                      </a:pPr>
                      <a:r>
                        <a:rPr lang="es-ES" sz="1800" b="0" i="0" u="none" strike="noStrike" noProof="0" dirty="0">
                          <a:latin typeface="Trebuchet MS" panose="020B0603020202020204" pitchFamily="34" charset="0"/>
                        </a:rPr>
                        <a:t>Documentar y almacenar cada falso positivo en un repositorio auditable. </a:t>
                      </a:r>
                      <a:endParaRPr lang="es-ES" dirty="0">
                        <a:latin typeface="Trebuchet MS" panose="020B0603020202020204" pitchFamily="34" charset="0"/>
                      </a:endParaRPr>
                    </a:p>
                  </a:txBody>
                  <a:tcPr/>
                </a:tc>
                <a:extLst>
                  <a:ext uri="{0D108BD9-81ED-4DB2-BD59-A6C34878D82A}">
                    <a16:rowId xmlns:a16="http://schemas.microsoft.com/office/drawing/2014/main" val="2552781806"/>
                  </a:ext>
                </a:extLst>
              </a:tr>
              <a:tr h="366867">
                <a:tc>
                  <a:txBody>
                    <a:bodyPr/>
                    <a:lstStyle/>
                    <a:p>
                      <a:pPr lvl="0">
                        <a:buNone/>
                      </a:pPr>
                      <a:r>
                        <a:rPr lang="es-ES" sz="1800" b="0" i="0" u="none" strike="noStrike" noProof="0" dirty="0">
                          <a:latin typeface="Trebuchet MS" panose="020B0603020202020204" pitchFamily="34" charset="0"/>
                        </a:rPr>
                        <a:t>Crear una política adecuada para la gestión de falsos positivos. </a:t>
                      </a:r>
                      <a:endParaRPr lang="es-ES" dirty="0">
                        <a:latin typeface="Trebuchet MS" panose="020B0603020202020204" pitchFamily="34" charset="0"/>
                      </a:endParaRPr>
                    </a:p>
                  </a:txBody>
                  <a:tcPr/>
                </a:tc>
                <a:extLst>
                  <a:ext uri="{0D108BD9-81ED-4DB2-BD59-A6C34878D82A}">
                    <a16:rowId xmlns:a16="http://schemas.microsoft.com/office/drawing/2014/main" val="3046472820"/>
                  </a:ext>
                </a:extLst>
              </a:tr>
              <a:tr h="366867">
                <a:tc>
                  <a:txBody>
                    <a:bodyPr/>
                    <a:lstStyle/>
                    <a:p>
                      <a:pPr lvl="0">
                        <a:buNone/>
                      </a:pPr>
                      <a:r>
                        <a:rPr lang="es-ES" sz="1800" b="0" i="0" u="none" strike="noStrike" noProof="0" dirty="0">
                          <a:latin typeface="Trebuchet MS" panose="020B0603020202020204" pitchFamily="34" charset="0"/>
                        </a:rPr>
                        <a:t>Informar a todos los empleados sobre esta política.</a:t>
                      </a:r>
                      <a:endParaRPr lang="es-ES" dirty="0">
                        <a:latin typeface="Trebuchet MS" panose="020B0603020202020204" pitchFamily="34" charset="0"/>
                      </a:endParaRPr>
                    </a:p>
                  </a:txBody>
                  <a:tcPr/>
                </a:tc>
                <a:extLst>
                  <a:ext uri="{0D108BD9-81ED-4DB2-BD59-A6C34878D82A}">
                    <a16:rowId xmlns:a16="http://schemas.microsoft.com/office/drawing/2014/main" val="3671400965"/>
                  </a:ext>
                </a:extLst>
              </a:tr>
            </a:tbl>
          </a:graphicData>
        </a:graphic>
      </p:graphicFrame>
      <p:sp>
        <p:nvSpPr>
          <p:cNvPr id="4" name="CuadroTexto 3">
            <a:extLst>
              <a:ext uri="{FF2B5EF4-FFF2-40B4-BE49-F238E27FC236}">
                <a16:creationId xmlns:a16="http://schemas.microsoft.com/office/drawing/2014/main" id="{87775047-63A0-B2CE-6A33-EA7410D95518}"/>
              </a:ext>
            </a:extLst>
          </p:cNvPr>
          <p:cNvSpPr txBox="1"/>
          <p:nvPr/>
        </p:nvSpPr>
        <p:spPr>
          <a:xfrm>
            <a:off x="480912" y="5579182"/>
            <a:ext cx="101228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pic>
        <p:nvPicPr>
          <p:cNvPr id="6" name="Imagen 5" descr="Interfaz de usuario gráfica&#10;&#10;El contenido generado por IA puede ser incorrecto.">
            <a:extLst>
              <a:ext uri="{FF2B5EF4-FFF2-40B4-BE49-F238E27FC236}">
                <a16:creationId xmlns:a16="http://schemas.microsoft.com/office/drawing/2014/main" id="{189AB5AF-F6D1-E476-878F-07FFBE4BCD96}"/>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2850082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40C69-9A8B-F5E0-45BB-793EFD0AD2E5}"/>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90C58EC-2C9F-59BF-7568-711D50EFBB98}"/>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6025AE9E-4A26-CCED-FBF9-1E2281F50123}"/>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B548AC4C-4565-7C72-4B2C-78C875B8AF5E}"/>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Proceso de control de excepción de vulnerabilidades</a:t>
            </a:r>
          </a:p>
        </p:txBody>
      </p:sp>
      <p:sp>
        <p:nvSpPr>
          <p:cNvPr id="6" name="CuadroTexto 5">
            <a:extLst>
              <a:ext uri="{FF2B5EF4-FFF2-40B4-BE49-F238E27FC236}">
                <a16:creationId xmlns:a16="http://schemas.microsoft.com/office/drawing/2014/main" id="{6C7BE06C-6D77-BC5F-7FDD-E66B60D080E6}"/>
              </a:ext>
            </a:extLst>
          </p:cNvPr>
          <p:cNvSpPr txBox="1"/>
          <p:nvPr/>
        </p:nvSpPr>
        <p:spPr>
          <a:xfrm>
            <a:off x="417059" y="1310596"/>
            <a:ext cx="1074552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latin typeface="Trebuchet MS" panose="020B0603020202020204" pitchFamily="34" charset="0"/>
                <a:ea typeface="+mn-lt"/>
                <a:cs typeface="+mn-lt"/>
              </a:rPr>
              <a:t>Garantizar que cualquier procedimiento de no cumplimiento esté autorizado por la alta gerencia y registrado en el repositorio central de la empresa.</a:t>
            </a:r>
            <a:endParaRPr lang="es-ES" sz="1400" dirty="0">
              <a:latin typeface="Trebuchet MS" panose="020B0603020202020204" pitchFamily="34" charset="0"/>
              <a:ea typeface="+mn-lt"/>
              <a:cs typeface="+mn-lt"/>
            </a:endParaRPr>
          </a:p>
        </p:txBody>
      </p:sp>
      <p:graphicFrame>
        <p:nvGraphicFramePr>
          <p:cNvPr id="7" name="Tabla 6">
            <a:extLst>
              <a:ext uri="{FF2B5EF4-FFF2-40B4-BE49-F238E27FC236}">
                <a16:creationId xmlns:a16="http://schemas.microsoft.com/office/drawing/2014/main" id="{049BD2F9-97AC-85C2-3E46-6BA4DB537BE6}"/>
              </a:ext>
            </a:extLst>
          </p:cNvPr>
          <p:cNvGraphicFramePr>
            <a:graphicFrameLocks noGrp="1"/>
          </p:cNvGraphicFramePr>
          <p:nvPr>
            <p:extLst>
              <p:ext uri="{D42A27DB-BD31-4B8C-83A1-F6EECF244321}">
                <p14:modId xmlns:p14="http://schemas.microsoft.com/office/powerpoint/2010/main" val="1214014827"/>
              </p:ext>
            </p:extLst>
          </p:nvPr>
        </p:nvGraphicFramePr>
        <p:xfrm>
          <a:off x="562527" y="2034479"/>
          <a:ext cx="9550660" cy="3481362"/>
        </p:xfrm>
        <a:graphic>
          <a:graphicData uri="http://schemas.openxmlformats.org/drawingml/2006/table">
            <a:tbl>
              <a:tblPr firstRow="1" bandRow="1">
                <a:tableStyleId>{69CF1AB2-1976-4502-BF36-3FF5EA218861}</a:tableStyleId>
              </a:tblPr>
              <a:tblGrid>
                <a:gridCol w="9550660">
                  <a:extLst>
                    <a:ext uri="{9D8B030D-6E8A-4147-A177-3AD203B41FA5}">
                      <a16:colId xmlns:a16="http://schemas.microsoft.com/office/drawing/2014/main" val="4175657569"/>
                    </a:ext>
                  </a:extLst>
                </a:gridCol>
              </a:tblGrid>
              <a:tr h="366868">
                <a:tc>
                  <a:txBody>
                    <a:bodyPr/>
                    <a:lstStyle/>
                    <a:p>
                      <a:pPr lvl="0">
                        <a:buNone/>
                      </a:pPr>
                      <a:r>
                        <a:rPr lang="es-ES" sz="1800" b="0" i="0" u="none" strike="noStrike" noProof="0" dirty="0">
                          <a:latin typeface="Trebuchet MS" panose="020B0603020202020204" pitchFamily="34" charset="0"/>
                        </a:rPr>
                        <a:t>Determinar la autoridad ejecutiva con el poder de aprobar excepciones de ciberseguridad. </a:t>
                      </a:r>
                      <a:endParaRPr lang="es-ES" dirty="0">
                        <a:latin typeface="Trebuchet MS" panose="020B0603020202020204" pitchFamily="34" charset="0"/>
                      </a:endParaRPr>
                    </a:p>
                  </a:txBody>
                  <a:tcPr/>
                </a:tc>
                <a:extLst>
                  <a:ext uri="{0D108BD9-81ED-4DB2-BD59-A6C34878D82A}">
                    <a16:rowId xmlns:a16="http://schemas.microsoft.com/office/drawing/2014/main" val="3800467457"/>
                  </a:ext>
                </a:extLst>
              </a:tr>
              <a:tr h="366867">
                <a:tc>
                  <a:txBody>
                    <a:bodyPr/>
                    <a:lstStyle/>
                    <a:p>
                      <a:pPr lvl="0">
                        <a:buNone/>
                      </a:pPr>
                      <a:r>
                        <a:rPr lang="es-ES" sz="1800" b="0" i="0" u="none" strike="noStrike" noProof="0">
                          <a:latin typeface="Trebuchet MS" panose="020B0603020202020204" pitchFamily="34" charset="0"/>
                        </a:rPr>
                        <a:t>Establecer criterios base para las excepciones de vulnerabilidad. </a:t>
                      </a:r>
                      <a:endParaRPr lang="es-ES">
                        <a:latin typeface="Trebuchet MS" panose="020B0603020202020204" pitchFamily="34" charset="0"/>
                      </a:endParaRPr>
                    </a:p>
                  </a:txBody>
                  <a:tcPr/>
                </a:tc>
                <a:extLst>
                  <a:ext uri="{0D108BD9-81ED-4DB2-BD59-A6C34878D82A}">
                    <a16:rowId xmlns:a16="http://schemas.microsoft.com/office/drawing/2014/main" val="236852747"/>
                  </a:ext>
                </a:extLst>
              </a:tr>
              <a:tr h="366867">
                <a:tc>
                  <a:txBody>
                    <a:bodyPr/>
                    <a:lstStyle/>
                    <a:p>
                      <a:pPr lvl="0">
                        <a:buNone/>
                      </a:pPr>
                      <a:r>
                        <a:rPr lang="es-ES" sz="1800" b="0" i="0" u="none" strike="noStrike" noProof="0">
                          <a:latin typeface="Trebuchet MS" panose="020B0603020202020204" pitchFamily="34" charset="0"/>
                        </a:rPr>
                        <a:t>Realizar evaluaciones periódicas de las excepciones de vulnerabilidad. </a:t>
                      </a:r>
                      <a:endParaRPr lang="es-ES">
                        <a:latin typeface="Trebuchet MS" panose="020B0603020202020204" pitchFamily="34" charset="0"/>
                      </a:endParaRPr>
                    </a:p>
                  </a:txBody>
                  <a:tcPr/>
                </a:tc>
                <a:extLst>
                  <a:ext uri="{0D108BD9-81ED-4DB2-BD59-A6C34878D82A}">
                    <a16:rowId xmlns:a16="http://schemas.microsoft.com/office/drawing/2014/main" val="3545209961"/>
                  </a:ext>
                </a:extLst>
              </a:tr>
              <a:tr h="366867">
                <a:tc>
                  <a:txBody>
                    <a:bodyPr/>
                    <a:lstStyle/>
                    <a:p>
                      <a:pPr lvl="0">
                        <a:buNone/>
                      </a:pPr>
                      <a:r>
                        <a:rPr lang="es-ES" sz="1800" b="0" i="0" u="none" strike="noStrike" noProof="0">
                          <a:latin typeface="Trebuchet MS" panose="020B0603020202020204" pitchFamily="34" charset="0"/>
                        </a:rPr>
                        <a:t>Definir controles compensatorios aceptables. </a:t>
                      </a:r>
                      <a:endParaRPr lang="es-ES">
                        <a:latin typeface="Trebuchet MS" panose="020B0603020202020204" pitchFamily="34" charset="0"/>
                      </a:endParaRPr>
                    </a:p>
                  </a:txBody>
                  <a:tcPr/>
                </a:tc>
                <a:extLst>
                  <a:ext uri="{0D108BD9-81ED-4DB2-BD59-A6C34878D82A}">
                    <a16:rowId xmlns:a16="http://schemas.microsoft.com/office/drawing/2014/main" val="2849183812"/>
                  </a:ext>
                </a:extLst>
              </a:tr>
              <a:tr h="366867">
                <a:tc>
                  <a:txBody>
                    <a:bodyPr/>
                    <a:lstStyle/>
                    <a:p>
                      <a:pPr lvl="0">
                        <a:buNone/>
                      </a:pPr>
                      <a:r>
                        <a:rPr lang="es-ES" sz="1800" b="0" i="0" u="none" strike="noStrike" noProof="0">
                          <a:latin typeface="Trebuchet MS" panose="020B0603020202020204" pitchFamily="34" charset="0"/>
                        </a:rPr>
                        <a:t>Documentar y almacenar cada excepción en el sistema de auditoría de la empresa. </a:t>
                      </a:r>
                      <a:endParaRPr lang="es-ES">
                        <a:latin typeface="Trebuchet MS" panose="020B0603020202020204" pitchFamily="34" charset="0"/>
                      </a:endParaRPr>
                    </a:p>
                  </a:txBody>
                  <a:tcPr/>
                </a:tc>
                <a:extLst>
                  <a:ext uri="{0D108BD9-81ED-4DB2-BD59-A6C34878D82A}">
                    <a16:rowId xmlns:a16="http://schemas.microsoft.com/office/drawing/2014/main" val="953356404"/>
                  </a:ext>
                </a:extLst>
              </a:tr>
              <a:tr h="366867">
                <a:tc>
                  <a:txBody>
                    <a:bodyPr/>
                    <a:lstStyle/>
                    <a:p>
                      <a:pPr lvl="0">
                        <a:buNone/>
                      </a:pPr>
                      <a:r>
                        <a:rPr lang="es-ES" sz="1800" b="0" i="0" u="none" strike="noStrike" noProof="0">
                          <a:latin typeface="Trebuchet MS" panose="020B0603020202020204" pitchFamily="34" charset="0"/>
                        </a:rPr>
                        <a:t>Desarrollar una política adecuada para el manejo de excepciones. </a:t>
                      </a:r>
                      <a:endParaRPr lang="es-ES">
                        <a:latin typeface="Trebuchet MS" panose="020B0603020202020204" pitchFamily="34" charset="0"/>
                      </a:endParaRPr>
                    </a:p>
                  </a:txBody>
                  <a:tcPr/>
                </a:tc>
                <a:extLst>
                  <a:ext uri="{0D108BD9-81ED-4DB2-BD59-A6C34878D82A}">
                    <a16:rowId xmlns:a16="http://schemas.microsoft.com/office/drawing/2014/main" val="2552781806"/>
                  </a:ext>
                </a:extLst>
              </a:tr>
              <a:tr h="366867">
                <a:tc>
                  <a:txBody>
                    <a:bodyPr/>
                    <a:lstStyle/>
                    <a:p>
                      <a:pPr lvl="0">
                        <a:buNone/>
                      </a:pPr>
                      <a:r>
                        <a:rPr lang="es-ES" sz="1800" b="0" i="0" u="none" strike="noStrike" noProof="0">
                          <a:latin typeface="Trebuchet MS" panose="020B0603020202020204" pitchFamily="34" charset="0"/>
                        </a:rPr>
                        <a:t>Informar a todos los empleados sobre esta política. </a:t>
                      </a:r>
                      <a:endParaRPr lang="es-ES">
                        <a:latin typeface="Trebuchet MS" panose="020B0603020202020204" pitchFamily="34" charset="0"/>
                      </a:endParaRPr>
                    </a:p>
                  </a:txBody>
                  <a:tcPr/>
                </a:tc>
                <a:extLst>
                  <a:ext uri="{0D108BD9-81ED-4DB2-BD59-A6C34878D82A}">
                    <a16:rowId xmlns:a16="http://schemas.microsoft.com/office/drawing/2014/main" val="3046472820"/>
                  </a:ext>
                </a:extLst>
              </a:tr>
              <a:tr h="366867">
                <a:tc>
                  <a:txBody>
                    <a:bodyPr/>
                    <a:lstStyle/>
                    <a:p>
                      <a:pPr lvl="0">
                        <a:buNone/>
                      </a:pPr>
                      <a:r>
                        <a:rPr lang="es-ES" sz="1800" b="0" i="0" u="none" strike="noStrike" noProof="0" dirty="0">
                          <a:latin typeface="Trebuchet MS" panose="020B0603020202020204" pitchFamily="34" charset="0"/>
                        </a:rPr>
                        <a:t>Solicitar a los solicitantes de excepciones de vulnerabilidad que obtengan la autorización de la autoridad ejecutiva caso por caso.</a:t>
                      </a:r>
                      <a:endParaRPr lang="es-ES" dirty="0">
                        <a:latin typeface="Trebuchet MS" panose="020B0603020202020204" pitchFamily="34" charset="0"/>
                      </a:endParaRPr>
                    </a:p>
                  </a:txBody>
                  <a:tcPr/>
                </a:tc>
                <a:extLst>
                  <a:ext uri="{0D108BD9-81ED-4DB2-BD59-A6C34878D82A}">
                    <a16:rowId xmlns:a16="http://schemas.microsoft.com/office/drawing/2014/main" val="3671400965"/>
                  </a:ext>
                </a:extLst>
              </a:tr>
            </a:tbl>
          </a:graphicData>
        </a:graphic>
      </p:graphicFrame>
      <p:sp>
        <p:nvSpPr>
          <p:cNvPr id="8" name="CuadroTexto 7">
            <a:extLst>
              <a:ext uri="{FF2B5EF4-FFF2-40B4-BE49-F238E27FC236}">
                <a16:creationId xmlns:a16="http://schemas.microsoft.com/office/drawing/2014/main" id="{6D5CA02C-2279-DE54-6F43-B11FCB6747F7}"/>
              </a:ext>
            </a:extLst>
          </p:cNvPr>
          <p:cNvSpPr txBox="1"/>
          <p:nvPr/>
        </p:nvSpPr>
        <p:spPr>
          <a:xfrm>
            <a:off x="443081" y="5578238"/>
            <a:ext cx="1098691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pic>
        <p:nvPicPr>
          <p:cNvPr id="2" name="Imagen 1" descr="Interfaz de usuario gráfica&#10;&#10;El contenido generado por IA puede ser incorrecto.">
            <a:extLst>
              <a:ext uri="{FF2B5EF4-FFF2-40B4-BE49-F238E27FC236}">
                <a16:creationId xmlns:a16="http://schemas.microsoft.com/office/drawing/2014/main" id="{E7036F8E-E124-BE8A-89CB-06810D56135F}"/>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41157265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E5DD5-1B8C-9B6F-0DDC-7CFD3D7D4A22}"/>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010277BC-6260-D9AC-33F9-84B3D2DF4DB5}"/>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2C511A01-4DB7-325A-0EBF-8326DC9A7663}"/>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94B55314-B99D-D4F8-FFA0-C9BEE5D5BA22}"/>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Creación de informes</a:t>
            </a:r>
          </a:p>
        </p:txBody>
      </p:sp>
      <p:pic>
        <p:nvPicPr>
          <p:cNvPr id="6" name="Imagen 5" descr="Interfaz de usuario gráfica&#10;&#10;El contenido generado por IA puede ser incorrecto.">
            <a:extLst>
              <a:ext uri="{FF2B5EF4-FFF2-40B4-BE49-F238E27FC236}">
                <a16:creationId xmlns:a16="http://schemas.microsoft.com/office/drawing/2014/main" id="{1B6F04B9-69A3-2243-32B7-22C166C2FD1F}"/>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pic>
        <p:nvPicPr>
          <p:cNvPr id="4" name="Gráfico 3">
            <a:extLst>
              <a:ext uri="{FF2B5EF4-FFF2-40B4-BE49-F238E27FC236}">
                <a16:creationId xmlns:a16="http://schemas.microsoft.com/office/drawing/2014/main" id="{47F12314-8F05-C0EF-90FE-BAC3FC5F7B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57867" y="679581"/>
            <a:ext cx="6476266" cy="4957914"/>
          </a:xfrm>
          <a:prstGeom prst="rect">
            <a:avLst/>
          </a:prstGeom>
        </p:spPr>
      </p:pic>
      <p:sp>
        <p:nvSpPr>
          <p:cNvPr id="5" name="CuadroTexto 4">
            <a:extLst>
              <a:ext uri="{FF2B5EF4-FFF2-40B4-BE49-F238E27FC236}">
                <a16:creationId xmlns:a16="http://schemas.microsoft.com/office/drawing/2014/main" id="{719C1F59-22FF-1796-9043-FAF804E44BD2}"/>
              </a:ext>
            </a:extLst>
          </p:cNvPr>
          <p:cNvSpPr txBox="1"/>
          <p:nvPr/>
        </p:nvSpPr>
        <p:spPr>
          <a:xfrm>
            <a:off x="424692" y="5453038"/>
            <a:ext cx="1106569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Calibri"/>
                <a:cs typeface="Calibri"/>
              </a:rPr>
              <a:t>Para más detalles de todo el proceso visita </a:t>
            </a:r>
            <a:r>
              <a:rPr lang="es-ES" sz="1400" b="1" dirty="0">
                <a:latin typeface="Trebuchet MS" panose="020B0603020202020204" pitchFamily="34" charset="0"/>
                <a:ea typeface="+mn-lt"/>
                <a:cs typeface="+mn-lt"/>
              </a:rPr>
              <a:t>https://owasp.org/www-project-vulnerability-management-guide/OWASP-Vuln-Mgm-Guide-Jun05-2020.pdf</a:t>
            </a:r>
            <a:endParaRPr lang="es-ES" sz="1400" b="1" dirty="0">
              <a:latin typeface="Trebuchet MS" panose="020B0603020202020204" pitchFamily="34" charset="0"/>
            </a:endParaRPr>
          </a:p>
        </p:txBody>
      </p:sp>
    </p:spTree>
    <p:extLst>
      <p:ext uri="{BB962C8B-B14F-4D97-AF65-F5344CB8AC3E}">
        <p14:creationId xmlns:p14="http://schemas.microsoft.com/office/powerpoint/2010/main" val="132263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747AC-81FC-6E24-55FF-3BD8064B5B6F}"/>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F4439C77-BB29-40A1-33BC-D6067341B7A0}"/>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29A11185-A9C7-9CA8-74AE-E3349D825A63}"/>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9E0EDEA9-D924-49CE-76A2-3C13FB2072BE}"/>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Introducción</a:t>
            </a:r>
          </a:p>
        </p:txBody>
      </p:sp>
      <p:pic>
        <p:nvPicPr>
          <p:cNvPr id="6" name="Imagen 5" descr="Interfaz de usuario gráfica&#10;&#10;El contenido generado por IA puede ser incorrecto.">
            <a:extLst>
              <a:ext uri="{FF2B5EF4-FFF2-40B4-BE49-F238E27FC236}">
                <a16:creationId xmlns:a16="http://schemas.microsoft.com/office/drawing/2014/main" id="{7058CA7C-92C1-3CD9-1929-3FE34587AB5B}"/>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2" name="CuadroTexto 1">
            <a:extLst>
              <a:ext uri="{FF2B5EF4-FFF2-40B4-BE49-F238E27FC236}">
                <a16:creationId xmlns:a16="http://schemas.microsoft.com/office/drawing/2014/main" id="{0049AC2C-0A38-7BEF-6A00-E04493DAC076}"/>
              </a:ext>
            </a:extLst>
          </p:cNvPr>
          <p:cNvSpPr txBox="1"/>
          <p:nvPr/>
        </p:nvSpPr>
        <p:spPr>
          <a:xfrm>
            <a:off x="442479" y="1368732"/>
            <a:ext cx="1013502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Calibri"/>
                <a:cs typeface="Calibri"/>
              </a:rPr>
              <a:t>E</a:t>
            </a:r>
            <a:r>
              <a:rPr lang="es-ES" sz="1500" dirty="0">
                <a:latin typeface="Trebuchet MS" panose="020B0603020202020204" pitchFamily="34" charset="0"/>
                <a:ea typeface="+mn-lt"/>
                <a:cs typeface="+mn-lt"/>
              </a:rPr>
              <a:t>n una ciudad moderna, la seguridad ciudadana es una prioridad. Para combatir el crimen, las fuerzas del orden se basan en la inteligencia para identificar a los delincuentes, sus métodos y sus objetivos. Esta información se recopila a través de diversas fuentes, como investigaciones, informes de ciudadanos y colaboración con otras fuerzas policiales. Una vez analizada, la información se comparte con la comunidad a través de diferentes canales, como alertas públicas, campañas de concienciación y colaboración con los medios de comunicación. De esta manera, los ciudadanos pueden estar informados sobre las amenazas que enfrentan y tomar medidas para protegerse, como evitar ciertas zonas peligrosas, estar atentos a sus pertenencias y reportar cualquier actividad sospechosa.</a:t>
            </a:r>
            <a:endParaRPr lang="es-ES" sz="1500" dirty="0">
              <a:latin typeface="Trebuchet MS" panose="020B0603020202020204" pitchFamily="34" charset="0"/>
            </a:endParaRPr>
          </a:p>
        </p:txBody>
      </p:sp>
      <p:pic>
        <p:nvPicPr>
          <p:cNvPr id="3" name="Imagen 2" descr="WANTED Illustration Poster | Quillor - Raleigh Branding Agency">
            <a:extLst>
              <a:ext uri="{FF2B5EF4-FFF2-40B4-BE49-F238E27FC236}">
                <a16:creationId xmlns:a16="http://schemas.microsoft.com/office/drawing/2014/main" id="{583DB90C-859E-045C-4B98-2B7F98E36556}"/>
              </a:ext>
            </a:extLst>
          </p:cNvPr>
          <p:cNvPicPr>
            <a:picLocks noChangeAspect="1"/>
          </p:cNvPicPr>
          <p:nvPr/>
        </p:nvPicPr>
        <p:blipFill>
          <a:blip r:embed="rId5"/>
          <a:stretch>
            <a:fillRect/>
          </a:stretch>
        </p:blipFill>
        <p:spPr>
          <a:xfrm>
            <a:off x="1959885" y="3610659"/>
            <a:ext cx="2202345" cy="2206236"/>
          </a:xfrm>
          <a:prstGeom prst="rect">
            <a:avLst/>
          </a:prstGeom>
        </p:spPr>
      </p:pic>
      <p:pic>
        <p:nvPicPr>
          <p:cNvPr id="7" name="Imagen 6" descr="Link prediction algorithms to enhance criminal network analysis — ROXANNE">
            <a:extLst>
              <a:ext uri="{FF2B5EF4-FFF2-40B4-BE49-F238E27FC236}">
                <a16:creationId xmlns:a16="http://schemas.microsoft.com/office/drawing/2014/main" id="{C9C0008B-8975-497B-3879-0D638B362803}"/>
              </a:ext>
            </a:extLst>
          </p:cNvPr>
          <p:cNvPicPr>
            <a:picLocks noChangeAspect="1"/>
          </p:cNvPicPr>
          <p:nvPr/>
        </p:nvPicPr>
        <p:blipFill>
          <a:blip r:embed="rId6"/>
          <a:stretch>
            <a:fillRect/>
          </a:stretch>
        </p:blipFill>
        <p:spPr>
          <a:xfrm>
            <a:off x="6211633" y="3429000"/>
            <a:ext cx="3048675" cy="2399097"/>
          </a:xfrm>
          <a:prstGeom prst="rect">
            <a:avLst/>
          </a:prstGeom>
          <a:ln>
            <a:solidFill>
              <a:schemeClr val="tx1"/>
            </a:solidFill>
          </a:ln>
        </p:spPr>
      </p:pic>
    </p:spTree>
    <p:extLst>
      <p:ext uri="{BB962C8B-B14F-4D97-AF65-F5344CB8AC3E}">
        <p14:creationId xmlns:p14="http://schemas.microsoft.com/office/powerpoint/2010/main" val="37004541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63D15-F300-4EBD-834E-0C85AED570F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E5235FBC-165E-741D-ECF6-7EA07DC9579A}"/>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167D32BC-A080-0DE6-01EC-320913224593}"/>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3E1625F9-F55F-2F89-DDB6-DCF85ED34895}"/>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¿Qué es?</a:t>
            </a:r>
          </a:p>
        </p:txBody>
      </p:sp>
      <p:pic>
        <p:nvPicPr>
          <p:cNvPr id="6" name="Imagen 5" descr="Interfaz de usuario gráfica&#10;&#10;El contenido generado por IA puede ser incorrecto.">
            <a:extLst>
              <a:ext uri="{FF2B5EF4-FFF2-40B4-BE49-F238E27FC236}">
                <a16:creationId xmlns:a16="http://schemas.microsoft.com/office/drawing/2014/main" id="{E1EC72E8-0617-397C-B7B6-D884CA9F32BB}"/>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4" name="CuadroTexto 3">
            <a:extLst>
              <a:ext uri="{FF2B5EF4-FFF2-40B4-BE49-F238E27FC236}">
                <a16:creationId xmlns:a16="http://schemas.microsoft.com/office/drawing/2014/main" id="{6C3FABB2-8C4C-4806-0E05-A94BF4B73633}"/>
              </a:ext>
            </a:extLst>
          </p:cNvPr>
          <p:cNvSpPr txBox="1"/>
          <p:nvPr/>
        </p:nvSpPr>
        <p:spPr>
          <a:xfrm>
            <a:off x="454022" y="1377358"/>
            <a:ext cx="10812076"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dirty="0">
                <a:latin typeface="Trebuchet MS" panose="020B0603020202020204" pitchFamily="34" charset="0"/>
                <a:ea typeface="+mn-lt"/>
                <a:cs typeface="+mn-lt"/>
              </a:rPr>
              <a:t>La inteligencia de amenazas es el proceso de recopilar, analizar y difundir información sobre las amenazas cibernéticas.</a:t>
            </a:r>
            <a:endParaRPr lang="es-ES" dirty="0">
              <a:latin typeface="Trebuchet MS" panose="020B0603020202020204" pitchFamily="34" charset="0"/>
            </a:endParaRPr>
          </a:p>
        </p:txBody>
      </p:sp>
      <p:grpSp>
        <p:nvGrpSpPr>
          <p:cNvPr id="5" name="Grupo 4">
            <a:extLst>
              <a:ext uri="{FF2B5EF4-FFF2-40B4-BE49-F238E27FC236}">
                <a16:creationId xmlns:a16="http://schemas.microsoft.com/office/drawing/2014/main" id="{FD406A3D-B204-9043-2331-AE7C4191FFD5}"/>
              </a:ext>
            </a:extLst>
          </p:cNvPr>
          <p:cNvGrpSpPr/>
          <p:nvPr/>
        </p:nvGrpSpPr>
        <p:grpSpPr>
          <a:xfrm>
            <a:off x="1124617" y="2361818"/>
            <a:ext cx="2215365" cy="1981839"/>
            <a:chOff x="321103" y="2637868"/>
            <a:chExt cx="2215365" cy="1981839"/>
          </a:xfrm>
        </p:grpSpPr>
        <p:sp>
          <p:nvSpPr>
            <p:cNvPr id="8" name="CuadroTexto 7">
              <a:extLst>
                <a:ext uri="{FF2B5EF4-FFF2-40B4-BE49-F238E27FC236}">
                  <a16:creationId xmlns:a16="http://schemas.microsoft.com/office/drawing/2014/main" id="{8C25D44C-DEFE-D6E2-8E70-DA21E9361C8D}"/>
                </a:ext>
              </a:extLst>
            </p:cNvPr>
            <p:cNvSpPr txBox="1"/>
            <p:nvPr/>
          </p:nvSpPr>
          <p:spPr>
            <a:xfrm>
              <a:off x="485461" y="2637868"/>
              <a:ext cx="1886164" cy="338554"/>
            </a:xfrm>
            <a:prstGeom prst="rect">
              <a:avLst/>
            </a:prstGeom>
            <a:solidFill>
              <a:srgbClr val="009D89"/>
            </a:solidFill>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600" b="1">
                  <a:solidFill>
                    <a:schemeClr val="tx1"/>
                  </a:solidFill>
                  <a:latin typeface="Trebuchet MS" panose="020B0603020202020204" pitchFamily="34" charset="0"/>
                </a:rPr>
                <a:t>Información</a:t>
              </a:r>
              <a:endParaRPr lang="es-ES" sz="1600">
                <a:solidFill>
                  <a:schemeClr val="tx1"/>
                </a:solidFill>
                <a:latin typeface="Trebuchet MS" panose="020B0603020202020204" pitchFamily="34" charset="0"/>
                <a:ea typeface="Calibri"/>
                <a:cs typeface="Calibri"/>
              </a:endParaRPr>
            </a:p>
          </p:txBody>
        </p:sp>
        <p:sp>
          <p:nvSpPr>
            <p:cNvPr id="9" name="CuadroTexto 8">
              <a:extLst>
                <a:ext uri="{FF2B5EF4-FFF2-40B4-BE49-F238E27FC236}">
                  <a16:creationId xmlns:a16="http://schemas.microsoft.com/office/drawing/2014/main" id="{8DEC22DE-30E0-1764-7314-176C0B47CE1A}"/>
                </a:ext>
              </a:extLst>
            </p:cNvPr>
            <p:cNvSpPr txBox="1"/>
            <p:nvPr/>
          </p:nvSpPr>
          <p:spPr>
            <a:xfrm>
              <a:off x="321103" y="3296268"/>
              <a:ext cx="2215365" cy="1323439"/>
            </a:xfrm>
            <a:prstGeom prst="rect">
              <a:avLst/>
            </a:prstGeom>
            <a:solidFill>
              <a:srgbClr val="D9FFF5"/>
            </a:solidFill>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600" dirty="0">
                  <a:latin typeface="Trebuchet MS" panose="020B0603020202020204" pitchFamily="34" charset="0"/>
                  <a:ea typeface="Calibri"/>
                  <a:cs typeface="Calibri"/>
                </a:rPr>
                <a:t>Detalles sobre los actores de amenazas, sus métodos, sus objetivos y sus herramientas</a:t>
              </a:r>
              <a:endParaRPr lang="es-ES" sz="1600" dirty="0">
                <a:latin typeface="Trebuchet MS" panose="020B0603020202020204" pitchFamily="34" charset="0"/>
              </a:endParaRPr>
            </a:p>
          </p:txBody>
        </p:sp>
      </p:grpSp>
      <p:grpSp>
        <p:nvGrpSpPr>
          <p:cNvPr id="11" name="Grupo 10">
            <a:extLst>
              <a:ext uri="{FF2B5EF4-FFF2-40B4-BE49-F238E27FC236}">
                <a16:creationId xmlns:a16="http://schemas.microsoft.com/office/drawing/2014/main" id="{458F86FE-D216-89D7-2BFF-3028C2242F9E}"/>
              </a:ext>
            </a:extLst>
          </p:cNvPr>
          <p:cNvGrpSpPr/>
          <p:nvPr/>
        </p:nvGrpSpPr>
        <p:grpSpPr>
          <a:xfrm>
            <a:off x="4938898" y="2361818"/>
            <a:ext cx="2215365" cy="1810815"/>
            <a:chOff x="4296098" y="2670010"/>
            <a:chExt cx="2215365" cy="1810815"/>
          </a:xfrm>
        </p:grpSpPr>
        <p:sp>
          <p:nvSpPr>
            <p:cNvPr id="12" name="CuadroTexto 11">
              <a:extLst>
                <a:ext uri="{FF2B5EF4-FFF2-40B4-BE49-F238E27FC236}">
                  <a16:creationId xmlns:a16="http://schemas.microsoft.com/office/drawing/2014/main" id="{93D194F1-DEF5-2E29-5F36-215276C56426}"/>
                </a:ext>
              </a:extLst>
            </p:cNvPr>
            <p:cNvSpPr txBox="1"/>
            <p:nvPr/>
          </p:nvSpPr>
          <p:spPr>
            <a:xfrm>
              <a:off x="4460450" y="2670010"/>
              <a:ext cx="1886164" cy="584775"/>
            </a:xfrm>
            <a:prstGeom prst="rect">
              <a:avLst/>
            </a:prstGeom>
            <a:solidFill>
              <a:srgbClr val="009D89"/>
            </a:solidFill>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600" b="1" dirty="0">
                  <a:solidFill>
                    <a:schemeClr val="tx1"/>
                  </a:solidFill>
                  <a:latin typeface="Trebuchet MS" panose="020B0603020202020204" pitchFamily="34" charset="0"/>
                </a:rPr>
                <a:t>Actores de amenaza</a:t>
              </a:r>
              <a:endParaRPr lang="es-ES" sz="1600" dirty="0">
                <a:solidFill>
                  <a:schemeClr val="tx1"/>
                </a:solidFill>
                <a:latin typeface="Trebuchet MS" panose="020B0603020202020204" pitchFamily="34" charset="0"/>
                <a:ea typeface="Calibri"/>
                <a:cs typeface="Calibri"/>
              </a:endParaRPr>
            </a:p>
          </p:txBody>
        </p:sp>
        <p:sp>
          <p:nvSpPr>
            <p:cNvPr id="13" name="CuadroTexto 12">
              <a:extLst>
                <a:ext uri="{FF2B5EF4-FFF2-40B4-BE49-F238E27FC236}">
                  <a16:creationId xmlns:a16="http://schemas.microsoft.com/office/drawing/2014/main" id="{939B1204-DC16-8ACA-4840-0ADDAB08514F}"/>
                </a:ext>
              </a:extLst>
            </p:cNvPr>
            <p:cNvSpPr txBox="1"/>
            <p:nvPr/>
          </p:nvSpPr>
          <p:spPr>
            <a:xfrm>
              <a:off x="4296098" y="3649828"/>
              <a:ext cx="2215365" cy="830997"/>
            </a:xfrm>
            <a:prstGeom prst="rect">
              <a:avLst/>
            </a:prstGeom>
            <a:solidFill>
              <a:srgbClr val="D9FFF5"/>
            </a:solidFill>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600" dirty="0">
                  <a:latin typeface="Trebuchet MS" panose="020B0603020202020204" pitchFamily="34" charset="0"/>
                  <a:ea typeface="Calibri"/>
                  <a:cs typeface="Calibri"/>
                </a:rPr>
                <a:t>Grupos organizados, </a:t>
              </a:r>
              <a:r>
                <a:rPr lang="es-ES" sz="1600" dirty="0" err="1">
                  <a:latin typeface="Trebuchet MS" panose="020B0603020202020204" pitchFamily="34" charset="0"/>
                  <a:ea typeface="Calibri"/>
                  <a:cs typeface="Calibri"/>
                </a:rPr>
                <a:t>ciberactivistas</a:t>
              </a:r>
              <a:r>
                <a:rPr lang="es-ES" sz="1600" dirty="0">
                  <a:latin typeface="Trebuchet MS" panose="020B0603020202020204" pitchFamily="34" charset="0"/>
                  <a:ea typeface="Calibri"/>
                  <a:cs typeface="Calibri"/>
                </a:rPr>
                <a:t> o naciones extranjeras.</a:t>
              </a:r>
              <a:endParaRPr lang="es-ES" sz="1600" dirty="0">
                <a:latin typeface="Trebuchet MS" panose="020B0603020202020204" pitchFamily="34" charset="0"/>
              </a:endParaRPr>
            </a:p>
          </p:txBody>
        </p:sp>
      </p:grpSp>
      <p:grpSp>
        <p:nvGrpSpPr>
          <p:cNvPr id="14" name="Grupo 13">
            <a:extLst>
              <a:ext uri="{FF2B5EF4-FFF2-40B4-BE49-F238E27FC236}">
                <a16:creationId xmlns:a16="http://schemas.microsoft.com/office/drawing/2014/main" id="{5AB84405-77E9-1492-19FC-288034851BC5}"/>
              </a:ext>
            </a:extLst>
          </p:cNvPr>
          <p:cNvGrpSpPr/>
          <p:nvPr/>
        </p:nvGrpSpPr>
        <p:grpSpPr>
          <a:xfrm>
            <a:off x="8688749" y="2361818"/>
            <a:ext cx="2215365" cy="2720503"/>
            <a:chOff x="4296098" y="2670010"/>
            <a:chExt cx="2215365" cy="2720503"/>
          </a:xfrm>
        </p:grpSpPr>
        <p:sp>
          <p:nvSpPr>
            <p:cNvPr id="15" name="CuadroTexto 14">
              <a:extLst>
                <a:ext uri="{FF2B5EF4-FFF2-40B4-BE49-F238E27FC236}">
                  <a16:creationId xmlns:a16="http://schemas.microsoft.com/office/drawing/2014/main" id="{D2BCBBA4-6CAC-2350-5EE4-C9AFD7FF587A}"/>
                </a:ext>
              </a:extLst>
            </p:cNvPr>
            <p:cNvSpPr txBox="1"/>
            <p:nvPr/>
          </p:nvSpPr>
          <p:spPr>
            <a:xfrm>
              <a:off x="4460450" y="2670010"/>
              <a:ext cx="1886164" cy="338554"/>
            </a:xfrm>
            <a:prstGeom prst="rect">
              <a:avLst/>
            </a:prstGeom>
            <a:solidFill>
              <a:srgbClr val="009D89"/>
            </a:solidFill>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600" b="1">
                  <a:solidFill>
                    <a:schemeClr val="tx1"/>
                  </a:solidFill>
                  <a:latin typeface="Trebuchet MS" panose="020B0603020202020204" pitchFamily="34" charset="0"/>
                </a:rPr>
                <a:t>Objetivos</a:t>
              </a:r>
              <a:endParaRPr lang="es-ES" sz="1600">
                <a:solidFill>
                  <a:schemeClr val="tx1"/>
                </a:solidFill>
                <a:latin typeface="Trebuchet MS" panose="020B0603020202020204" pitchFamily="34" charset="0"/>
              </a:endParaRPr>
            </a:p>
          </p:txBody>
        </p:sp>
        <p:sp>
          <p:nvSpPr>
            <p:cNvPr id="16" name="CuadroTexto 15">
              <a:extLst>
                <a:ext uri="{FF2B5EF4-FFF2-40B4-BE49-F238E27FC236}">
                  <a16:creationId xmlns:a16="http://schemas.microsoft.com/office/drawing/2014/main" id="{E8310D77-410A-6079-A8C9-1B9C3F86ABFE}"/>
                </a:ext>
              </a:extLst>
            </p:cNvPr>
            <p:cNvSpPr txBox="1"/>
            <p:nvPr/>
          </p:nvSpPr>
          <p:spPr>
            <a:xfrm>
              <a:off x="4296098" y="3328410"/>
              <a:ext cx="2215365" cy="2062103"/>
            </a:xfrm>
            <a:prstGeom prst="rect">
              <a:avLst/>
            </a:prstGeom>
            <a:solidFill>
              <a:srgbClr val="D9FFF5"/>
            </a:solidFill>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600" dirty="0">
                  <a:latin typeface="Trebuchet MS" panose="020B0603020202020204" pitchFamily="34" charset="0"/>
                  <a:ea typeface="Calibri"/>
                  <a:cs typeface="Calibri"/>
                </a:rPr>
                <a:t>Ayudar a las organizaciones a comprender el panorama de las amenazas cibernéticas y tomar medidas para protegerse.</a:t>
              </a:r>
              <a:endParaRPr lang="es-ES" sz="1600" dirty="0">
                <a:latin typeface="Trebuchet MS" panose="020B0603020202020204" pitchFamily="34" charset="0"/>
              </a:endParaRPr>
            </a:p>
          </p:txBody>
        </p:sp>
      </p:grpSp>
    </p:spTree>
    <p:extLst>
      <p:ext uri="{BB962C8B-B14F-4D97-AF65-F5344CB8AC3E}">
        <p14:creationId xmlns:p14="http://schemas.microsoft.com/office/powerpoint/2010/main" val="30561028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20ECB-6644-6C22-92A6-9E81384329A8}"/>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BA5659F1-D904-ECE8-A7E7-203D36FC9235}"/>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DFF41F9B-A3A7-0173-54A3-00E005218865}"/>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5C337E06-D27F-E4FF-3991-FB64633C8D42}"/>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Fuentes</a:t>
            </a:r>
          </a:p>
        </p:txBody>
      </p:sp>
      <p:pic>
        <p:nvPicPr>
          <p:cNvPr id="6" name="Imagen 5" descr="Interfaz de usuario gráfica&#10;&#10;El contenido generado por IA puede ser incorrecto.">
            <a:extLst>
              <a:ext uri="{FF2B5EF4-FFF2-40B4-BE49-F238E27FC236}">
                <a16:creationId xmlns:a16="http://schemas.microsoft.com/office/drawing/2014/main" id="{7D758753-1097-4DAA-3008-B3914FD6CE4B}"/>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grpSp>
        <p:nvGrpSpPr>
          <p:cNvPr id="2" name="Grupo 1">
            <a:extLst>
              <a:ext uri="{FF2B5EF4-FFF2-40B4-BE49-F238E27FC236}">
                <a16:creationId xmlns:a16="http://schemas.microsoft.com/office/drawing/2014/main" id="{FDEA9C7F-5318-99C7-5A70-FC3B04E31283}"/>
              </a:ext>
            </a:extLst>
          </p:cNvPr>
          <p:cNvGrpSpPr/>
          <p:nvPr/>
        </p:nvGrpSpPr>
        <p:grpSpPr>
          <a:xfrm>
            <a:off x="1192948" y="3281428"/>
            <a:ext cx="2729085" cy="1894693"/>
            <a:chOff x="406684" y="2793286"/>
            <a:chExt cx="2729085" cy="1894693"/>
          </a:xfrm>
        </p:grpSpPr>
        <p:sp>
          <p:nvSpPr>
            <p:cNvPr id="3" name="CuadroTexto 2">
              <a:extLst>
                <a:ext uri="{FF2B5EF4-FFF2-40B4-BE49-F238E27FC236}">
                  <a16:creationId xmlns:a16="http://schemas.microsoft.com/office/drawing/2014/main" id="{4D7A7884-D1C2-8EE7-0AAC-3F8382084325}"/>
                </a:ext>
              </a:extLst>
            </p:cNvPr>
            <p:cNvSpPr txBox="1"/>
            <p:nvPr/>
          </p:nvSpPr>
          <p:spPr>
            <a:xfrm>
              <a:off x="406684" y="2793286"/>
              <a:ext cx="2729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b="1" dirty="0">
                  <a:latin typeface="Trebuchet MS" panose="020B0603020202020204" pitchFamily="34" charset="0"/>
                  <a:ea typeface="Calibri"/>
                  <a:cs typeface="Calibri"/>
                </a:rPr>
                <a:t>Fuentes públicas</a:t>
              </a:r>
            </a:p>
          </p:txBody>
        </p:sp>
        <p:sp>
          <p:nvSpPr>
            <p:cNvPr id="7" name="CuadroTexto 6">
              <a:extLst>
                <a:ext uri="{FF2B5EF4-FFF2-40B4-BE49-F238E27FC236}">
                  <a16:creationId xmlns:a16="http://schemas.microsoft.com/office/drawing/2014/main" id="{4DD9A252-AED8-D673-273E-A54AD1DEA8A5}"/>
                </a:ext>
              </a:extLst>
            </p:cNvPr>
            <p:cNvSpPr txBox="1"/>
            <p:nvPr/>
          </p:nvSpPr>
          <p:spPr>
            <a:xfrm>
              <a:off x="417399" y="3210651"/>
              <a:ext cx="271837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800" dirty="0">
                  <a:latin typeface="Trebuchet MS" panose="020B0603020202020204" pitchFamily="34" charset="0"/>
                  <a:ea typeface="Calibri"/>
                  <a:cs typeface="Calibri"/>
                </a:rPr>
                <a:t>Informes de agencias gubernamentales, organizaciones de investigación y empresas de seguridad.</a:t>
              </a:r>
              <a:endParaRPr lang="es-ES" sz="1800" dirty="0">
                <a:latin typeface="Trebuchet MS" panose="020B0603020202020204" pitchFamily="34" charset="0"/>
              </a:endParaRPr>
            </a:p>
          </p:txBody>
        </p:sp>
      </p:grpSp>
      <p:grpSp>
        <p:nvGrpSpPr>
          <p:cNvPr id="17" name="Grupo 16">
            <a:extLst>
              <a:ext uri="{FF2B5EF4-FFF2-40B4-BE49-F238E27FC236}">
                <a16:creationId xmlns:a16="http://schemas.microsoft.com/office/drawing/2014/main" id="{0FF6BCE1-73AE-C4D7-C48B-AF707AFAA3C2}"/>
              </a:ext>
            </a:extLst>
          </p:cNvPr>
          <p:cNvGrpSpPr/>
          <p:nvPr/>
        </p:nvGrpSpPr>
        <p:grpSpPr>
          <a:xfrm>
            <a:off x="4555137" y="3281427"/>
            <a:ext cx="2729085" cy="2171691"/>
            <a:chOff x="3588816" y="2868283"/>
            <a:chExt cx="2729085" cy="2171691"/>
          </a:xfrm>
        </p:grpSpPr>
        <p:sp>
          <p:nvSpPr>
            <p:cNvPr id="19" name="CuadroTexto 18">
              <a:extLst>
                <a:ext uri="{FF2B5EF4-FFF2-40B4-BE49-F238E27FC236}">
                  <a16:creationId xmlns:a16="http://schemas.microsoft.com/office/drawing/2014/main" id="{F5F845DF-4DCD-0179-6524-F5F664AF3BBF}"/>
                </a:ext>
              </a:extLst>
            </p:cNvPr>
            <p:cNvSpPr txBox="1"/>
            <p:nvPr/>
          </p:nvSpPr>
          <p:spPr>
            <a:xfrm>
              <a:off x="3588816" y="2868283"/>
              <a:ext cx="2729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b="1">
                  <a:latin typeface="Trebuchet MS" panose="020B0603020202020204" pitchFamily="34" charset="0"/>
                  <a:ea typeface="Calibri"/>
                  <a:cs typeface="Calibri"/>
                </a:rPr>
                <a:t>Fuentes privadas</a:t>
              </a:r>
            </a:p>
          </p:txBody>
        </p:sp>
        <p:sp>
          <p:nvSpPr>
            <p:cNvPr id="21" name="CuadroTexto 20">
              <a:extLst>
                <a:ext uri="{FF2B5EF4-FFF2-40B4-BE49-F238E27FC236}">
                  <a16:creationId xmlns:a16="http://schemas.microsoft.com/office/drawing/2014/main" id="{1FF39B07-305D-B7F0-E4D8-BB0EBE4B440A}"/>
                </a:ext>
              </a:extLst>
            </p:cNvPr>
            <p:cNvSpPr txBox="1"/>
            <p:nvPr/>
          </p:nvSpPr>
          <p:spPr>
            <a:xfrm>
              <a:off x="3599531" y="3285648"/>
              <a:ext cx="271837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800" dirty="0">
                  <a:latin typeface="Trebuchet MS" panose="020B0603020202020204" pitchFamily="34" charset="0"/>
                  <a:ea typeface="Calibri"/>
                  <a:cs typeface="Calibri"/>
                </a:rPr>
                <a:t>Servicios de inteligencia de amenaza comerciales, </a:t>
              </a:r>
              <a:r>
                <a:rPr lang="es-ES" sz="1800" dirty="0" err="1">
                  <a:latin typeface="Trebuchet MS" panose="020B0603020202020204" pitchFamily="34" charset="0"/>
                  <a:ea typeface="Calibri"/>
                  <a:cs typeface="Calibri"/>
                </a:rPr>
                <a:t>proovedores</a:t>
              </a:r>
              <a:r>
                <a:rPr lang="es-ES" sz="1800" dirty="0">
                  <a:latin typeface="Trebuchet MS" panose="020B0603020202020204" pitchFamily="34" charset="0"/>
                  <a:ea typeface="Calibri"/>
                  <a:cs typeface="Calibri"/>
                </a:rPr>
                <a:t> de seguridad y comunidades en línea.</a:t>
              </a:r>
            </a:p>
          </p:txBody>
        </p:sp>
      </p:grpSp>
      <p:grpSp>
        <p:nvGrpSpPr>
          <p:cNvPr id="22" name="Grupo 21">
            <a:extLst>
              <a:ext uri="{FF2B5EF4-FFF2-40B4-BE49-F238E27FC236}">
                <a16:creationId xmlns:a16="http://schemas.microsoft.com/office/drawing/2014/main" id="{D2D9A6F8-FAE5-C6DF-762E-155BE1D6C9DA}"/>
              </a:ext>
            </a:extLst>
          </p:cNvPr>
          <p:cNvGrpSpPr/>
          <p:nvPr/>
        </p:nvGrpSpPr>
        <p:grpSpPr>
          <a:xfrm>
            <a:off x="8299567" y="3281427"/>
            <a:ext cx="2729085" cy="1617694"/>
            <a:chOff x="3588816" y="2868283"/>
            <a:chExt cx="2729085" cy="1617694"/>
          </a:xfrm>
        </p:grpSpPr>
        <p:sp>
          <p:nvSpPr>
            <p:cNvPr id="23" name="CuadroTexto 22">
              <a:extLst>
                <a:ext uri="{FF2B5EF4-FFF2-40B4-BE49-F238E27FC236}">
                  <a16:creationId xmlns:a16="http://schemas.microsoft.com/office/drawing/2014/main" id="{D314E2FB-6CF3-9B1A-6931-B1A8651975AB}"/>
                </a:ext>
              </a:extLst>
            </p:cNvPr>
            <p:cNvSpPr txBox="1"/>
            <p:nvPr/>
          </p:nvSpPr>
          <p:spPr>
            <a:xfrm>
              <a:off x="3588816" y="2868283"/>
              <a:ext cx="2729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b="1" dirty="0">
                  <a:latin typeface="Trebuchet MS" panose="020B0603020202020204" pitchFamily="34" charset="0"/>
                  <a:ea typeface="Calibri"/>
                  <a:cs typeface="Calibri"/>
                </a:rPr>
                <a:t>Fuentes internas</a:t>
              </a:r>
            </a:p>
          </p:txBody>
        </p:sp>
        <p:sp>
          <p:nvSpPr>
            <p:cNvPr id="24" name="CuadroTexto 23">
              <a:extLst>
                <a:ext uri="{FF2B5EF4-FFF2-40B4-BE49-F238E27FC236}">
                  <a16:creationId xmlns:a16="http://schemas.microsoft.com/office/drawing/2014/main" id="{07C3B0C3-A251-1773-A425-B6383BDEE7AF}"/>
                </a:ext>
              </a:extLst>
            </p:cNvPr>
            <p:cNvSpPr txBox="1"/>
            <p:nvPr/>
          </p:nvSpPr>
          <p:spPr>
            <a:xfrm>
              <a:off x="3599531" y="3285648"/>
              <a:ext cx="271837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800" dirty="0">
                  <a:latin typeface="Trebuchet MS" panose="020B0603020202020204" pitchFamily="34" charset="0"/>
                  <a:ea typeface="Calibri"/>
                  <a:cs typeface="Calibri"/>
                </a:rPr>
                <a:t>Registros de seguridad de la organización, informes de incidentes y datos de monitoreo.</a:t>
              </a:r>
              <a:endParaRPr lang="es-ES" dirty="0">
                <a:latin typeface="Trebuchet MS" panose="020B0603020202020204" pitchFamily="34" charset="0"/>
              </a:endParaRPr>
            </a:p>
          </p:txBody>
        </p:sp>
      </p:grpSp>
      <p:pic>
        <p:nvPicPr>
          <p:cNvPr id="25" name="Imagen 24" descr="Administration, building, flag, government icon - Download on Iconfinder">
            <a:extLst>
              <a:ext uri="{FF2B5EF4-FFF2-40B4-BE49-F238E27FC236}">
                <a16:creationId xmlns:a16="http://schemas.microsoft.com/office/drawing/2014/main" id="{27EA5FEC-C037-F974-AF2F-1AA9CE09335B}"/>
              </a:ext>
            </a:extLst>
          </p:cNvPr>
          <p:cNvPicPr>
            <a:picLocks noChangeAspect="1"/>
          </p:cNvPicPr>
          <p:nvPr/>
        </p:nvPicPr>
        <p:blipFill>
          <a:blip r:embed="rId5"/>
          <a:stretch>
            <a:fillRect/>
          </a:stretch>
        </p:blipFill>
        <p:spPr>
          <a:xfrm>
            <a:off x="1647533" y="1343608"/>
            <a:ext cx="1785567" cy="1860822"/>
          </a:xfrm>
          <a:prstGeom prst="rect">
            <a:avLst/>
          </a:prstGeom>
        </p:spPr>
      </p:pic>
      <p:pic>
        <p:nvPicPr>
          <p:cNvPr id="26" name="Imagen 25" descr="Computer Icons Big Brother is watching you. Lifestream Creations GmbH ...">
            <a:extLst>
              <a:ext uri="{FF2B5EF4-FFF2-40B4-BE49-F238E27FC236}">
                <a16:creationId xmlns:a16="http://schemas.microsoft.com/office/drawing/2014/main" id="{0EFADA9A-2E35-13AE-B105-99D1F41DF2CC}"/>
              </a:ext>
            </a:extLst>
          </p:cNvPr>
          <p:cNvPicPr>
            <a:picLocks noChangeAspect="1"/>
          </p:cNvPicPr>
          <p:nvPr/>
        </p:nvPicPr>
        <p:blipFill>
          <a:blip r:embed="rId6"/>
          <a:stretch>
            <a:fillRect/>
          </a:stretch>
        </p:blipFill>
        <p:spPr>
          <a:xfrm>
            <a:off x="4937030" y="1343732"/>
            <a:ext cx="1882097" cy="1860823"/>
          </a:xfrm>
          <a:prstGeom prst="rect">
            <a:avLst/>
          </a:prstGeom>
        </p:spPr>
      </p:pic>
      <p:pic>
        <p:nvPicPr>
          <p:cNvPr id="27" name="Imagen 26" descr="Health Monitoring - Download free icons">
            <a:extLst>
              <a:ext uri="{FF2B5EF4-FFF2-40B4-BE49-F238E27FC236}">
                <a16:creationId xmlns:a16="http://schemas.microsoft.com/office/drawing/2014/main" id="{3EC2CC42-6DA3-43FD-F75F-F13AC08FD776}"/>
              </a:ext>
            </a:extLst>
          </p:cNvPr>
          <p:cNvPicPr>
            <a:picLocks noChangeAspect="1"/>
          </p:cNvPicPr>
          <p:nvPr/>
        </p:nvPicPr>
        <p:blipFill>
          <a:blip r:embed="rId7"/>
          <a:stretch>
            <a:fillRect/>
          </a:stretch>
        </p:blipFill>
        <p:spPr>
          <a:xfrm>
            <a:off x="8697433" y="1343566"/>
            <a:ext cx="1884365" cy="1863021"/>
          </a:xfrm>
          <a:prstGeom prst="rect">
            <a:avLst/>
          </a:prstGeom>
        </p:spPr>
      </p:pic>
    </p:spTree>
    <p:extLst>
      <p:ext uri="{BB962C8B-B14F-4D97-AF65-F5344CB8AC3E}">
        <p14:creationId xmlns:p14="http://schemas.microsoft.com/office/powerpoint/2010/main" val="31618190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B8B41-B19C-C167-6153-08C5939D353F}"/>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8BCE1FA3-BB55-F266-057C-4087444BF37C}"/>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8C0A943E-CB23-B5D9-7EAB-201BE58FCEC8}"/>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1E8F9971-3B96-5881-C030-C6957F5B90CD}"/>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¿Por qué es importante?</a:t>
            </a:r>
          </a:p>
        </p:txBody>
      </p:sp>
      <p:pic>
        <p:nvPicPr>
          <p:cNvPr id="6" name="Imagen 5" descr="Interfaz de usuario gráfica&#10;&#10;El contenido generado por IA puede ser incorrecto.">
            <a:extLst>
              <a:ext uri="{FF2B5EF4-FFF2-40B4-BE49-F238E27FC236}">
                <a16:creationId xmlns:a16="http://schemas.microsoft.com/office/drawing/2014/main" id="{656086F2-7B50-E886-7C4F-1737E6070FDA}"/>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4" name="CuadroTexto 3">
            <a:extLst>
              <a:ext uri="{FF2B5EF4-FFF2-40B4-BE49-F238E27FC236}">
                <a16:creationId xmlns:a16="http://schemas.microsoft.com/office/drawing/2014/main" id="{FE333256-FFFD-7AF4-6C92-47958C025A13}"/>
              </a:ext>
            </a:extLst>
          </p:cNvPr>
          <p:cNvSpPr txBox="1"/>
          <p:nvPr/>
        </p:nvSpPr>
        <p:spPr>
          <a:xfrm>
            <a:off x="429768" y="2134323"/>
            <a:ext cx="10135028" cy="23441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s-ES" sz="2000" dirty="0">
                <a:latin typeface="Trebuchet MS" panose="020B0603020202020204" pitchFamily="34" charset="0"/>
                <a:ea typeface="+mn-lt"/>
                <a:cs typeface="+mn-lt"/>
              </a:rPr>
              <a:t>El panorama de las amenazas cibernéticas está en constante cambio.</a:t>
            </a:r>
            <a:endParaRPr lang="es-ES" sz="2000" dirty="0">
              <a:latin typeface="Trebuchet MS" panose="020B0603020202020204" pitchFamily="34" charset="0"/>
              <a:ea typeface="Calibri"/>
              <a:cs typeface="Calibri"/>
            </a:endParaRPr>
          </a:p>
          <a:p>
            <a:pPr marL="285750" indent="-285750">
              <a:lnSpc>
                <a:spcPct val="150000"/>
              </a:lnSpc>
              <a:buFont typeface="Arial"/>
              <a:buChar char="•"/>
            </a:pPr>
            <a:r>
              <a:rPr lang="es-ES" sz="2000" dirty="0">
                <a:latin typeface="Trebuchet MS" panose="020B0603020202020204" pitchFamily="34" charset="0"/>
                <a:ea typeface="+mn-lt"/>
                <a:cs typeface="+mn-lt"/>
              </a:rPr>
              <a:t>Los actores de amenazas están desarrollando constantemente nuevas técnicas y herramientas para atacar a las organizaciones.</a:t>
            </a:r>
            <a:endParaRPr lang="es-ES" sz="2000" dirty="0">
              <a:latin typeface="Trebuchet MS" panose="020B0603020202020204" pitchFamily="34" charset="0"/>
              <a:ea typeface="Calibri"/>
              <a:cs typeface="Calibri"/>
            </a:endParaRPr>
          </a:p>
          <a:p>
            <a:pPr marL="285750" indent="-285750">
              <a:lnSpc>
                <a:spcPct val="150000"/>
              </a:lnSpc>
              <a:buFont typeface="Arial"/>
              <a:buChar char="•"/>
            </a:pPr>
            <a:r>
              <a:rPr lang="es-ES" sz="2000" dirty="0">
                <a:latin typeface="Trebuchet MS" panose="020B0603020202020204" pitchFamily="34" charset="0"/>
                <a:ea typeface="+mn-lt"/>
                <a:cs typeface="+mn-lt"/>
              </a:rPr>
              <a:t>La inteligencia de amenazas puede ayudar a las organizaciones a mantenerse a la vanguardia de las últimas amenazas y tomar medidas para protegerse.</a:t>
            </a:r>
            <a:endParaRPr lang="es-ES" sz="2000" dirty="0">
              <a:latin typeface="Trebuchet MS" panose="020B0603020202020204" pitchFamily="34" charset="0"/>
              <a:ea typeface="Calibri"/>
              <a:cs typeface="Calibri"/>
            </a:endParaRPr>
          </a:p>
        </p:txBody>
      </p:sp>
    </p:spTree>
    <p:extLst>
      <p:ext uri="{BB962C8B-B14F-4D97-AF65-F5344CB8AC3E}">
        <p14:creationId xmlns:p14="http://schemas.microsoft.com/office/powerpoint/2010/main" val="32353569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575DE-97BD-5115-A582-7D751F4CE53E}"/>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AC71044F-9998-0E8C-180B-CDCD948E73EB}"/>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493E4D7D-3F1B-46DF-1520-AA826DF1B607}"/>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434DC97C-29B5-D409-2477-1E2E0A1FB4CD}"/>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¿Cómo funciona?</a:t>
            </a:r>
          </a:p>
        </p:txBody>
      </p:sp>
      <p:pic>
        <p:nvPicPr>
          <p:cNvPr id="6" name="Imagen 5" descr="Interfaz de usuario gráfica&#10;&#10;El contenido generado por IA puede ser incorrecto.">
            <a:extLst>
              <a:ext uri="{FF2B5EF4-FFF2-40B4-BE49-F238E27FC236}">
                <a16:creationId xmlns:a16="http://schemas.microsoft.com/office/drawing/2014/main" id="{F33990CE-F952-C49A-74D0-8E6C9AA2082F}"/>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2" name="CuadroTexto 1">
            <a:extLst>
              <a:ext uri="{FF2B5EF4-FFF2-40B4-BE49-F238E27FC236}">
                <a16:creationId xmlns:a16="http://schemas.microsoft.com/office/drawing/2014/main" id="{E882A5AD-CC16-5314-7E5F-B7EFD539D608}"/>
              </a:ext>
            </a:extLst>
          </p:cNvPr>
          <p:cNvSpPr txBox="1"/>
          <p:nvPr/>
        </p:nvSpPr>
        <p:spPr>
          <a:xfrm>
            <a:off x="462645" y="1469616"/>
            <a:ext cx="10135028" cy="1781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s-ES" sz="1500" dirty="0">
                <a:latin typeface="Trebuchet MS" panose="020B0603020202020204" pitchFamily="34" charset="0"/>
                <a:ea typeface="+mn-lt"/>
                <a:cs typeface="+mn-lt"/>
              </a:rPr>
              <a:t>Digamos formamos parte de la empresa </a:t>
            </a:r>
            <a:r>
              <a:rPr lang="es-ES" sz="1500" dirty="0" err="1">
                <a:latin typeface="Trebuchet MS" panose="020B0603020202020204" pitchFamily="34" charset="0"/>
                <a:ea typeface="+mn-lt"/>
                <a:cs typeface="+mn-lt"/>
              </a:rPr>
              <a:t>Shakesbit</a:t>
            </a:r>
            <a:r>
              <a:rPr lang="es-ES" sz="1500" dirty="0">
                <a:latin typeface="Trebuchet MS" panose="020B0603020202020204" pitchFamily="34" charset="0"/>
                <a:ea typeface="+mn-lt"/>
                <a:cs typeface="+mn-lt"/>
              </a:rPr>
              <a:t>. Uno de los ordenadores de la empresa parece que ha reducido su rendimiento drásticamente por lo que hacen una evaluación exhaustiva para determinar el origen del problema. Tras el análisis, el administrador encuentra un proceso que está ocupando una la mayor parte de los recursos de la máquina. En efecto, el ordenador está infectado con un malware que ha traspasado todas las barreras de seguridad, por lo que se trata de un Zero-Day.</a:t>
            </a:r>
            <a:endParaRPr lang="es-ES" dirty="0">
              <a:latin typeface="Trebuchet MS" panose="020B0603020202020204" pitchFamily="34" charset="0"/>
              <a:ea typeface="+mn-lt"/>
              <a:cs typeface="+mn-lt"/>
            </a:endParaRPr>
          </a:p>
        </p:txBody>
      </p:sp>
      <p:pic>
        <p:nvPicPr>
          <p:cNvPr id="3" name="Imagen 2" descr="Imagen que contiene Forma&#10;&#10;Descripción generada automáticamente">
            <a:extLst>
              <a:ext uri="{FF2B5EF4-FFF2-40B4-BE49-F238E27FC236}">
                <a16:creationId xmlns:a16="http://schemas.microsoft.com/office/drawing/2014/main" id="{36D144F6-91E0-97C6-3521-3D62992DB512}"/>
              </a:ext>
            </a:extLst>
          </p:cNvPr>
          <p:cNvPicPr>
            <a:picLocks noChangeAspect="1"/>
          </p:cNvPicPr>
          <p:nvPr/>
        </p:nvPicPr>
        <p:blipFill>
          <a:blip r:embed="rId5"/>
          <a:stretch>
            <a:fillRect/>
          </a:stretch>
        </p:blipFill>
        <p:spPr>
          <a:xfrm>
            <a:off x="3165788" y="3539288"/>
            <a:ext cx="5860423" cy="2148490"/>
          </a:xfrm>
          <a:prstGeom prst="rect">
            <a:avLst/>
          </a:prstGeom>
          <a:ln>
            <a:solidFill>
              <a:schemeClr val="tx1"/>
            </a:solidFill>
          </a:ln>
        </p:spPr>
      </p:pic>
    </p:spTree>
    <p:extLst>
      <p:ext uri="{BB962C8B-B14F-4D97-AF65-F5344CB8AC3E}">
        <p14:creationId xmlns:p14="http://schemas.microsoft.com/office/powerpoint/2010/main" val="12726377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88C5D-CE11-715A-23D2-603CB16708C2}"/>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A2311545-AE5F-23BB-8D77-ECD61F7E1F20}"/>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30D3CFBF-DF60-6B60-1188-E33EF222100A}"/>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D88CF1E7-A919-BA3D-22D6-EBADDB73D2EF}"/>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¿Cómo funciona?</a:t>
            </a:r>
          </a:p>
        </p:txBody>
      </p:sp>
      <p:pic>
        <p:nvPicPr>
          <p:cNvPr id="6" name="Imagen 5" descr="Interfaz de usuario gráfica&#10;&#10;El contenido generado por IA puede ser incorrecto.">
            <a:extLst>
              <a:ext uri="{FF2B5EF4-FFF2-40B4-BE49-F238E27FC236}">
                <a16:creationId xmlns:a16="http://schemas.microsoft.com/office/drawing/2014/main" id="{4015C292-95C1-05B2-B625-A6C8679D07D4}"/>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4" name="CuadroTexto 3">
            <a:extLst>
              <a:ext uri="{FF2B5EF4-FFF2-40B4-BE49-F238E27FC236}">
                <a16:creationId xmlns:a16="http://schemas.microsoft.com/office/drawing/2014/main" id="{7A8B1541-CADD-7B63-F435-841B848C3A8D}"/>
              </a:ext>
            </a:extLst>
          </p:cNvPr>
          <p:cNvSpPr txBox="1"/>
          <p:nvPr/>
        </p:nvSpPr>
        <p:spPr>
          <a:xfrm>
            <a:off x="471268" y="1377635"/>
            <a:ext cx="10135028"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err="1">
                <a:latin typeface="Trebuchet MS" panose="020B0603020202020204" pitchFamily="34" charset="0"/>
                <a:ea typeface="+mn-lt"/>
                <a:cs typeface="+mn-lt"/>
              </a:rPr>
              <a:t>Shakesbit</a:t>
            </a:r>
            <a:r>
              <a:rPr lang="es-ES" sz="1400" dirty="0">
                <a:latin typeface="Trebuchet MS" panose="020B0603020202020204" pitchFamily="34" charset="0"/>
                <a:ea typeface="+mn-lt"/>
                <a:cs typeface="+mn-lt"/>
              </a:rPr>
              <a:t> decide meter el malware en un ZIP con contraseña (para evitar que se ejecute automáticamente) y lo manda a analizar a </a:t>
            </a:r>
            <a:r>
              <a:rPr lang="es-ES" sz="1400" dirty="0" err="1">
                <a:latin typeface="Trebuchet MS" panose="020B0603020202020204" pitchFamily="34" charset="0"/>
                <a:ea typeface="+mn-lt"/>
                <a:cs typeface="+mn-lt"/>
              </a:rPr>
              <a:t>Cybervantes</a:t>
            </a:r>
            <a:r>
              <a:rPr lang="es-ES" sz="1400" dirty="0">
                <a:latin typeface="Trebuchet MS" panose="020B0603020202020204" pitchFamily="34" charset="0"/>
                <a:ea typeface="+mn-lt"/>
                <a:cs typeface="+mn-lt"/>
              </a:rPr>
              <a:t> </a:t>
            </a:r>
            <a:r>
              <a:rPr lang="es-ES" sz="1400" dirty="0" err="1">
                <a:latin typeface="Trebuchet MS" panose="020B0603020202020204" pitchFamily="34" charset="0"/>
                <a:ea typeface="+mn-lt"/>
                <a:cs typeface="+mn-lt"/>
              </a:rPr>
              <a:t>Labs</a:t>
            </a:r>
            <a:r>
              <a:rPr lang="es-ES" sz="1400" dirty="0">
                <a:latin typeface="Trebuchet MS" panose="020B0603020202020204" pitchFamily="34" charset="0"/>
                <a:ea typeface="+mn-lt"/>
                <a:cs typeface="+mn-lt"/>
              </a:rPr>
              <a:t>.</a:t>
            </a:r>
          </a:p>
          <a:p>
            <a:endParaRPr lang="es-ES" sz="1400" dirty="0">
              <a:latin typeface="Trebuchet MS" panose="020B0603020202020204" pitchFamily="34" charset="0"/>
            </a:endParaRPr>
          </a:p>
          <a:p>
            <a:r>
              <a:rPr lang="es-ES" sz="1400" dirty="0">
                <a:latin typeface="Trebuchet MS" panose="020B0603020202020204" pitchFamily="34" charset="0"/>
                <a:ea typeface="+mn-lt"/>
                <a:cs typeface="+mn-lt"/>
              </a:rPr>
              <a:t>Como este tipo de empresas reciben cientos de malwares todos los días, el proceso tardará días incluso semanas hasta poder obtener resultados.</a:t>
            </a:r>
          </a:p>
          <a:p>
            <a:endParaRPr lang="es-ES" sz="1400" dirty="0">
              <a:latin typeface="Trebuchet MS" panose="020B0603020202020204" pitchFamily="34" charset="0"/>
            </a:endParaRPr>
          </a:p>
          <a:p>
            <a:r>
              <a:rPr lang="es-ES" sz="1400" dirty="0">
                <a:latin typeface="Trebuchet MS" panose="020B0603020202020204" pitchFamily="34" charset="0"/>
                <a:ea typeface="+mn-lt"/>
                <a:cs typeface="+mn-lt"/>
              </a:rPr>
              <a:t>Tras el análisis del malware se crea una firma y posteriormente se prueba. El </a:t>
            </a:r>
            <a:r>
              <a:rPr lang="es-ES" sz="1400" dirty="0" err="1">
                <a:latin typeface="Trebuchet MS" panose="020B0603020202020204" pitchFamily="34" charset="0"/>
                <a:ea typeface="+mn-lt"/>
                <a:cs typeface="+mn-lt"/>
              </a:rPr>
              <a:t>testing</a:t>
            </a:r>
            <a:r>
              <a:rPr lang="es-ES" sz="1400" dirty="0">
                <a:latin typeface="Trebuchet MS" panose="020B0603020202020204" pitchFamily="34" charset="0"/>
                <a:ea typeface="+mn-lt"/>
                <a:cs typeface="+mn-lt"/>
              </a:rPr>
              <a:t> es una fase crítica ya que el </a:t>
            </a:r>
            <a:r>
              <a:rPr lang="es-ES" sz="1400" dirty="0" err="1">
                <a:latin typeface="Trebuchet MS" panose="020B0603020202020204" pitchFamily="34" charset="0"/>
                <a:ea typeface="+mn-lt"/>
                <a:cs typeface="+mn-lt"/>
              </a:rPr>
              <a:t>proovedor</a:t>
            </a:r>
            <a:r>
              <a:rPr lang="es-ES" sz="1400" dirty="0">
                <a:latin typeface="Trebuchet MS" panose="020B0603020202020204" pitchFamily="34" charset="0"/>
                <a:ea typeface="+mn-lt"/>
                <a:cs typeface="+mn-lt"/>
              </a:rPr>
              <a:t> debe asegurarse de no detectar erróneamente un archivo malicioso.</a:t>
            </a:r>
          </a:p>
        </p:txBody>
      </p:sp>
      <p:pic>
        <p:nvPicPr>
          <p:cNvPr id="5" name="Gráfico 4">
            <a:extLst>
              <a:ext uri="{FF2B5EF4-FFF2-40B4-BE49-F238E27FC236}">
                <a16:creationId xmlns:a16="http://schemas.microsoft.com/office/drawing/2014/main" id="{DD0EBE7B-BD4C-57D3-587F-1FC9FFE9B2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54344" y="3254371"/>
            <a:ext cx="4017385" cy="2661033"/>
          </a:xfrm>
          <a:prstGeom prst="rect">
            <a:avLst/>
          </a:prstGeom>
        </p:spPr>
      </p:pic>
    </p:spTree>
    <p:extLst>
      <p:ext uri="{BB962C8B-B14F-4D97-AF65-F5344CB8AC3E}">
        <p14:creationId xmlns:p14="http://schemas.microsoft.com/office/powerpoint/2010/main" val="13397131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1627-E406-30BA-3177-B033DD9A4C3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0F0FB80C-B61C-C943-2136-81BFB61F63E2}"/>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24ACF7D5-7BEE-C1EB-F726-DA299151C541}"/>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A9D3F741-FC94-92C5-5F29-42D0386C4E37}"/>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¿Cómo funciona?</a:t>
            </a:r>
          </a:p>
        </p:txBody>
      </p:sp>
      <p:pic>
        <p:nvPicPr>
          <p:cNvPr id="6" name="Imagen 5" descr="Interfaz de usuario gráfica&#10;&#10;El contenido generado por IA puede ser incorrecto.">
            <a:extLst>
              <a:ext uri="{FF2B5EF4-FFF2-40B4-BE49-F238E27FC236}">
                <a16:creationId xmlns:a16="http://schemas.microsoft.com/office/drawing/2014/main" id="{1A914B54-240E-3824-3BF9-01BDD044EA91}"/>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2" name="CuadroTexto 1">
            <a:extLst>
              <a:ext uri="{FF2B5EF4-FFF2-40B4-BE49-F238E27FC236}">
                <a16:creationId xmlns:a16="http://schemas.microsoft.com/office/drawing/2014/main" id="{A60B0909-D26E-EA75-4CAC-09CC92D4854E}"/>
              </a:ext>
            </a:extLst>
          </p:cNvPr>
          <p:cNvSpPr txBox="1"/>
          <p:nvPr/>
        </p:nvSpPr>
        <p:spPr>
          <a:xfrm>
            <a:off x="471272" y="1399067"/>
            <a:ext cx="101350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Century Gothic"/>
                <a:ea typeface="+mn-lt"/>
                <a:cs typeface="+mn-lt"/>
              </a:rPr>
              <a:t>Tras testear exhaustivamente, se envía la firma al servidor de actualización que enviará a todo el resto de clientes las nuevas firmas que se han desarrollado.</a:t>
            </a:r>
            <a:endParaRPr lang="es-ES" dirty="0">
              <a:latin typeface="Century Gothic"/>
              <a:ea typeface="+mn-lt"/>
              <a:cs typeface="+mn-lt"/>
            </a:endParaRPr>
          </a:p>
        </p:txBody>
      </p:sp>
      <p:pic>
        <p:nvPicPr>
          <p:cNvPr id="3" name="Gráfico 2">
            <a:extLst>
              <a:ext uri="{FF2B5EF4-FFF2-40B4-BE49-F238E27FC236}">
                <a16:creationId xmlns:a16="http://schemas.microsoft.com/office/drawing/2014/main" id="{A92D35DD-2044-68D8-428D-589EE9ABCD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82403" y="1996625"/>
            <a:ext cx="6227194" cy="3910625"/>
          </a:xfrm>
          <a:prstGeom prst="rect">
            <a:avLst/>
          </a:prstGeom>
        </p:spPr>
      </p:pic>
    </p:spTree>
    <p:extLst>
      <p:ext uri="{BB962C8B-B14F-4D97-AF65-F5344CB8AC3E}">
        <p14:creationId xmlns:p14="http://schemas.microsoft.com/office/powerpoint/2010/main" val="1993497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CCA2-A578-B656-A628-8BBC3C2EB509}"/>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5AB1F22A-9630-90AE-A6BA-E5B2CAD14C82}"/>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FF5773E7-9D4C-71C0-4CB0-2CC1D2623A82}"/>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3C85F029-3055-46C2-8DFE-C4418295C32F}"/>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¿Cómo funciona?</a:t>
            </a:r>
          </a:p>
        </p:txBody>
      </p:sp>
      <p:pic>
        <p:nvPicPr>
          <p:cNvPr id="6" name="Imagen 5" descr="Interfaz de usuario gráfica&#10;&#10;El contenido generado por IA puede ser incorrecto.">
            <a:extLst>
              <a:ext uri="{FF2B5EF4-FFF2-40B4-BE49-F238E27FC236}">
                <a16:creationId xmlns:a16="http://schemas.microsoft.com/office/drawing/2014/main" id="{896512F9-A6A5-B027-B9DF-3730963EAFC9}"/>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4" name="CuadroTexto 3">
            <a:extLst>
              <a:ext uri="{FF2B5EF4-FFF2-40B4-BE49-F238E27FC236}">
                <a16:creationId xmlns:a16="http://schemas.microsoft.com/office/drawing/2014/main" id="{649D93E8-EF1D-D561-949D-9F2ACC37FE80}"/>
              </a:ext>
            </a:extLst>
          </p:cNvPr>
          <p:cNvSpPr txBox="1"/>
          <p:nvPr/>
        </p:nvSpPr>
        <p:spPr>
          <a:xfrm>
            <a:off x="471274" y="1321422"/>
            <a:ext cx="10135028"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mn-lt"/>
                <a:cs typeface="+mn-lt"/>
              </a:rPr>
              <a:t>El problema de este enfoque es que el proceso desde que se recibe el malware hasta que se desarrolla y se testea la firma puede llevar mucho tiempo. Tiempo suficiente como para que cientos y miles de empresas se infecten del mismo malware. Por ello, al proceso se le añade un paso más.</a:t>
            </a:r>
            <a:endParaRPr lang="es-ES" dirty="0">
              <a:latin typeface="Trebuchet MS" panose="020B0603020202020204" pitchFamily="34" charset="0"/>
            </a:endParaRPr>
          </a:p>
          <a:p>
            <a:endParaRPr lang="es-ES" dirty="0">
              <a:latin typeface="Trebuchet MS" panose="020B0603020202020204" pitchFamily="34" charset="0"/>
            </a:endParaRPr>
          </a:p>
          <a:p>
            <a:r>
              <a:rPr lang="es-ES" sz="1400" dirty="0">
                <a:latin typeface="Trebuchet MS" panose="020B0603020202020204" pitchFamily="34" charset="0"/>
                <a:ea typeface="+mn-lt"/>
                <a:cs typeface="+mn-lt"/>
              </a:rPr>
              <a:t>Durante el proceso de análisis de malware se identifica el nombre del archivo y se obtiene un hash del archivo. Después, se analiza el comportamiento del mismo. Es muy útil, por tanto, almacenar todos los datos del comportamiento en una base de datos antes de empezar el largo proceso de testeo.</a:t>
            </a:r>
            <a:endParaRPr lang="es-ES" dirty="0">
              <a:latin typeface="Trebuchet MS" panose="020B0603020202020204" pitchFamily="34" charset="0"/>
              <a:ea typeface="+mn-lt"/>
              <a:cs typeface="+mn-lt"/>
            </a:endParaRPr>
          </a:p>
        </p:txBody>
      </p:sp>
      <p:pic>
        <p:nvPicPr>
          <p:cNvPr id="5" name="Gráfico 4">
            <a:extLst>
              <a:ext uri="{FF2B5EF4-FFF2-40B4-BE49-F238E27FC236}">
                <a16:creationId xmlns:a16="http://schemas.microsoft.com/office/drawing/2014/main" id="{F2686AAA-9128-912A-7319-5AA555CE66A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84995" y="3003704"/>
            <a:ext cx="6786579" cy="2970280"/>
          </a:xfrm>
          <a:prstGeom prst="rect">
            <a:avLst/>
          </a:prstGeom>
        </p:spPr>
      </p:pic>
    </p:spTree>
    <p:extLst>
      <p:ext uri="{BB962C8B-B14F-4D97-AF65-F5344CB8AC3E}">
        <p14:creationId xmlns:p14="http://schemas.microsoft.com/office/powerpoint/2010/main" val="20980022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6AA81-A8A5-E0BA-F886-05C093EB5DDD}"/>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E57D718F-DC41-E8F5-3B0B-CACA765044EE}"/>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80D7A9B0-105A-A305-04C5-81595A178C46}"/>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B7E69E82-C4D5-3EE8-147E-CC7E2AB66E4A}"/>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¿Cómo funciona?</a:t>
            </a:r>
          </a:p>
        </p:txBody>
      </p:sp>
      <p:pic>
        <p:nvPicPr>
          <p:cNvPr id="6" name="Imagen 5" descr="Interfaz de usuario gráfica&#10;&#10;El contenido generado por IA puede ser incorrecto.">
            <a:extLst>
              <a:ext uri="{FF2B5EF4-FFF2-40B4-BE49-F238E27FC236}">
                <a16:creationId xmlns:a16="http://schemas.microsoft.com/office/drawing/2014/main" id="{8FAE6224-5267-8BE2-CA3D-4174A794C56D}"/>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4" name="CuadroTexto 3">
            <a:extLst>
              <a:ext uri="{FF2B5EF4-FFF2-40B4-BE49-F238E27FC236}">
                <a16:creationId xmlns:a16="http://schemas.microsoft.com/office/drawing/2014/main" id="{26E06A63-4811-36C4-A508-B2ABD1C96359}"/>
              </a:ext>
            </a:extLst>
          </p:cNvPr>
          <p:cNvSpPr txBox="1"/>
          <p:nvPr/>
        </p:nvSpPr>
        <p:spPr>
          <a:xfrm>
            <a:off x="471274" y="1321422"/>
            <a:ext cx="10135028"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Trebuchet MS" panose="020B0603020202020204" pitchFamily="34" charset="0"/>
                <a:ea typeface="+mn-lt"/>
                <a:cs typeface="+mn-lt"/>
              </a:rPr>
              <a:t>El problema de este enfoque es que el proceso desde que se recibe el malware hasta que se desarrolla y se testea la firma puede llevar mucho tiempo. Tiempo suficiente como para que cientos y miles de empresas se infecten del mismo malware. Por ello, al proceso se le añade un paso más.</a:t>
            </a:r>
            <a:endParaRPr lang="es-ES" dirty="0">
              <a:latin typeface="Trebuchet MS" panose="020B0603020202020204" pitchFamily="34" charset="0"/>
            </a:endParaRPr>
          </a:p>
          <a:p>
            <a:endParaRPr lang="es-ES" dirty="0">
              <a:latin typeface="Trebuchet MS" panose="020B0603020202020204" pitchFamily="34" charset="0"/>
            </a:endParaRPr>
          </a:p>
          <a:p>
            <a:r>
              <a:rPr lang="es-ES" sz="1400" dirty="0">
                <a:latin typeface="Trebuchet MS" panose="020B0603020202020204" pitchFamily="34" charset="0"/>
                <a:ea typeface="+mn-lt"/>
                <a:cs typeface="+mn-lt"/>
              </a:rPr>
              <a:t>Durante el proceso de análisis de malware se identifica el nombre del archivo y se obtiene un hash del archivo. Después, se analiza el comportamiento del mismo. Es muy útil, por tanto, almacenar todos los datos del comportamiento en una base de datos antes de empezar el largo proceso de testeo.</a:t>
            </a:r>
            <a:endParaRPr lang="es-ES" dirty="0">
              <a:latin typeface="Trebuchet MS" panose="020B0603020202020204" pitchFamily="34" charset="0"/>
              <a:ea typeface="+mn-lt"/>
              <a:cs typeface="+mn-lt"/>
            </a:endParaRPr>
          </a:p>
        </p:txBody>
      </p:sp>
      <p:pic>
        <p:nvPicPr>
          <p:cNvPr id="5" name="Gráfico 4">
            <a:extLst>
              <a:ext uri="{FF2B5EF4-FFF2-40B4-BE49-F238E27FC236}">
                <a16:creationId xmlns:a16="http://schemas.microsoft.com/office/drawing/2014/main" id="{E415F1DB-2D62-CCE7-9B95-DD35FCB601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62801" y="3029582"/>
            <a:ext cx="6666397" cy="2917680"/>
          </a:xfrm>
          <a:prstGeom prst="rect">
            <a:avLst/>
          </a:prstGeom>
        </p:spPr>
      </p:pic>
    </p:spTree>
    <p:extLst>
      <p:ext uri="{BB962C8B-B14F-4D97-AF65-F5344CB8AC3E}">
        <p14:creationId xmlns:p14="http://schemas.microsoft.com/office/powerpoint/2010/main" val="8574105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E9ADD-8DCC-FD99-5747-EC2DF585D270}"/>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6A24E11D-2BC4-4A22-74AD-91ECE7F8F7B3}"/>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C2E84F5A-0DAE-D2B7-E10A-338FD5099D7E}"/>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7B9D559C-551E-22FF-4E02-A91DA7B50E84}"/>
              </a:ext>
            </a:extLst>
          </p:cNvPr>
          <p:cNvSpPr txBox="1"/>
          <p:nvPr/>
        </p:nvSpPr>
        <p:spPr>
          <a:xfrm>
            <a:off x="429768" y="251936"/>
            <a:ext cx="9357965"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Inteligencia de Amenazas - Conclusión</a:t>
            </a:r>
          </a:p>
        </p:txBody>
      </p:sp>
      <p:pic>
        <p:nvPicPr>
          <p:cNvPr id="6" name="Imagen 5" descr="Interfaz de usuario gráfica&#10;&#10;El contenido generado por IA puede ser incorrecto.">
            <a:extLst>
              <a:ext uri="{FF2B5EF4-FFF2-40B4-BE49-F238E27FC236}">
                <a16:creationId xmlns:a16="http://schemas.microsoft.com/office/drawing/2014/main" id="{E13B2B7A-4D9D-2889-41D2-8F4A63CBB747}"/>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2" name="CuadroTexto 1">
            <a:extLst>
              <a:ext uri="{FF2B5EF4-FFF2-40B4-BE49-F238E27FC236}">
                <a16:creationId xmlns:a16="http://schemas.microsoft.com/office/drawing/2014/main" id="{80A2D05D-ED9A-512D-6493-8D895ECC8DA6}"/>
              </a:ext>
            </a:extLst>
          </p:cNvPr>
          <p:cNvSpPr txBox="1"/>
          <p:nvPr/>
        </p:nvSpPr>
        <p:spPr>
          <a:xfrm>
            <a:off x="471274" y="993622"/>
            <a:ext cx="1013502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s-ES" sz="1400" dirty="0">
                <a:latin typeface="Trebuchet MS" panose="020B0603020202020204" pitchFamily="34" charset="0"/>
                <a:ea typeface="+mn-lt"/>
                <a:cs typeface="+mn-lt"/>
              </a:rPr>
              <a:t>La inteligencia de amenaza es el conocimiento que permite a organizaciones prevenir o mitigar ataques cibernéticos.</a:t>
            </a:r>
            <a:endParaRPr lang="es-ES" sz="1400" dirty="0">
              <a:latin typeface="Trebuchet MS" panose="020B0603020202020204" pitchFamily="34" charset="0"/>
              <a:ea typeface="Calibri"/>
              <a:cs typeface="Calibri"/>
            </a:endParaRPr>
          </a:p>
          <a:p>
            <a:pPr marL="285750" indent="-285750">
              <a:buFont typeface="Arial"/>
              <a:buChar char="•"/>
            </a:pPr>
            <a:r>
              <a:rPr lang="es-ES" sz="1400" dirty="0">
                <a:latin typeface="Trebuchet MS" panose="020B0603020202020204" pitchFamily="34" charset="0"/>
                <a:ea typeface="+mn-lt"/>
                <a:cs typeface="+mn-lt"/>
              </a:rPr>
              <a:t>Técnicamente, es una base de datos de Indicadores de Compromiso.</a:t>
            </a:r>
            <a:endParaRPr lang="es-ES" sz="1400" dirty="0">
              <a:latin typeface="Trebuchet MS" panose="020B0603020202020204" pitchFamily="34" charset="0"/>
              <a:ea typeface="Calibri"/>
              <a:cs typeface="Calibri"/>
            </a:endParaRPr>
          </a:p>
          <a:p>
            <a:pPr marL="285750" indent="-285750">
              <a:buFont typeface="Arial"/>
              <a:buChar char="•"/>
            </a:pPr>
            <a:r>
              <a:rPr lang="es-ES" sz="1400" dirty="0">
                <a:latin typeface="Trebuchet MS" panose="020B0603020202020204" pitchFamily="34" charset="0"/>
                <a:ea typeface="+mn-lt"/>
                <a:cs typeface="+mn-lt"/>
              </a:rPr>
              <a:t>Normalmente es un servicio de subscripción ofrecido por diversas empresas.</a:t>
            </a:r>
            <a:endParaRPr lang="es-ES" sz="1400" dirty="0">
              <a:latin typeface="Trebuchet MS" panose="020B0603020202020204" pitchFamily="34" charset="0"/>
              <a:ea typeface="Calibri"/>
              <a:cs typeface="Calibri"/>
            </a:endParaRPr>
          </a:p>
        </p:txBody>
      </p:sp>
      <p:grpSp>
        <p:nvGrpSpPr>
          <p:cNvPr id="3" name="Grupo 2">
            <a:extLst>
              <a:ext uri="{FF2B5EF4-FFF2-40B4-BE49-F238E27FC236}">
                <a16:creationId xmlns:a16="http://schemas.microsoft.com/office/drawing/2014/main" id="{5D3CCF12-F037-588C-65D5-71E0689DFD27}"/>
              </a:ext>
            </a:extLst>
          </p:cNvPr>
          <p:cNvGrpSpPr/>
          <p:nvPr/>
        </p:nvGrpSpPr>
        <p:grpSpPr>
          <a:xfrm>
            <a:off x="1743464" y="2674460"/>
            <a:ext cx="4647151" cy="3127867"/>
            <a:chOff x="407945" y="2830983"/>
            <a:chExt cx="4647151" cy="1784034"/>
          </a:xfrm>
        </p:grpSpPr>
        <p:sp>
          <p:nvSpPr>
            <p:cNvPr id="7" name="CuadroTexto 6">
              <a:extLst>
                <a:ext uri="{FF2B5EF4-FFF2-40B4-BE49-F238E27FC236}">
                  <a16:creationId xmlns:a16="http://schemas.microsoft.com/office/drawing/2014/main" id="{86436D6D-0ED6-7352-9968-3C1A6EF1FF8F}"/>
                </a:ext>
              </a:extLst>
            </p:cNvPr>
            <p:cNvSpPr txBox="1"/>
            <p:nvPr/>
          </p:nvSpPr>
          <p:spPr>
            <a:xfrm>
              <a:off x="1152831" y="2830983"/>
              <a:ext cx="3154539" cy="1755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b="1">
                  <a:latin typeface="Trebuchet MS" panose="020B0603020202020204" pitchFamily="34" charset="0"/>
                  <a:ea typeface="Calibri"/>
                  <a:cs typeface="Calibri"/>
                </a:rPr>
                <a:t>Servicios Open </a:t>
              </a:r>
              <a:r>
                <a:rPr lang="es-ES" sz="1400" b="1" err="1">
                  <a:latin typeface="Trebuchet MS" panose="020B0603020202020204" pitchFamily="34" charset="0"/>
                  <a:ea typeface="Calibri"/>
                  <a:cs typeface="Calibri"/>
                </a:rPr>
                <a:t>Source</a:t>
              </a:r>
              <a:endParaRPr lang="es-ES" sz="1400" err="1">
                <a:latin typeface="Trebuchet MS" panose="020B0603020202020204" pitchFamily="34" charset="0"/>
              </a:endParaRPr>
            </a:p>
          </p:txBody>
        </p:sp>
        <p:sp>
          <p:nvSpPr>
            <p:cNvPr id="8" name="CuadroTexto 7">
              <a:extLst>
                <a:ext uri="{FF2B5EF4-FFF2-40B4-BE49-F238E27FC236}">
                  <a16:creationId xmlns:a16="http://schemas.microsoft.com/office/drawing/2014/main" id="{71914171-60E6-EFF7-EB11-341E0A9F895C}"/>
                </a:ext>
              </a:extLst>
            </p:cNvPr>
            <p:cNvSpPr txBox="1"/>
            <p:nvPr/>
          </p:nvSpPr>
          <p:spPr>
            <a:xfrm>
              <a:off x="407945" y="3210651"/>
              <a:ext cx="4647151" cy="14043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s-ES" sz="1400" b="1" dirty="0">
                  <a:latin typeface="Trebuchet MS" panose="020B0603020202020204" pitchFamily="34" charset="0"/>
                  <a:ea typeface="+mn-lt"/>
                  <a:cs typeface="+mn-lt"/>
                </a:rPr>
                <a:t>MISP (Malware </a:t>
              </a:r>
              <a:r>
                <a:rPr lang="es-ES" sz="1400" b="1" dirty="0" err="1">
                  <a:latin typeface="Trebuchet MS" panose="020B0603020202020204" pitchFamily="34" charset="0"/>
                  <a:ea typeface="+mn-lt"/>
                  <a:cs typeface="+mn-lt"/>
                </a:rPr>
                <a:t>Information</a:t>
              </a:r>
              <a:r>
                <a:rPr lang="es-ES" sz="1400" b="1" dirty="0">
                  <a:latin typeface="Trebuchet MS" panose="020B0603020202020204" pitchFamily="34" charset="0"/>
                  <a:ea typeface="+mn-lt"/>
                  <a:cs typeface="+mn-lt"/>
                </a:rPr>
                <a:t> </a:t>
              </a:r>
              <a:r>
                <a:rPr lang="es-ES" sz="1400" b="1" dirty="0" err="1">
                  <a:latin typeface="Trebuchet MS" panose="020B0603020202020204" pitchFamily="34" charset="0"/>
                  <a:ea typeface="+mn-lt"/>
                  <a:cs typeface="+mn-lt"/>
                </a:rPr>
                <a:t>Sharing</a:t>
              </a:r>
              <a:r>
                <a:rPr lang="es-ES" sz="1400" b="1" dirty="0">
                  <a:latin typeface="Trebuchet MS" panose="020B0603020202020204" pitchFamily="34" charset="0"/>
                  <a:ea typeface="+mn-lt"/>
                  <a:cs typeface="+mn-lt"/>
                </a:rPr>
                <a:t> </a:t>
              </a:r>
              <a:r>
                <a:rPr lang="es-ES" sz="1400" b="1" dirty="0" err="1">
                  <a:latin typeface="Trebuchet MS" panose="020B0603020202020204" pitchFamily="34" charset="0"/>
                  <a:ea typeface="+mn-lt"/>
                  <a:cs typeface="+mn-lt"/>
                </a:rPr>
                <a:t>Platform</a:t>
              </a:r>
              <a:r>
                <a:rPr lang="es-ES" sz="1400" b="1" dirty="0">
                  <a:latin typeface="Trebuchet MS" panose="020B0603020202020204" pitchFamily="34" charset="0"/>
                  <a:ea typeface="+mn-lt"/>
                  <a:cs typeface="+mn-lt"/>
                </a:rPr>
                <a:t>)</a:t>
              </a:r>
              <a:r>
                <a:rPr lang="es-ES" sz="1400" dirty="0">
                  <a:latin typeface="Trebuchet MS" panose="020B0603020202020204" pitchFamily="34" charset="0"/>
                  <a:ea typeface="+mn-lt"/>
                  <a:cs typeface="+mn-lt"/>
                </a:rPr>
                <a:t>: Una plataforma colaborativa para compartir y analizar información sobre malware e indicadores de compromiso (</a:t>
              </a:r>
              <a:r>
                <a:rPr lang="es-ES" sz="1400" dirty="0" err="1">
                  <a:latin typeface="Trebuchet MS" panose="020B0603020202020204" pitchFamily="34" charset="0"/>
                  <a:ea typeface="+mn-lt"/>
                  <a:cs typeface="+mn-lt"/>
                </a:rPr>
                <a:t>IoCs</a:t>
              </a:r>
              <a:r>
                <a:rPr lang="es-ES" sz="1400" dirty="0">
                  <a:latin typeface="Trebuchet MS" panose="020B0603020202020204" pitchFamily="34" charset="0"/>
                  <a:ea typeface="+mn-lt"/>
                  <a:cs typeface="+mn-lt"/>
                </a:rPr>
                <a:t>).</a:t>
              </a:r>
            </a:p>
            <a:p>
              <a:pPr marL="342900" indent="-342900">
                <a:buAutoNum type="arabicPeriod"/>
              </a:pPr>
              <a:r>
                <a:rPr lang="es-ES" sz="1400" b="1" dirty="0" err="1">
                  <a:latin typeface="Trebuchet MS" panose="020B0603020202020204" pitchFamily="34" charset="0"/>
                  <a:ea typeface="+mn-lt"/>
                  <a:cs typeface="+mn-lt"/>
                </a:rPr>
                <a:t>Cuckoo</a:t>
              </a:r>
              <a:r>
                <a:rPr lang="es-ES" sz="1400" b="1" dirty="0">
                  <a:latin typeface="Trebuchet MS" panose="020B0603020202020204" pitchFamily="34" charset="0"/>
                  <a:ea typeface="+mn-lt"/>
                  <a:cs typeface="+mn-lt"/>
                </a:rPr>
                <a:t> Sandbox</a:t>
              </a:r>
              <a:r>
                <a:rPr lang="es-ES" sz="1400" dirty="0">
                  <a:latin typeface="Trebuchet MS" panose="020B0603020202020204" pitchFamily="34" charset="0"/>
                  <a:ea typeface="+mn-lt"/>
                  <a:cs typeface="+mn-lt"/>
                </a:rPr>
                <a:t>: Un entorno de análisis de malware que permite ejecutar código malicioso en un entorno aislado para observar su comportamiento.</a:t>
              </a:r>
              <a:endParaRPr lang="es-ES" sz="1400" dirty="0">
                <a:latin typeface="Trebuchet MS" panose="020B0603020202020204" pitchFamily="34" charset="0"/>
                <a:ea typeface="Calibri"/>
                <a:cs typeface="Calibri"/>
              </a:endParaRPr>
            </a:p>
            <a:p>
              <a:pPr marL="342900" indent="-342900">
                <a:buAutoNum type="arabicPeriod"/>
              </a:pPr>
              <a:r>
                <a:rPr lang="es-ES" sz="1400" b="1" dirty="0" err="1">
                  <a:latin typeface="Trebuchet MS" panose="020B0603020202020204" pitchFamily="34" charset="0"/>
                  <a:ea typeface="+mn-lt"/>
                  <a:cs typeface="+mn-lt"/>
                </a:rPr>
                <a:t>Zeek</a:t>
              </a:r>
              <a:r>
                <a:rPr lang="es-ES" sz="1400" dirty="0">
                  <a:latin typeface="Trebuchet MS" panose="020B0603020202020204" pitchFamily="34" charset="0"/>
                  <a:ea typeface="+mn-lt"/>
                  <a:cs typeface="+mn-lt"/>
                </a:rPr>
                <a:t>: Un sistema de detección de intrusiones basado en flujo de red que analiza el tráfico de red en busca de actividades sospechosas.</a:t>
              </a:r>
              <a:endParaRPr lang="es-ES" sz="1400" dirty="0">
                <a:latin typeface="Trebuchet MS" panose="020B0603020202020204" pitchFamily="34" charset="0"/>
                <a:ea typeface="Calibri"/>
                <a:cs typeface="Calibri"/>
              </a:endParaRPr>
            </a:p>
          </p:txBody>
        </p:sp>
      </p:grpSp>
      <p:grpSp>
        <p:nvGrpSpPr>
          <p:cNvPr id="9" name="Grupo 8">
            <a:extLst>
              <a:ext uri="{FF2B5EF4-FFF2-40B4-BE49-F238E27FC236}">
                <a16:creationId xmlns:a16="http://schemas.microsoft.com/office/drawing/2014/main" id="{C8E8DA85-76B1-BB8F-FBB8-ED89F3FFD3D7}"/>
              </a:ext>
            </a:extLst>
          </p:cNvPr>
          <p:cNvGrpSpPr/>
          <p:nvPr/>
        </p:nvGrpSpPr>
        <p:grpSpPr>
          <a:xfrm>
            <a:off x="6673507" y="2674459"/>
            <a:ext cx="4647151" cy="2912423"/>
            <a:chOff x="407945" y="2830983"/>
            <a:chExt cx="4647151" cy="1661152"/>
          </a:xfrm>
        </p:grpSpPr>
        <p:sp>
          <p:nvSpPr>
            <p:cNvPr id="11" name="CuadroTexto 10">
              <a:extLst>
                <a:ext uri="{FF2B5EF4-FFF2-40B4-BE49-F238E27FC236}">
                  <a16:creationId xmlns:a16="http://schemas.microsoft.com/office/drawing/2014/main" id="{81E44B71-1A14-FFEC-C69C-AC43D34BEF89}"/>
                </a:ext>
              </a:extLst>
            </p:cNvPr>
            <p:cNvSpPr txBox="1"/>
            <p:nvPr/>
          </p:nvSpPr>
          <p:spPr>
            <a:xfrm>
              <a:off x="1152831" y="2830983"/>
              <a:ext cx="3154539" cy="1755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b="1">
                  <a:latin typeface="Trebuchet MS" panose="020B0603020202020204" pitchFamily="34" charset="0"/>
                  <a:ea typeface="Calibri"/>
                  <a:cs typeface="Calibri"/>
                </a:rPr>
                <a:t>Servicios Comerciales</a:t>
              </a:r>
            </a:p>
          </p:txBody>
        </p:sp>
        <p:sp>
          <p:nvSpPr>
            <p:cNvPr id="12" name="CuadroTexto 11">
              <a:extLst>
                <a:ext uri="{FF2B5EF4-FFF2-40B4-BE49-F238E27FC236}">
                  <a16:creationId xmlns:a16="http://schemas.microsoft.com/office/drawing/2014/main" id="{DBBB6B0F-4E8D-2BFC-D64B-2C2F05D50EF5}"/>
                </a:ext>
              </a:extLst>
            </p:cNvPr>
            <p:cNvSpPr txBox="1"/>
            <p:nvPr/>
          </p:nvSpPr>
          <p:spPr>
            <a:xfrm>
              <a:off x="407945" y="3210651"/>
              <a:ext cx="4647151" cy="12814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s-ES" sz="1400" b="1" dirty="0">
                  <a:latin typeface="Trebuchet MS" panose="020B0603020202020204" pitchFamily="34" charset="0"/>
                  <a:ea typeface="+mn-lt"/>
                  <a:cs typeface="+mn-lt"/>
                </a:rPr>
                <a:t>McAfee </a:t>
              </a:r>
              <a:r>
                <a:rPr lang="es-ES" sz="1400" b="1" dirty="0" err="1">
                  <a:latin typeface="Trebuchet MS" panose="020B0603020202020204" pitchFamily="34" charset="0"/>
                  <a:ea typeface="+mn-lt"/>
                  <a:cs typeface="+mn-lt"/>
                </a:rPr>
                <a:t>Threat</a:t>
              </a:r>
              <a:r>
                <a:rPr lang="es-ES" sz="1400" b="1" dirty="0">
                  <a:latin typeface="Trebuchet MS" panose="020B0603020202020204" pitchFamily="34" charset="0"/>
                  <a:ea typeface="+mn-lt"/>
                  <a:cs typeface="+mn-lt"/>
                </a:rPr>
                <a:t> </a:t>
              </a:r>
              <a:r>
                <a:rPr lang="es-ES" sz="1400" b="1" dirty="0" err="1">
                  <a:latin typeface="Trebuchet MS" panose="020B0603020202020204" pitchFamily="34" charset="0"/>
                  <a:ea typeface="+mn-lt"/>
                  <a:cs typeface="+mn-lt"/>
                </a:rPr>
                <a:t>Intelligence</a:t>
              </a:r>
              <a:r>
                <a:rPr lang="es-ES" sz="1400" dirty="0">
                  <a:latin typeface="Trebuchet MS" panose="020B0603020202020204" pitchFamily="34" charset="0"/>
                  <a:ea typeface="+mn-lt"/>
                  <a:cs typeface="+mn-lt"/>
                </a:rPr>
                <a:t>: Proporciona información sobre amenazas en tiempo real, análisis de malware y detección de intrusiones.</a:t>
              </a:r>
            </a:p>
            <a:p>
              <a:pPr marL="342900" indent="-342900">
                <a:buAutoNum type="arabicPeriod"/>
              </a:pPr>
              <a:r>
                <a:rPr lang="es-ES" sz="1400" b="1" dirty="0" err="1">
                  <a:latin typeface="Trebuchet MS" panose="020B0603020202020204" pitchFamily="34" charset="0"/>
                  <a:ea typeface="+mn-lt"/>
                  <a:cs typeface="+mn-lt"/>
                </a:rPr>
                <a:t>CrowdStrike</a:t>
              </a:r>
              <a:r>
                <a:rPr lang="es-ES" sz="1400" b="1" dirty="0">
                  <a:latin typeface="Trebuchet MS" panose="020B0603020202020204" pitchFamily="34" charset="0"/>
                  <a:ea typeface="+mn-lt"/>
                  <a:cs typeface="+mn-lt"/>
                </a:rPr>
                <a:t> Falcon </a:t>
              </a:r>
              <a:r>
                <a:rPr lang="es-ES" sz="1400" b="1" dirty="0" err="1">
                  <a:latin typeface="Trebuchet MS" panose="020B0603020202020204" pitchFamily="34" charset="0"/>
                  <a:ea typeface="+mn-lt"/>
                  <a:cs typeface="+mn-lt"/>
                </a:rPr>
                <a:t>Intelligence</a:t>
              </a:r>
              <a:r>
                <a:rPr lang="es-ES" sz="1400" dirty="0">
                  <a:latin typeface="Trebuchet MS" panose="020B0603020202020204" pitchFamily="34" charset="0"/>
                  <a:ea typeface="+mn-lt"/>
                  <a:cs typeface="+mn-lt"/>
                </a:rPr>
                <a:t>: Ofrece inteligencia de amenazas global, análisis de comportamiento y respuesta a incidentes.</a:t>
              </a:r>
            </a:p>
            <a:p>
              <a:pPr marL="342900" indent="-342900">
                <a:buAutoNum type="arabicPeriod"/>
              </a:pPr>
              <a:r>
                <a:rPr lang="es-ES" sz="1400" b="1" dirty="0">
                  <a:latin typeface="Trebuchet MS" panose="020B0603020202020204" pitchFamily="34" charset="0"/>
                  <a:ea typeface="+mn-lt"/>
                  <a:cs typeface="+mn-lt"/>
                </a:rPr>
                <a:t>Palo Alto Networks </a:t>
              </a:r>
              <a:r>
                <a:rPr lang="es-ES" sz="1400" b="1" dirty="0" err="1">
                  <a:latin typeface="Trebuchet MS" panose="020B0603020202020204" pitchFamily="34" charset="0"/>
                  <a:ea typeface="+mn-lt"/>
                  <a:cs typeface="+mn-lt"/>
                </a:rPr>
                <a:t>Threat</a:t>
              </a:r>
              <a:r>
                <a:rPr lang="es-ES" sz="1400" b="1" dirty="0">
                  <a:latin typeface="Trebuchet MS" panose="020B0603020202020204" pitchFamily="34" charset="0"/>
                  <a:ea typeface="+mn-lt"/>
                  <a:cs typeface="+mn-lt"/>
                </a:rPr>
                <a:t> </a:t>
              </a:r>
              <a:r>
                <a:rPr lang="es-ES" sz="1400" b="1" dirty="0" err="1">
                  <a:latin typeface="Trebuchet MS" panose="020B0603020202020204" pitchFamily="34" charset="0"/>
                  <a:ea typeface="+mn-lt"/>
                  <a:cs typeface="+mn-lt"/>
                </a:rPr>
                <a:t>Intelligence</a:t>
              </a:r>
              <a:r>
                <a:rPr lang="es-ES" sz="1400" b="1" dirty="0">
                  <a:latin typeface="Trebuchet MS" panose="020B0603020202020204" pitchFamily="34" charset="0"/>
                  <a:ea typeface="+mn-lt"/>
                  <a:cs typeface="+mn-lt"/>
                </a:rPr>
                <a:t> Cloud</a:t>
              </a:r>
              <a:r>
                <a:rPr lang="es-ES" sz="1400" dirty="0">
                  <a:latin typeface="Trebuchet MS" panose="020B0603020202020204" pitchFamily="34" charset="0"/>
                  <a:ea typeface="+mn-lt"/>
                  <a:cs typeface="+mn-lt"/>
                </a:rPr>
                <a:t>: Brinda información sobre amenazas en tiempo real, análisis de malware y protección contra ataques de día cero.</a:t>
              </a:r>
            </a:p>
          </p:txBody>
        </p:sp>
      </p:grpSp>
      <p:pic>
        <p:nvPicPr>
          <p:cNvPr id="13" name="Imagen 12" descr="CIRCL » MISP - Open Source Threat Intelligence Platform">
            <a:extLst>
              <a:ext uri="{FF2B5EF4-FFF2-40B4-BE49-F238E27FC236}">
                <a16:creationId xmlns:a16="http://schemas.microsoft.com/office/drawing/2014/main" id="{83411FDB-CCD3-E02D-C990-AF23F1C41D53}"/>
              </a:ext>
            </a:extLst>
          </p:cNvPr>
          <p:cNvPicPr>
            <a:picLocks noChangeAspect="1"/>
          </p:cNvPicPr>
          <p:nvPr/>
        </p:nvPicPr>
        <p:blipFill>
          <a:blip r:embed="rId5"/>
          <a:stretch>
            <a:fillRect/>
          </a:stretch>
        </p:blipFill>
        <p:spPr>
          <a:xfrm>
            <a:off x="868039" y="1940411"/>
            <a:ext cx="1636779" cy="719329"/>
          </a:xfrm>
          <a:prstGeom prst="rect">
            <a:avLst/>
          </a:prstGeom>
        </p:spPr>
      </p:pic>
      <p:pic>
        <p:nvPicPr>
          <p:cNvPr id="14" name="Imagen 13" descr="Cuckoo Sandbox Overview">
            <a:extLst>
              <a:ext uri="{FF2B5EF4-FFF2-40B4-BE49-F238E27FC236}">
                <a16:creationId xmlns:a16="http://schemas.microsoft.com/office/drawing/2014/main" id="{0007E6FD-760C-E603-409F-419C42DE73A3}"/>
              </a:ext>
            </a:extLst>
          </p:cNvPr>
          <p:cNvPicPr>
            <a:picLocks noChangeAspect="1"/>
          </p:cNvPicPr>
          <p:nvPr/>
        </p:nvPicPr>
        <p:blipFill>
          <a:blip r:embed="rId6"/>
          <a:stretch>
            <a:fillRect/>
          </a:stretch>
        </p:blipFill>
        <p:spPr>
          <a:xfrm>
            <a:off x="2663308" y="2004969"/>
            <a:ext cx="1638048" cy="596351"/>
          </a:xfrm>
          <a:prstGeom prst="rect">
            <a:avLst/>
          </a:prstGeom>
        </p:spPr>
      </p:pic>
      <p:pic>
        <p:nvPicPr>
          <p:cNvPr id="15" name="Imagen 14" descr="Zeek_official_logo_application | FinTk²">
            <a:extLst>
              <a:ext uri="{FF2B5EF4-FFF2-40B4-BE49-F238E27FC236}">
                <a16:creationId xmlns:a16="http://schemas.microsoft.com/office/drawing/2014/main" id="{0F062650-46C0-B275-7474-033E737B7720}"/>
              </a:ext>
            </a:extLst>
          </p:cNvPr>
          <p:cNvPicPr>
            <a:picLocks noChangeAspect="1"/>
          </p:cNvPicPr>
          <p:nvPr/>
        </p:nvPicPr>
        <p:blipFill>
          <a:blip r:embed="rId7"/>
          <a:stretch>
            <a:fillRect/>
          </a:stretch>
        </p:blipFill>
        <p:spPr>
          <a:xfrm>
            <a:off x="4696393" y="1826873"/>
            <a:ext cx="879308" cy="951406"/>
          </a:xfrm>
          <a:prstGeom prst="rect">
            <a:avLst/>
          </a:prstGeom>
        </p:spPr>
      </p:pic>
      <p:pic>
        <p:nvPicPr>
          <p:cNvPr id="16" name="Imagen 15" descr="Mcafee Logo Png - Free Transparent PNG Logos">
            <a:extLst>
              <a:ext uri="{FF2B5EF4-FFF2-40B4-BE49-F238E27FC236}">
                <a16:creationId xmlns:a16="http://schemas.microsoft.com/office/drawing/2014/main" id="{2CC401D4-2E34-51F0-50C2-DF6170FCE747}"/>
              </a:ext>
            </a:extLst>
          </p:cNvPr>
          <p:cNvPicPr>
            <a:picLocks noChangeAspect="1"/>
          </p:cNvPicPr>
          <p:nvPr/>
        </p:nvPicPr>
        <p:blipFill>
          <a:blip r:embed="rId8"/>
          <a:stretch>
            <a:fillRect/>
          </a:stretch>
        </p:blipFill>
        <p:spPr>
          <a:xfrm>
            <a:off x="6344996" y="1950503"/>
            <a:ext cx="882477" cy="698253"/>
          </a:xfrm>
          <a:prstGeom prst="rect">
            <a:avLst/>
          </a:prstGeom>
        </p:spPr>
      </p:pic>
      <p:pic>
        <p:nvPicPr>
          <p:cNvPr id="17" name="Imagen 16" descr="CrowdStrike logo vector in .EPS, .SVG, .CDR free download">
            <a:extLst>
              <a:ext uri="{FF2B5EF4-FFF2-40B4-BE49-F238E27FC236}">
                <a16:creationId xmlns:a16="http://schemas.microsoft.com/office/drawing/2014/main" id="{7DC03DB1-7659-606F-0CCB-3B47BC7B522C}"/>
              </a:ext>
            </a:extLst>
          </p:cNvPr>
          <p:cNvPicPr>
            <a:picLocks noChangeAspect="1"/>
          </p:cNvPicPr>
          <p:nvPr/>
        </p:nvPicPr>
        <p:blipFill>
          <a:blip r:embed="rId9"/>
          <a:stretch>
            <a:fillRect/>
          </a:stretch>
        </p:blipFill>
        <p:spPr>
          <a:xfrm>
            <a:off x="7619648" y="1514165"/>
            <a:ext cx="1633351" cy="1663478"/>
          </a:xfrm>
          <a:prstGeom prst="rect">
            <a:avLst/>
          </a:prstGeom>
        </p:spPr>
      </p:pic>
      <p:pic>
        <p:nvPicPr>
          <p:cNvPr id="19" name="Imagen 18" descr="Palo Alto Networks Logo | Network Techlab">
            <a:extLst>
              <a:ext uri="{FF2B5EF4-FFF2-40B4-BE49-F238E27FC236}">
                <a16:creationId xmlns:a16="http://schemas.microsoft.com/office/drawing/2014/main" id="{493777D0-7D3B-C899-A007-A9A4283590FF}"/>
              </a:ext>
            </a:extLst>
          </p:cNvPr>
          <p:cNvPicPr>
            <a:picLocks noChangeAspect="1"/>
          </p:cNvPicPr>
          <p:nvPr/>
        </p:nvPicPr>
        <p:blipFill>
          <a:blip r:embed="rId10"/>
          <a:srcRect t="25548" b="24407"/>
          <a:stretch>
            <a:fillRect/>
          </a:stretch>
        </p:blipFill>
        <p:spPr>
          <a:xfrm>
            <a:off x="9783413" y="1901994"/>
            <a:ext cx="1103882" cy="577057"/>
          </a:xfrm>
          <a:prstGeom prst="rect">
            <a:avLst/>
          </a:prstGeom>
        </p:spPr>
      </p:pic>
    </p:spTree>
    <p:extLst>
      <p:ext uri="{BB962C8B-B14F-4D97-AF65-F5344CB8AC3E}">
        <p14:creationId xmlns:p14="http://schemas.microsoft.com/office/powerpoint/2010/main" val="23438554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21370EDC-1AF1-2983-6897-F1A86E362408}"/>
            </a:ext>
          </a:extLst>
        </p:cNvPr>
        <p:cNvGrpSpPr/>
        <p:nvPr/>
      </p:nvGrpSpPr>
      <p:grpSpPr>
        <a:xfrm>
          <a:off x="0" y="0"/>
          <a:ext cx="0" cy="0"/>
          <a:chOff x="0" y="0"/>
          <a:chExt cx="0" cy="0"/>
        </a:xfrm>
      </p:grpSpPr>
      <p:sp>
        <p:nvSpPr>
          <p:cNvPr id="5" name="Diagrama de flujo: retraso 4">
            <a:extLst>
              <a:ext uri="{FF2B5EF4-FFF2-40B4-BE49-F238E27FC236}">
                <a16:creationId xmlns:a16="http://schemas.microsoft.com/office/drawing/2014/main" id="{4AD53B00-029A-8EE2-F33F-BA9D478B64D7}"/>
              </a:ext>
            </a:extLst>
          </p:cNvPr>
          <p:cNvSpPr/>
          <p:nvPr/>
        </p:nvSpPr>
        <p:spPr>
          <a:xfrm>
            <a:off x="-7125" y="0"/>
            <a:ext cx="6807627" cy="6858000"/>
          </a:xfrm>
          <a:prstGeom prst="flowChartDelay">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0142BA59-D120-A4DA-72DF-EDB414EC8060}"/>
              </a:ext>
            </a:extLst>
          </p:cNvPr>
          <p:cNvSpPr txBox="1"/>
          <p:nvPr/>
        </p:nvSpPr>
        <p:spPr>
          <a:xfrm>
            <a:off x="144590" y="2694860"/>
            <a:ext cx="6217920" cy="150810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pPr algn="ctr"/>
            <a:r>
              <a:rPr lang="es-ES" sz="3600" dirty="0">
                <a:solidFill>
                  <a:srgbClr val="193330"/>
                </a:solidFill>
              </a:rPr>
              <a:t>MÓDULO 5.</a:t>
            </a:r>
          </a:p>
          <a:p>
            <a:pPr algn="ctr"/>
            <a:r>
              <a:rPr lang="es-ES" sz="3600" dirty="0">
                <a:solidFill>
                  <a:srgbClr val="193330"/>
                </a:solidFill>
              </a:rPr>
              <a:t>CIERRE</a:t>
            </a:r>
          </a:p>
        </p:txBody>
      </p:sp>
      <p:pic>
        <p:nvPicPr>
          <p:cNvPr id="4" name="Imagen 3" descr="Texto&#10;&#10;El contenido generado por IA puede ser incorrecto.">
            <a:extLst>
              <a:ext uri="{FF2B5EF4-FFF2-40B4-BE49-F238E27FC236}">
                <a16:creationId xmlns:a16="http://schemas.microsoft.com/office/drawing/2014/main" id="{7D17B4FE-69F1-8DB9-323B-D285B4B9E63D}"/>
              </a:ext>
            </a:extLst>
          </p:cNvPr>
          <p:cNvPicPr>
            <a:picLocks noChangeAspect="1"/>
          </p:cNvPicPr>
          <p:nvPr/>
        </p:nvPicPr>
        <p:blipFill>
          <a:blip r:embed="rId2">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pic>
        <p:nvPicPr>
          <p:cNvPr id="2" name="Imagen 1" descr="Interfaz de usuario gráfica&#10;&#10;El contenido generado por IA puede ser incorrecto.">
            <a:extLst>
              <a:ext uri="{FF2B5EF4-FFF2-40B4-BE49-F238E27FC236}">
                <a16:creationId xmlns:a16="http://schemas.microsoft.com/office/drawing/2014/main" id="{891D1F48-DB8C-9F3F-CF52-270A471E8769}"/>
              </a:ext>
            </a:extLst>
          </p:cNvPr>
          <p:cNvPicPr>
            <a:picLocks noChangeAspect="1"/>
          </p:cNvPicPr>
          <p:nvPr/>
        </p:nvPicPr>
        <p:blipFill>
          <a:blip r:embed="rId3">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224976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5345-7D22-F0A6-7B32-7080788EE1CF}"/>
            </a:ext>
          </a:extLst>
        </p:cNvPr>
        <p:cNvGrpSpPr/>
        <p:nvPr/>
      </p:nvGrpSpPr>
      <p:grpSpPr>
        <a:xfrm>
          <a:off x="0" y="0"/>
          <a:ext cx="0" cy="0"/>
          <a:chOff x="0" y="0"/>
          <a:chExt cx="0" cy="0"/>
        </a:xfrm>
      </p:grpSpPr>
      <p:sp>
        <p:nvSpPr>
          <p:cNvPr id="18" name="Diagrama de flujo: cinta perforada 17">
            <a:extLst>
              <a:ext uri="{FF2B5EF4-FFF2-40B4-BE49-F238E27FC236}">
                <a16:creationId xmlns:a16="http://schemas.microsoft.com/office/drawing/2014/main" id="{E9005049-3E0B-A113-F686-8A9E373E7652}"/>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20" name="Imagen 19" descr="Texto&#10;&#10;El contenido generado por IA puede ser incorrecto.">
            <a:extLst>
              <a:ext uri="{FF2B5EF4-FFF2-40B4-BE49-F238E27FC236}">
                <a16:creationId xmlns:a16="http://schemas.microsoft.com/office/drawing/2014/main" id="{AD1FBFD3-1DB9-2F7E-2A7D-6553FA9ED00C}"/>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10" name="CuadroTexto 9">
            <a:extLst>
              <a:ext uri="{FF2B5EF4-FFF2-40B4-BE49-F238E27FC236}">
                <a16:creationId xmlns:a16="http://schemas.microsoft.com/office/drawing/2014/main" id="{ADE9558F-5D9C-6B1A-F394-B19C24740598}"/>
              </a:ext>
            </a:extLst>
          </p:cNvPr>
          <p:cNvSpPr txBox="1"/>
          <p:nvPr/>
        </p:nvSpPr>
        <p:spPr>
          <a:xfrm>
            <a:off x="429768" y="251936"/>
            <a:ext cx="9357965" cy="1077218"/>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r>
              <a:rPr lang="es-ES" dirty="0">
                <a:solidFill>
                  <a:schemeClr val="tx1">
                    <a:lumMod val="75000"/>
                    <a:lumOff val="25000"/>
                  </a:schemeClr>
                </a:solidFill>
              </a:rPr>
              <a:t>Evaluación de la formación y </a:t>
            </a:r>
            <a:r>
              <a:rPr lang="es-ES" dirty="0" err="1">
                <a:solidFill>
                  <a:schemeClr val="tx1">
                    <a:lumMod val="75000"/>
                    <a:lumOff val="25000"/>
                  </a:schemeClr>
                </a:solidFill>
              </a:rPr>
              <a:t>feedback</a:t>
            </a:r>
            <a:endParaRPr lang="es-ES" dirty="0">
              <a:solidFill>
                <a:schemeClr val="tx1">
                  <a:lumMod val="75000"/>
                  <a:lumOff val="25000"/>
                </a:schemeClr>
              </a:solidFill>
            </a:endParaRPr>
          </a:p>
        </p:txBody>
      </p:sp>
      <p:pic>
        <p:nvPicPr>
          <p:cNvPr id="6" name="Imagen 5" descr="Interfaz de usuario gráfica&#10;&#10;El contenido generado por IA puede ser incorrecto.">
            <a:extLst>
              <a:ext uri="{FF2B5EF4-FFF2-40B4-BE49-F238E27FC236}">
                <a16:creationId xmlns:a16="http://schemas.microsoft.com/office/drawing/2014/main" id="{EAB325D9-471C-7313-E35A-4B5A8345A74C}"/>
              </a:ext>
            </a:extLst>
          </p:cNvPr>
          <p:cNvPicPr>
            <a:picLocks noChangeAspect="1"/>
          </p:cNvPicPr>
          <p:nvPr/>
        </p:nvPicPr>
        <p:blipFill>
          <a:blip r:embed="rId4">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
        <p:nvSpPr>
          <p:cNvPr id="4" name="CuadroTexto 3">
            <a:extLst>
              <a:ext uri="{FF2B5EF4-FFF2-40B4-BE49-F238E27FC236}">
                <a16:creationId xmlns:a16="http://schemas.microsoft.com/office/drawing/2014/main" id="{B1EFF255-B7E5-004C-48D4-03170F507B83}"/>
              </a:ext>
            </a:extLst>
          </p:cNvPr>
          <p:cNvSpPr txBox="1"/>
          <p:nvPr/>
        </p:nvSpPr>
        <p:spPr>
          <a:xfrm>
            <a:off x="944180" y="1592437"/>
            <a:ext cx="8787885"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latin typeface="Trebuchet MS" panose="020B0603020202020204" pitchFamily="34" charset="0"/>
                <a:ea typeface="+mn-lt"/>
                <a:cs typeface="+mn-lt"/>
              </a:rPr>
              <a:t>Accede al link:  </a:t>
            </a:r>
            <a:r>
              <a:rPr lang="en-US" sz="2000" dirty="0">
                <a:latin typeface="Trebuchet MS" panose="020B0603020202020204" pitchFamily="34" charset="0"/>
                <a:ea typeface="+mn-lt"/>
                <a:cs typeface="+mn-lt"/>
                <a:hlinkClick r:id="rId5">
                  <a:extLst>
                    <a:ext uri="{A12FA001-AC4F-418D-AE19-62706E023703}">
                      <ahyp:hlinkClr xmlns:ahyp="http://schemas.microsoft.com/office/drawing/2018/hyperlinkcolor" val="tx"/>
                    </a:ext>
                  </a:extLst>
                </a:hlinkClick>
              </a:rPr>
              <a:t>https://b.socrative.com/login/student/</a:t>
            </a:r>
            <a:endParaRPr lang="en-US" sz="2000" dirty="0">
              <a:latin typeface="Trebuchet MS" panose="020B0603020202020204" pitchFamily="34" charset="0"/>
              <a:ea typeface="+mn-lt"/>
              <a:cs typeface="+mn-lt"/>
            </a:endParaRPr>
          </a:p>
          <a:p>
            <a:r>
              <a:rPr lang="en-US" sz="2000" dirty="0">
                <a:latin typeface="Trebuchet MS" panose="020B0603020202020204" pitchFamily="34" charset="0"/>
                <a:ea typeface="+mn-lt"/>
                <a:cs typeface="+mn-lt"/>
              </a:rPr>
              <a:t>Introduce </a:t>
            </a:r>
            <a:r>
              <a:rPr lang="en-US" sz="2000" dirty="0" err="1">
                <a:latin typeface="Trebuchet MS" panose="020B0603020202020204" pitchFamily="34" charset="0"/>
                <a:ea typeface="+mn-lt"/>
                <a:cs typeface="+mn-lt"/>
              </a:rPr>
              <a:t>el</a:t>
            </a:r>
            <a:r>
              <a:rPr lang="en-US" sz="2000" dirty="0">
                <a:latin typeface="Trebuchet MS" panose="020B0603020202020204" pitchFamily="34" charset="0"/>
                <a:ea typeface="+mn-lt"/>
                <a:cs typeface="+mn-lt"/>
              </a:rPr>
              <a:t> </a:t>
            </a:r>
            <a:r>
              <a:rPr lang="en-US" sz="2000" dirty="0" err="1">
                <a:latin typeface="Trebuchet MS" panose="020B0603020202020204" pitchFamily="34" charset="0"/>
                <a:ea typeface="+mn-lt"/>
                <a:cs typeface="+mn-lt"/>
              </a:rPr>
              <a:t>nombre</a:t>
            </a:r>
            <a:r>
              <a:rPr lang="en-US" sz="2000" dirty="0">
                <a:latin typeface="Trebuchet MS" panose="020B0603020202020204" pitchFamily="34" charset="0"/>
                <a:ea typeface="+mn-lt"/>
                <a:cs typeface="+mn-lt"/>
              </a:rPr>
              <a:t> de la </a:t>
            </a:r>
            <a:r>
              <a:rPr lang="en-US" sz="2000" dirty="0" err="1">
                <a:latin typeface="Trebuchet MS" panose="020B0603020202020204" pitchFamily="34" charset="0"/>
                <a:ea typeface="+mn-lt"/>
                <a:cs typeface="+mn-lt"/>
              </a:rPr>
              <a:t>clase</a:t>
            </a:r>
            <a:r>
              <a:rPr lang="en-US" sz="2000" dirty="0">
                <a:latin typeface="Trebuchet MS" panose="020B0603020202020204" pitchFamily="34" charset="0"/>
                <a:ea typeface="+mn-lt"/>
                <a:cs typeface="+mn-lt"/>
              </a:rPr>
              <a:t>: </a:t>
            </a:r>
            <a:r>
              <a:rPr lang="en-US" sz="2400" b="1" dirty="0">
                <a:latin typeface="Trebuchet MS" panose="020B0603020202020204" pitchFamily="34" charset="0"/>
                <a:ea typeface="+mn-lt"/>
                <a:cs typeface="+mn-lt"/>
              </a:rPr>
              <a:t>CIPHERBIT9988</a:t>
            </a:r>
            <a:endParaRPr lang="en-US" sz="2400" dirty="0">
              <a:latin typeface="Trebuchet MS" panose="020B0603020202020204" pitchFamily="34" charset="0"/>
              <a:ea typeface="+mn-lt"/>
              <a:cs typeface="+mn-lt"/>
            </a:endParaRPr>
          </a:p>
        </p:txBody>
      </p:sp>
      <p:pic>
        <p:nvPicPr>
          <p:cNvPr id="5" name="Picture 2" descr="Socrative Teacher | Speechify">
            <a:extLst>
              <a:ext uri="{FF2B5EF4-FFF2-40B4-BE49-F238E27FC236}">
                <a16:creationId xmlns:a16="http://schemas.microsoft.com/office/drawing/2014/main" id="{BDB236C2-7C89-349B-F6C4-B7112D1A18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867" y="3129013"/>
            <a:ext cx="2112933" cy="586649"/>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en 20">
            <a:extLst>
              <a:ext uri="{FF2B5EF4-FFF2-40B4-BE49-F238E27FC236}">
                <a16:creationId xmlns:a16="http://schemas.microsoft.com/office/drawing/2014/main" id="{304FF80A-995D-0B29-5346-E688A43E07C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69717" y="2423434"/>
            <a:ext cx="934652" cy="934652"/>
          </a:xfrm>
          <a:prstGeom prst="rect">
            <a:avLst/>
          </a:prstGeom>
        </p:spPr>
      </p:pic>
    </p:spTree>
    <p:extLst>
      <p:ext uri="{BB962C8B-B14F-4D97-AF65-F5344CB8AC3E}">
        <p14:creationId xmlns:p14="http://schemas.microsoft.com/office/powerpoint/2010/main" val="9570874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8E7FC-B9D0-A838-532E-647293F41C75}"/>
            </a:ext>
          </a:extLst>
        </p:cNvPr>
        <p:cNvGrpSpPr/>
        <p:nvPr/>
      </p:nvGrpSpPr>
      <p:grpSpPr>
        <a:xfrm>
          <a:off x="0" y="0"/>
          <a:ext cx="0" cy="0"/>
          <a:chOff x="0" y="0"/>
          <a:chExt cx="0" cy="0"/>
        </a:xfrm>
      </p:grpSpPr>
      <p:sp>
        <p:nvSpPr>
          <p:cNvPr id="4" name="Diagrama de flujo: cinta perforada 3">
            <a:extLst>
              <a:ext uri="{FF2B5EF4-FFF2-40B4-BE49-F238E27FC236}">
                <a16:creationId xmlns:a16="http://schemas.microsoft.com/office/drawing/2014/main" id="{013CD50E-7EBD-9A28-AF8C-CC78DF01517C}"/>
              </a:ext>
            </a:extLst>
          </p:cNvPr>
          <p:cNvSpPr/>
          <p:nvPr/>
        </p:nvSpPr>
        <p:spPr>
          <a:xfrm rot="16200000">
            <a:off x="6637625" y="1476755"/>
            <a:ext cx="6857999" cy="3904488"/>
          </a:xfrm>
          <a:prstGeom prst="flowChartPunchedTap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n 19" descr="Texto&#10;&#10;El contenido generado por IA puede ser incorrecto.">
            <a:extLst>
              <a:ext uri="{FF2B5EF4-FFF2-40B4-BE49-F238E27FC236}">
                <a16:creationId xmlns:a16="http://schemas.microsoft.com/office/drawing/2014/main" id="{CC66A05C-F929-2548-39B6-89CA8BB6D62C}"/>
              </a:ext>
            </a:extLst>
          </p:cNvPr>
          <p:cNvPicPr>
            <a:picLocks noChangeAspect="1"/>
          </p:cNvPicPr>
          <p:nvPr/>
        </p:nvPicPr>
        <p:blipFill>
          <a:blip r:embed="rId3">
            <a:extLst>
              <a:ext uri="{28A0092B-C50C-407E-A947-70E740481C1C}">
                <a14:useLocalDpi xmlns:a14="http://schemas.microsoft.com/office/drawing/2010/main" val="0"/>
              </a:ext>
            </a:extLst>
          </a:blip>
          <a:srcRect l="55200" t="60356" r="26500" b="26933"/>
          <a:stretch>
            <a:fillRect/>
          </a:stretch>
        </p:blipFill>
        <p:spPr>
          <a:xfrm>
            <a:off x="9930384" y="88094"/>
            <a:ext cx="2231136" cy="871728"/>
          </a:xfrm>
          <a:prstGeom prst="rect">
            <a:avLst/>
          </a:prstGeom>
        </p:spPr>
      </p:pic>
      <p:sp>
        <p:nvSpPr>
          <p:cNvPr id="2" name="CuadroTexto 1">
            <a:extLst>
              <a:ext uri="{FF2B5EF4-FFF2-40B4-BE49-F238E27FC236}">
                <a16:creationId xmlns:a16="http://schemas.microsoft.com/office/drawing/2014/main" id="{1EDC6B5D-1828-60CC-2614-A0CDDD4C93BD}"/>
              </a:ext>
            </a:extLst>
          </p:cNvPr>
          <p:cNvSpPr txBox="1"/>
          <p:nvPr/>
        </p:nvSpPr>
        <p:spPr>
          <a:xfrm>
            <a:off x="3162406" y="2976014"/>
            <a:ext cx="9593798" cy="584775"/>
          </a:xfrm>
          <a:prstGeom prst="rect">
            <a:avLst/>
          </a:prstGeom>
          <a:noFill/>
        </p:spPr>
        <p:txBody>
          <a:bodyPr wrap="square" rtlCol="0">
            <a:spAutoFit/>
          </a:bodyPr>
          <a:lstStyle>
            <a:defPPr>
              <a:defRPr lang="es-ES"/>
            </a:defPPr>
            <a:lvl1pPr marL="12700" marR="5080">
              <a:spcBef>
                <a:spcPts val="2410"/>
              </a:spcBef>
              <a:defRPr sz="3200" b="1" spc="400">
                <a:solidFill>
                  <a:srgbClr val="009E89"/>
                </a:solidFill>
                <a:latin typeface="Trebuchet MS"/>
                <a:ea typeface="+mj-ea"/>
              </a:defRPr>
            </a:lvl1pPr>
          </a:lstStyle>
          <a:p>
            <a:pPr algn="ctr"/>
            <a:r>
              <a:rPr lang="es-ES" dirty="0">
                <a:solidFill>
                  <a:schemeClr val="tx1">
                    <a:lumMod val="85000"/>
                    <a:lumOff val="15000"/>
                  </a:schemeClr>
                </a:solidFill>
              </a:rPr>
              <a:t>¿PREGUNTAS?</a:t>
            </a:r>
          </a:p>
        </p:txBody>
      </p:sp>
      <p:pic>
        <p:nvPicPr>
          <p:cNvPr id="1026" name="Picture 2">
            <a:extLst>
              <a:ext uri="{FF2B5EF4-FFF2-40B4-BE49-F238E27FC236}">
                <a16:creationId xmlns:a16="http://schemas.microsoft.com/office/drawing/2014/main" id="{07D5E7DB-CA5A-B4E0-15DE-2BF60C70F5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981" y="298952"/>
            <a:ext cx="5034232" cy="503423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descr="Interfaz de usuario gráfica&#10;&#10;El contenido generado por IA puede ser incorrecto.">
            <a:extLst>
              <a:ext uri="{FF2B5EF4-FFF2-40B4-BE49-F238E27FC236}">
                <a16:creationId xmlns:a16="http://schemas.microsoft.com/office/drawing/2014/main" id="{06D3F713-7CBE-8AF6-7456-380CF0BF9F06}"/>
              </a:ext>
            </a:extLst>
          </p:cNvPr>
          <p:cNvPicPr>
            <a:picLocks noChangeAspect="1"/>
          </p:cNvPicPr>
          <p:nvPr/>
        </p:nvPicPr>
        <p:blipFill>
          <a:blip r:embed="rId5">
            <a:extLst>
              <a:ext uri="{28A0092B-C50C-407E-A947-70E740481C1C}">
                <a14:useLocalDpi xmlns:a14="http://schemas.microsoft.com/office/drawing/2010/main" val="0"/>
              </a:ext>
            </a:extLst>
          </a:blip>
          <a:srcRect t="73333" b="13955"/>
          <a:stretch>
            <a:fillRect/>
          </a:stretch>
        </p:blipFill>
        <p:spPr>
          <a:xfrm>
            <a:off x="-217715" y="5976258"/>
            <a:ext cx="12192000" cy="871728"/>
          </a:xfrm>
          <a:prstGeom prst="rect">
            <a:avLst/>
          </a:prstGeom>
        </p:spPr>
      </p:pic>
    </p:spTree>
    <p:extLst>
      <p:ext uri="{BB962C8B-B14F-4D97-AF65-F5344CB8AC3E}">
        <p14:creationId xmlns:p14="http://schemas.microsoft.com/office/powerpoint/2010/main" val="19038352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cielo, luz, azul&#10;&#10;Descripción generada automáticamente">
            <a:extLst>
              <a:ext uri="{FF2B5EF4-FFF2-40B4-BE49-F238E27FC236}">
                <a16:creationId xmlns:a16="http://schemas.microsoft.com/office/drawing/2014/main" id="{8A697BF1-C102-1226-FBA6-C3FD5F6D17AA}"/>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p:blipFill>
        <p:spPr>
          <a:xfrm>
            <a:off x="0" y="1483739"/>
            <a:ext cx="12192000" cy="3596261"/>
          </a:xfrm>
          <a:prstGeom prst="rect">
            <a:avLst/>
          </a:prstGeom>
        </p:spPr>
      </p:pic>
      <p:pic>
        <p:nvPicPr>
          <p:cNvPr id="5" name="Imagen 4">
            <a:extLst>
              <a:ext uri="{FF2B5EF4-FFF2-40B4-BE49-F238E27FC236}">
                <a16:creationId xmlns:a16="http://schemas.microsoft.com/office/drawing/2014/main" id="{37E13761-0A38-644E-7BD0-9385BC87417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14912" r="14912" b="31070"/>
          <a:stretch/>
        </p:blipFill>
        <p:spPr>
          <a:xfrm>
            <a:off x="0" y="3926544"/>
            <a:ext cx="12200584" cy="1447716"/>
          </a:xfrm>
          <a:prstGeom prst="rect">
            <a:avLst/>
          </a:prstGeom>
        </p:spPr>
      </p:pic>
      <p:sp>
        <p:nvSpPr>
          <p:cNvPr id="6" name="CuadroTexto 5">
            <a:extLst>
              <a:ext uri="{FF2B5EF4-FFF2-40B4-BE49-F238E27FC236}">
                <a16:creationId xmlns:a16="http://schemas.microsoft.com/office/drawing/2014/main" id="{3186D11E-D48C-B500-1A12-45026F9F9ABC}"/>
              </a:ext>
            </a:extLst>
          </p:cNvPr>
          <p:cNvSpPr txBox="1"/>
          <p:nvPr/>
        </p:nvSpPr>
        <p:spPr>
          <a:xfrm>
            <a:off x="1377092" y="3152931"/>
            <a:ext cx="9437816" cy="302968"/>
          </a:xfrm>
          <a:prstGeom prst="rect">
            <a:avLst/>
          </a:prstGeom>
          <a:noFill/>
        </p:spPr>
        <p:txBody>
          <a:bodyPr wrap="square" rtlCol="0">
            <a:spAutoFit/>
          </a:bodyPr>
          <a:lstStyle/>
          <a:p>
            <a:pPr algn="ctr">
              <a:lnSpc>
                <a:spcPts val="1500"/>
              </a:lnSpc>
            </a:pPr>
            <a:r>
              <a:rPr lang="es-ES" sz="2100" b="1">
                <a:solidFill>
                  <a:schemeClr val="bg1"/>
                </a:solidFill>
                <a:latin typeface="Century Gothic" panose="020B0502020202020204" pitchFamily="34" charset="0"/>
              </a:rPr>
              <a:t>Crear un mundo mejor, más eficiente, seguro y sostenible</a:t>
            </a:r>
          </a:p>
        </p:txBody>
      </p:sp>
      <p:pic>
        <p:nvPicPr>
          <p:cNvPr id="7" name="Imagen 6">
            <a:extLst>
              <a:ext uri="{FF2B5EF4-FFF2-40B4-BE49-F238E27FC236}">
                <a16:creationId xmlns:a16="http://schemas.microsoft.com/office/drawing/2014/main" id="{AB1255D7-9C2F-8341-4279-1E2705D6EBD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14912" r="14912" b="31070"/>
          <a:stretch/>
        </p:blipFill>
        <p:spPr>
          <a:xfrm rot="10800000">
            <a:off x="0" y="962963"/>
            <a:ext cx="12200584" cy="1447716"/>
          </a:xfrm>
          <a:prstGeom prst="rect">
            <a:avLst/>
          </a:prstGeom>
        </p:spPr>
      </p:pic>
      <p:sp>
        <p:nvSpPr>
          <p:cNvPr id="8" name="CuadroTexto 7">
            <a:hlinkClick r:id="rId5"/>
            <a:extLst>
              <a:ext uri="{FF2B5EF4-FFF2-40B4-BE49-F238E27FC236}">
                <a16:creationId xmlns:a16="http://schemas.microsoft.com/office/drawing/2014/main" id="{9E6ADDBC-DBEA-DE3C-0098-6B7619EA532D}"/>
              </a:ext>
            </a:extLst>
          </p:cNvPr>
          <p:cNvSpPr txBox="1"/>
          <p:nvPr/>
        </p:nvSpPr>
        <p:spPr>
          <a:xfrm>
            <a:off x="5061102" y="5403911"/>
            <a:ext cx="2069797" cy="599162"/>
          </a:xfrm>
          <a:prstGeom prst="roundRect">
            <a:avLst>
              <a:gd name="adj" fmla="val 27265"/>
            </a:avLst>
          </a:prstGeom>
          <a:noFill/>
          <a:effectLst/>
        </p:spPr>
        <p:txBody>
          <a:bodyPr wrap="none" rtlCol="0" anchor="ctr" anchorCtr="0">
            <a:noAutofit/>
          </a:bodyPr>
          <a:lstStyle/>
          <a:p>
            <a:pPr algn="ctr"/>
            <a:r>
              <a:rPr lang="es-ES" b="1" u="sng">
                <a:solidFill>
                  <a:srgbClr val="99267C"/>
                </a:solidFill>
                <a:latin typeface="Century Gothic" panose="020B0502020202020204" pitchFamily="34" charset="0"/>
              </a:rPr>
              <a:t>grupooesia.com</a:t>
            </a:r>
          </a:p>
        </p:txBody>
      </p:sp>
      <p:pic>
        <p:nvPicPr>
          <p:cNvPr id="9" name="Imagen 8">
            <a:hlinkClick r:id="rId6"/>
            <a:extLst>
              <a:ext uri="{FF2B5EF4-FFF2-40B4-BE49-F238E27FC236}">
                <a16:creationId xmlns:a16="http://schemas.microsoft.com/office/drawing/2014/main" id="{06A51F3B-A266-444C-7C1F-ACE8AF229E6C}"/>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5648770" y="5966301"/>
            <a:ext cx="438646" cy="474308"/>
          </a:xfrm>
          <a:prstGeom prst="rect">
            <a:avLst/>
          </a:prstGeom>
        </p:spPr>
      </p:pic>
      <p:pic>
        <p:nvPicPr>
          <p:cNvPr id="10" name="Imagen 9">
            <a:hlinkClick r:id="rId8"/>
            <a:extLst>
              <a:ext uri="{FF2B5EF4-FFF2-40B4-BE49-F238E27FC236}">
                <a16:creationId xmlns:a16="http://schemas.microsoft.com/office/drawing/2014/main" id="{C871BB6A-864E-C3F1-4643-530E16EF212C}"/>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6166989" y="6020335"/>
            <a:ext cx="438646" cy="420276"/>
          </a:xfrm>
          <a:prstGeom prst="rect">
            <a:avLst/>
          </a:prstGeom>
        </p:spPr>
      </p:pic>
      <p:pic>
        <p:nvPicPr>
          <p:cNvPr id="11" name="Imagen 10">
            <a:hlinkClick r:id="rId10"/>
            <a:extLst>
              <a:ext uri="{FF2B5EF4-FFF2-40B4-BE49-F238E27FC236}">
                <a16:creationId xmlns:a16="http://schemas.microsoft.com/office/drawing/2014/main" id="{35E1FEDE-7393-57CC-8EC7-0DFE04559CA2}"/>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6685208" y="5966301"/>
            <a:ext cx="438646" cy="474308"/>
          </a:xfrm>
          <a:prstGeom prst="rect">
            <a:avLst/>
          </a:prstGeom>
        </p:spPr>
      </p:pic>
      <p:pic>
        <p:nvPicPr>
          <p:cNvPr id="12" name="Imagen 11">
            <a:hlinkClick r:id="rId12"/>
            <a:extLst>
              <a:ext uri="{FF2B5EF4-FFF2-40B4-BE49-F238E27FC236}">
                <a16:creationId xmlns:a16="http://schemas.microsoft.com/office/drawing/2014/main" id="{94651352-68A7-1405-2BEE-6EFDB0F2F645}"/>
              </a:ext>
            </a:extLst>
          </p:cNvPr>
          <p:cNvPicPr>
            <a:picLocks noChangeAspect="1"/>
          </p:cNvPicPr>
          <p:nvPr/>
        </p:nvPicPr>
        <p:blipFill rotWithShape="1">
          <a:blip r:embed="rId13" cstate="email">
            <a:extLst>
              <a:ext uri="{28A0092B-C50C-407E-A947-70E740481C1C}">
                <a14:useLocalDpi xmlns:a14="http://schemas.microsoft.com/office/drawing/2010/main"/>
              </a:ext>
            </a:extLst>
          </a:blip>
          <a:srcRect/>
          <a:stretch/>
        </p:blipFill>
        <p:spPr>
          <a:xfrm>
            <a:off x="5130551" y="5996183"/>
            <a:ext cx="438646" cy="474308"/>
          </a:xfrm>
          <a:prstGeom prst="rect">
            <a:avLst/>
          </a:prstGeom>
        </p:spPr>
      </p:pic>
      <p:pic>
        <p:nvPicPr>
          <p:cNvPr id="13" name="Gráfico 12">
            <a:extLst>
              <a:ext uri="{FF2B5EF4-FFF2-40B4-BE49-F238E27FC236}">
                <a16:creationId xmlns:a16="http://schemas.microsoft.com/office/drawing/2014/main" id="{86A8DC54-E1A5-44E3-577A-52EA1F94530B}"/>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l="39477" t="38339" r="39406"/>
          <a:stretch/>
        </p:blipFill>
        <p:spPr>
          <a:xfrm>
            <a:off x="3577772" y="640092"/>
            <a:ext cx="5036457" cy="1218386"/>
          </a:xfrm>
          <a:prstGeom prst="rect">
            <a:avLst/>
          </a:prstGeom>
        </p:spPr>
      </p:pic>
      <p:pic>
        <p:nvPicPr>
          <p:cNvPr id="14" name="Gráfico 6">
            <a:extLst>
              <a:ext uri="{FF2B5EF4-FFF2-40B4-BE49-F238E27FC236}">
                <a16:creationId xmlns:a16="http://schemas.microsoft.com/office/drawing/2014/main" id="{EE14808F-ACDB-ABD9-79BA-5BF04DF476FA}"/>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1994549" y="4375140"/>
            <a:ext cx="8118865" cy="747926"/>
          </a:xfrm>
          <a:prstGeom prst="rect">
            <a:avLst/>
          </a:prstGeom>
        </p:spPr>
      </p:pic>
      <p:sp>
        <p:nvSpPr>
          <p:cNvPr id="2" name="Marcador de número de diapositiva 1">
            <a:extLst>
              <a:ext uri="{FF2B5EF4-FFF2-40B4-BE49-F238E27FC236}">
                <a16:creationId xmlns:a16="http://schemas.microsoft.com/office/drawing/2014/main" id="{00D04020-3031-AB10-AD70-158FD6507593}"/>
              </a:ext>
            </a:extLst>
          </p:cNvPr>
          <p:cNvSpPr>
            <a:spLocks noGrp="1"/>
          </p:cNvSpPr>
          <p:nvPr>
            <p:ph type="sldNum" sz="quarter" idx="12"/>
          </p:nvPr>
        </p:nvSpPr>
        <p:spPr/>
        <p:txBody>
          <a:bodyPr/>
          <a:lstStyle/>
          <a:p>
            <a:fld id="{6C008F66-11C2-4C30-903C-023FCF629350}" type="slidenum">
              <a:rPr lang="es-ES" smtClean="0"/>
              <a:t>87</a:t>
            </a:fld>
            <a:endParaRPr lang="es-ES"/>
          </a:p>
        </p:txBody>
      </p:sp>
    </p:spTree>
    <p:extLst>
      <p:ext uri="{BB962C8B-B14F-4D97-AF65-F5344CB8AC3E}">
        <p14:creationId xmlns:p14="http://schemas.microsoft.com/office/powerpoint/2010/main" val="294052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54BE19CA83FD94B936B01765C29D210" ma:contentTypeVersion="11" ma:contentTypeDescription="Crear nuevo documento." ma:contentTypeScope="" ma:versionID="91de76c1aa61add1d3f64d8b8d05f0d1">
  <xsd:schema xmlns:xsd="http://www.w3.org/2001/XMLSchema" xmlns:xs="http://www.w3.org/2001/XMLSchema" xmlns:p="http://schemas.microsoft.com/office/2006/metadata/properties" xmlns:ns2="9ee65a63-5214-4327-801a-2c9dc95f8f85" xmlns:ns3="62215bba-a255-4b95-ab9c-7659199f0231" targetNamespace="http://schemas.microsoft.com/office/2006/metadata/properties" ma:root="true" ma:fieldsID="dc88c394a17b31f53bc57c64650ec4b9" ns2:_="" ns3:_="">
    <xsd:import namespace="9ee65a63-5214-4327-801a-2c9dc95f8f85"/>
    <xsd:import namespace="62215bba-a255-4b95-ab9c-7659199f0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e65a63-5214-4327-801a-2c9dc95f8f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adeec245-85f4-47be-9991-f792700f932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2215bba-a255-4b95-ab9c-7659199f0231"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f803b27-d104-4739-b5d9-d7e5ac4449a8}" ma:internalName="TaxCatchAll" ma:showField="CatchAllData" ma:web="62215bba-a255-4b95-ab9c-7659199f023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2215bba-a255-4b95-ab9c-7659199f0231" xsi:nil="true"/>
    <lcf76f155ced4ddcb4097134ff3c332f xmlns="9ee65a63-5214-4327-801a-2c9dc95f8f8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D8F2AC0-B69B-46C9-AB2C-CF592D1094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e65a63-5214-4327-801a-2c9dc95f8f85"/>
    <ds:schemaRef ds:uri="62215bba-a255-4b95-ab9c-7659199f02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23ED8B3-10BD-42A7-926E-61D38F61CD92}">
  <ds:schemaRefs>
    <ds:schemaRef ds:uri="http://schemas.microsoft.com/sharepoint/v3/contenttype/forms"/>
  </ds:schemaRefs>
</ds:datastoreItem>
</file>

<file path=customXml/itemProps3.xml><?xml version="1.0" encoding="utf-8"?>
<ds:datastoreItem xmlns:ds="http://schemas.openxmlformats.org/officeDocument/2006/customXml" ds:itemID="{86C3D7F8-3C72-4F4E-BFD8-3EFA6A710000}">
  <ds:schemaRefs>
    <ds:schemaRef ds:uri="http://schemas.microsoft.com/office/2006/documentManagement/types"/>
    <ds:schemaRef ds:uri="http://schemas.openxmlformats.org/package/2006/metadata/core-properties"/>
    <ds:schemaRef ds:uri="http://purl.org/dc/dcmitype/"/>
    <ds:schemaRef ds:uri="http://schemas.microsoft.com/office/2006/metadata/properties"/>
    <ds:schemaRef ds:uri="http://purl.org/dc/elements/1.1/"/>
    <ds:schemaRef ds:uri="62215bba-a255-4b95-ab9c-7659199f0231"/>
    <ds:schemaRef ds:uri="http://schemas.microsoft.com/office/infopath/2007/PartnerControls"/>
    <ds:schemaRef ds:uri="http://www.w3.org/XML/1998/namespace"/>
    <ds:schemaRef ds:uri="9ee65a63-5214-4327-801a-2c9dc95f8f85"/>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2727</TotalTime>
  <Words>15309</Words>
  <Application>Microsoft Office PowerPoint</Application>
  <PresentationFormat>Panorámica</PresentationFormat>
  <Paragraphs>1029</Paragraphs>
  <Slides>87</Slides>
  <Notes>79</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87</vt:i4>
      </vt:variant>
    </vt:vector>
  </HeadingPairs>
  <TitlesOfParts>
    <vt:vector size="98" baseType="lpstr">
      <vt:lpstr>Aptos</vt:lpstr>
      <vt:lpstr>Aptos Display</vt:lpstr>
      <vt:lpstr>Arial</vt:lpstr>
      <vt:lpstr>Brush Script MT</vt:lpstr>
      <vt:lpstr>Calibri</vt:lpstr>
      <vt:lpstr>Century Gothic</vt:lpstr>
      <vt:lpstr>Matura MT Script Capitals</vt:lpstr>
      <vt:lpstr>Söhne</vt:lpstr>
      <vt:lpstr>Times New Roman</vt:lpstr>
      <vt:lpstr>Trebuchet MS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Virginia Urien Real De Asua</dc:creator>
  <cp:lastModifiedBy>Koldo Perez de San Roman Martinez de Lahidalga</cp:lastModifiedBy>
  <cp:revision>74</cp:revision>
  <dcterms:created xsi:type="dcterms:W3CDTF">2025-12-22T15:42:46Z</dcterms:created>
  <dcterms:modified xsi:type="dcterms:W3CDTF">2026-03-16T11:00:54Z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0x010100254BE19CA83FD94B936B01765C29D210</vt:lpwstr>
  </property>
  <property fmtid="{D5CDD505-2E9C-101B-9397-08002B2CF9AE}" pid="3" name="MediaServiceImageTags">
    <vt:lpwstr/>
  </property>
</Properties>
</file>